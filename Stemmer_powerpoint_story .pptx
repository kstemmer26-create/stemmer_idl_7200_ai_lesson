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9"/>
  </p:notesMasterIdLst>
  <p:sldIdLst>
    <p:sldId id="256" r:id="rId2"/>
    <p:sldId id="276" r:id="rId3"/>
    <p:sldId id="258" r:id="rId4"/>
    <p:sldId id="277" r:id="rId5"/>
    <p:sldId id="278" r:id="rId6"/>
    <p:sldId id="279" r:id="rId7"/>
    <p:sldId id="280" r:id="rId8"/>
    <p:sldId id="283" r:id="rId9"/>
    <p:sldId id="282" r:id="rId10"/>
    <p:sldId id="281" r:id="rId11"/>
    <p:sldId id="293" r:id="rId12"/>
    <p:sldId id="292" r:id="rId13"/>
    <p:sldId id="291" r:id="rId14"/>
    <p:sldId id="290" r:id="rId15"/>
    <p:sldId id="289" r:id="rId16"/>
    <p:sldId id="288" r:id="rId17"/>
    <p:sldId id="287" r:id="rId18"/>
    <p:sldId id="286" r:id="rId19"/>
    <p:sldId id="285" r:id="rId20"/>
    <p:sldId id="284" r:id="rId21"/>
    <p:sldId id="296" r:id="rId22"/>
    <p:sldId id="295" r:id="rId23"/>
    <p:sldId id="294" r:id="rId24"/>
    <p:sldId id="297" r:id="rId25"/>
    <p:sldId id="298" r:id="rId26"/>
    <p:sldId id="299" r:id="rId27"/>
    <p:sldId id="300" r:id="rId28"/>
    <p:sldId id="301" r:id="rId29"/>
    <p:sldId id="302" r:id="rId30"/>
    <p:sldId id="303" r:id="rId31"/>
    <p:sldId id="304" r:id="rId32"/>
    <p:sldId id="305" r:id="rId33"/>
    <p:sldId id="306" r:id="rId34"/>
    <p:sldId id="307" r:id="rId35"/>
    <p:sldId id="308" r:id="rId36"/>
    <p:sldId id="309" r:id="rId37"/>
    <p:sldId id="310" r:id="rId38"/>
    <p:sldId id="311" r:id="rId39"/>
    <p:sldId id="312" r:id="rId40"/>
    <p:sldId id="313" r:id="rId41"/>
    <p:sldId id="314" r:id="rId42"/>
    <p:sldId id="315" r:id="rId43"/>
    <p:sldId id="316" r:id="rId44"/>
    <p:sldId id="317" r:id="rId45"/>
    <p:sldId id="318" r:id="rId46"/>
    <p:sldId id="319" r:id="rId47"/>
    <p:sldId id="320" r:id="rId48"/>
    <p:sldId id="321" r:id="rId49"/>
    <p:sldId id="322" r:id="rId50"/>
    <p:sldId id="323" r:id="rId51"/>
    <p:sldId id="324" r:id="rId52"/>
    <p:sldId id="325" r:id="rId53"/>
    <p:sldId id="326" r:id="rId54"/>
    <p:sldId id="327" r:id="rId55"/>
    <p:sldId id="328" r:id="rId56"/>
    <p:sldId id="329" r:id="rId57"/>
    <p:sldId id="330"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156400-1E80-B9D8-C025-F81EA558E65A}" v="169" dt="2026-07-15T16:37:35.0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25.xml" Id="rId26" /><Relationship Type="http://schemas.openxmlformats.org/officeDocument/2006/relationships/slide" Target="slides/slide20.xml" Id="rId21" /><Relationship Type="http://schemas.openxmlformats.org/officeDocument/2006/relationships/slide" Target="slides/slide33.xml" Id="rId34" /><Relationship Type="http://schemas.openxmlformats.org/officeDocument/2006/relationships/slide" Target="slides/slide41.xml" Id="rId42" /><Relationship Type="http://schemas.openxmlformats.org/officeDocument/2006/relationships/slide" Target="slides/slide46.xml" Id="rId47" /><Relationship Type="http://schemas.openxmlformats.org/officeDocument/2006/relationships/slide" Target="slides/slide49.xml" Id="rId50" /><Relationship Type="http://schemas.openxmlformats.org/officeDocument/2006/relationships/slide" Target="slides/slide54.xml" Id="rId55" /><Relationship Type="http://schemas.openxmlformats.org/officeDocument/2006/relationships/tableStyles" Target="tableStyles.xml" Id="rId63" /><Relationship Type="http://schemas.openxmlformats.org/officeDocument/2006/relationships/slide" Target="slides/slide6.xml" Id="rId7" /><Relationship Type="http://schemas.openxmlformats.org/officeDocument/2006/relationships/slide" Target="slides/slide1.xml" Id="rId2" /><Relationship Type="http://schemas.openxmlformats.org/officeDocument/2006/relationships/slide" Target="slides/slide15.xml" Id="rId16" /><Relationship Type="http://schemas.openxmlformats.org/officeDocument/2006/relationships/slide" Target="slides/slide28.xml" Id="rId29" /><Relationship Type="http://schemas.openxmlformats.org/officeDocument/2006/relationships/slide" Target="slides/slide10.xml" Id="rId11" /><Relationship Type="http://schemas.openxmlformats.org/officeDocument/2006/relationships/slide" Target="slides/slide23.xml" Id="rId24" /><Relationship Type="http://schemas.openxmlformats.org/officeDocument/2006/relationships/slide" Target="slides/slide31.xml" Id="rId32" /><Relationship Type="http://schemas.openxmlformats.org/officeDocument/2006/relationships/slide" Target="slides/slide36.xml" Id="rId37" /><Relationship Type="http://schemas.openxmlformats.org/officeDocument/2006/relationships/slide" Target="slides/slide39.xml" Id="rId40" /><Relationship Type="http://schemas.openxmlformats.org/officeDocument/2006/relationships/slide" Target="slides/slide44.xml" Id="rId45" /><Relationship Type="http://schemas.openxmlformats.org/officeDocument/2006/relationships/slide" Target="slides/slide52.xml" Id="rId53" /><Relationship Type="http://schemas.openxmlformats.org/officeDocument/2006/relationships/slide" Target="slides/slide57.xml" Id="rId58" /><Relationship Type="http://schemas.openxmlformats.org/officeDocument/2006/relationships/slide" Target="slides/slide4.xml" Id="rId5" /><Relationship Type="http://schemas.openxmlformats.org/officeDocument/2006/relationships/viewProps" Target="viewProps.xml" Id="rId61" /><Relationship Type="http://schemas.openxmlformats.org/officeDocument/2006/relationships/slide" Target="slides/slide18.xml" Id="rId19" /><Relationship Type="http://schemas.openxmlformats.org/officeDocument/2006/relationships/slide" Target="slides/slide13.xml" Id="rId14" /><Relationship Type="http://schemas.openxmlformats.org/officeDocument/2006/relationships/slide" Target="slides/slide21.xml" Id="rId22" /><Relationship Type="http://schemas.openxmlformats.org/officeDocument/2006/relationships/slide" Target="slides/slide26.xml" Id="rId27" /><Relationship Type="http://schemas.openxmlformats.org/officeDocument/2006/relationships/slide" Target="slides/slide29.xml" Id="rId30" /><Relationship Type="http://schemas.openxmlformats.org/officeDocument/2006/relationships/slide" Target="slides/slide34.xml" Id="rId35" /><Relationship Type="http://schemas.openxmlformats.org/officeDocument/2006/relationships/slide" Target="slides/slide42.xml" Id="rId43" /><Relationship Type="http://schemas.openxmlformats.org/officeDocument/2006/relationships/slide" Target="slides/slide47.xml" Id="rId48" /><Relationship Type="http://schemas.openxmlformats.org/officeDocument/2006/relationships/slide" Target="slides/slide55.xml" Id="rId56" /><Relationship Type="http://schemas.openxmlformats.org/officeDocument/2006/relationships/slide" Target="slides/slide7.xml" Id="rId8" /><Relationship Type="http://schemas.openxmlformats.org/officeDocument/2006/relationships/slide" Target="slides/slide50.xml" Id="rId51" /><Relationship Type="http://schemas.openxmlformats.org/officeDocument/2006/relationships/slide" Target="slides/slide2.xml" Id="rId3" /><Relationship Type="http://schemas.openxmlformats.org/officeDocument/2006/relationships/slide" Target="slides/slide11.xml" Id="rId12" /><Relationship Type="http://schemas.openxmlformats.org/officeDocument/2006/relationships/slide" Target="slides/slide16.xml" Id="rId17" /><Relationship Type="http://schemas.openxmlformats.org/officeDocument/2006/relationships/slide" Target="slides/slide24.xml" Id="rId25" /><Relationship Type="http://schemas.openxmlformats.org/officeDocument/2006/relationships/slide" Target="slides/slide32.xml" Id="rId33" /><Relationship Type="http://schemas.openxmlformats.org/officeDocument/2006/relationships/slide" Target="slides/slide37.xml" Id="rId38" /><Relationship Type="http://schemas.openxmlformats.org/officeDocument/2006/relationships/slide" Target="slides/slide45.xml" Id="rId46" /><Relationship Type="http://schemas.openxmlformats.org/officeDocument/2006/relationships/notesMaster" Target="notesMasters/notesMaster1.xml" Id="rId59" /><Relationship Type="http://schemas.openxmlformats.org/officeDocument/2006/relationships/slide" Target="slides/slide19.xml" Id="rId20" /><Relationship Type="http://schemas.openxmlformats.org/officeDocument/2006/relationships/slide" Target="slides/slide40.xml" Id="rId41" /><Relationship Type="http://schemas.openxmlformats.org/officeDocument/2006/relationships/slide" Target="slides/slide53.xml" Id="rId54" /><Relationship Type="http://schemas.openxmlformats.org/officeDocument/2006/relationships/theme" Target="theme/theme1.xml" Id="rId62" /><Relationship Type="http://schemas.openxmlformats.org/officeDocument/2006/relationships/slideMaster" Target="slideMasters/slideMaster1.xml" Id="rId1" /><Relationship Type="http://schemas.openxmlformats.org/officeDocument/2006/relationships/slide" Target="slides/slide5.xml" Id="rId6" /><Relationship Type="http://schemas.openxmlformats.org/officeDocument/2006/relationships/slide" Target="slides/slide14.xml" Id="rId15" /><Relationship Type="http://schemas.openxmlformats.org/officeDocument/2006/relationships/slide" Target="slides/slide22.xml" Id="rId23" /><Relationship Type="http://schemas.openxmlformats.org/officeDocument/2006/relationships/slide" Target="slides/slide27.xml" Id="rId28" /><Relationship Type="http://schemas.openxmlformats.org/officeDocument/2006/relationships/slide" Target="slides/slide35.xml" Id="rId36" /><Relationship Type="http://schemas.openxmlformats.org/officeDocument/2006/relationships/slide" Target="slides/slide48.xml" Id="rId49" /><Relationship Type="http://schemas.openxmlformats.org/officeDocument/2006/relationships/slide" Target="slides/slide56.xml" Id="rId57" /><Relationship Type="http://schemas.openxmlformats.org/officeDocument/2006/relationships/slide" Target="slides/slide9.xml" Id="rId10" /><Relationship Type="http://schemas.openxmlformats.org/officeDocument/2006/relationships/slide" Target="slides/slide30.xml" Id="rId31" /><Relationship Type="http://schemas.openxmlformats.org/officeDocument/2006/relationships/slide" Target="slides/slide43.xml" Id="rId44" /><Relationship Type="http://schemas.openxmlformats.org/officeDocument/2006/relationships/slide" Target="slides/slide51.xml" Id="rId52" /><Relationship Type="http://schemas.openxmlformats.org/officeDocument/2006/relationships/presProps" Target="presProps.xml" Id="rId60" /><Relationship Type="http://schemas.microsoft.com/office/2015/10/relationships/revisionInfo" Target="revisionInfo.xml" Id="rId65" /><Relationship Type="http://schemas.openxmlformats.org/officeDocument/2006/relationships/slide" Target="slides/slide3.xml" Id="rId4" /><Relationship Type="http://schemas.openxmlformats.org/officeDocument/2006/relationships/slide" Target="slides/slide8.xml" Id="rId9" /><Relationship Type="http://schemas.openxmlformats.org/officeDocument/2006/relationships/slide" Target="slides/slide12.xml" Id="rId13" /><Relationship Type="http://schemas.openxmlformats.org/officeDocument/2006/relationships/slide" Target="slides/slide17.xml" Id="rId18" /><Relationship Type="http://schemas.openxmlformats.org/officeDocument/2006/relationships/slide" Target="slides/slide38.xml" Id="rId39"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CAAA84-50C6-4DF0-947A-D7D2CAA95415}" type="datetimeFigureOut">
              <a:t>7/15/2026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0E377-8416-4A92-9C80-A19D0280DCEC}" type="slidenum">
              <a:t>‹#›</a:t>
            </a:fld>
            <a:endParaRPr lang="en-US"/>
          </a:p>
        </p:txBody>
      </p:sp>
    </p:spTree>
    <p:extLst>
      <p:ext uri="{BB962C8B-B14F-4D97-AF65-F5344CB8AC3E}">
        <p14:creationId xmlns:p14="http://schemas.microsoft.com/office/powerpoint/2010/main" val="10152893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Welcome to this interactive lesson on Artificial Intelligence in Education. During this lesson, you will learn what AI is, how it can support teaching and learning, and how educators can use </a:t>
            </a:r>
            <a:r>
              <a:rPr lang="en-US">
                <a:ea typeface="Calibri"/>
                <a:cs typeface="Calibri"/>
              </a:rPr>
              <a:t>AI responsibly in the classroom.</a:t>
            </a:r>
          </a:p>
        </p:txBody>
      </p:sp>
      <p:sp>
        <p:nvSpPr>
          <p:cNvPr id="4" name="Slide Number Placeholder 3"/>
          <p:cNvSpPr>
            <a:spLocks noGrp="1"/>
          </p:cNvSpPr>
          <p:nvPr>
            <p:ph type="sldNum" sz="quarter" idx="5"/>
          </p:nvPr>
        </p:nvSpPr>
        <p:spPr/>
        <p:txBody>
          <a:bodyPr/>
          <a:lstStyle/>
          <a:p>
            <a:fld id="{E9E0E377-8416-4A92-9C80-A19D0280DCEC}" type="slidenum">
              <a:t>1</a:t>
            </a:fld>
            <a:endParaRPr lang="en-US"/>
          </a:p>
        </p:txBody>
      </p:sp>
    </p:spTree>
    <p:extLst>
      <p:ext uri="{BB962C8B-B14F-4D97-AF65-F5344CB8AC3E}">
        <p14:creationId xmlns:p14="http://schemas.microsoft.com/office/powerpoint/2010/main" val="5176284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Welcome! This interactive lesson introduces artificial intelligence in education. Throughout this lesson, you will complete activities, answer questions, and discover how AI can </a:t>
            </a:r>
            <a:r>
              <a:rPr lang="en-US">
                <a:ea typeface="Calibri"/>
                <a:cs typeface="Calibri"/>
              </a:rPr>
              <a:t>support teachers while improving student learning. </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E9E0E377-8416-4A92-9C80-A19D0280DCEC}" type="slidenum">
              <a:t>3</a:t>
            </a:fld>
            <a:endParaRPr lang="en-US"/>
          </a:p>
        </p:txBody>
      </p:sp>
    </p:spTree>
    <p:extLst>
      <p:ext uri="{BB962C8B-B14F-4D97-AF65-F5344CB8AC3E}">
        <p14:creationId xmlns:p14="http://schemas.microsoft.com/office/powerpoint/2010/main" val="17150000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CBBAA-9A97-FAD9-4766-D1D1F299AE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4C81DB-D6D4-4AFA-4E09-BFECBE104D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E97B0F-2A09-2B35-1DE8-51549E683A93}"/>
              </a:ext>
            </a:extLst>
          </p:cNvPr>
          <p:cNvSpPr>
            <a:spLocks noGrp="1"/>
          </p:cNvSpPr>
          <p:nvPr>
            <p:ph type="body" idx="1"/>
          </p:nvPr>
        </p:nvSpPr>
        <p:spPr/>
        <p:txBody>
          <a:bodyPr/>
          <a:lstStyle/>
          <a:p>
            <a:r>
              <a:rPr lang="en-US" dirty="0">
                <a:ea typeface="Calibri"/>
                <a:cs typeface="Calibri"/>
              </a:rPr>
              <a:t>Use the Next and Previous buttons to move through the lesson. Closed captions are available throughout the </a:t>
            </a:r>
            <a:r>
              <a:rPr lang="en-US">
                <a:ea typeface="Calibri"/>
                <a:cs typeface="Calibri"/>
              </a:rPr>
              <a:t>presentation. Complete each activity before advancing to the next section. </a:t>
            </a:r>
            <a:endParaRPr lang="en-US" dirty="0">
              <a:ea typeface="Calibri"/>
              <a:cs typeface="Calibri"/>
            </a:endParaRPr>
          </a:p>
        </p:txBody>
      </p:sp>
      <p:sp>
        <p:nvSpPr>
          <p:cNvPr id="4" name="Slide Number Placeholder 3">
            <a:extLst>
              <a:ext uri="{FF2B5EF4-FFF2-40B4-BE49-F238E27FC236}">
                <a16:creationId xmlns:a16="http://schemas.microsoft.com/office/drawing/2014/main" id="{31DB085B-014B-9838-A047-D9978055B421}"/>
              </a:ext>
            </a:extLst>
          </p:cNvPr>
          <p:cNvSpPr>
            <a:spLocks noGrp="1"/>
          </p:cNvSpPr>
          <p:nvPr>
            <p:ph type="sldNum" sz="quarter" idx="5"/>
          </p:nvPr>
        </p:nvSpPr>
        <p:spPr/>
        <p:txBody>
          <a:bodyPr/>
          <a:lstStyle/>
          <a:p>
            <a:fld id="{E9E0E377-8416-4A92-9C80-A19D0280DCEC}" type="slidenum">
              <a:t>4</a:t>
            </a:fld>
            <a:endParaRPr lang="en-US"/>
          </a:p>
        </p:txBody>
      </p:sp>
    </p:spTree>
    <p:extLst>
      <p:ext uri="{BB962C8B-B14F-4D97-AF65-F5344CB8AC3E}">
        <p14:creationId xmlns:p14="http://schemas.microsoft.com/office/powerpoint/2010/main" val="35126710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928AD-0E43-44D3-2D33-C002C4EE08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8AEFF9-03EA-236D-6379-D6140DB43E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1FC5BB-D5D7-AC11-F9E0-CBC4A2E6C973}"/>
              </a:ext>
            </a:extLst>
          </p:cNvPr>
          <p:cNvSpPr>
            <a:spLocks noGrp="1"/>
          </p:cNvSpPr>
          <p:nvPr>
            <p:ph type="body" idx="1"/>
          </p:nvPr>
        </p:nvSpPr>
        <p:spPr/>
        <p:txBody>
          <a:bodyPr/>
          <a:lstStyle/>
          <a:p>
            <a:r>
              <a:rPr lang="en-US">
                <a:ea typeface="Calibri"/>
                <a:cs typeface="Calibri"/>
              </a:rPr>
              <a:t>Artificial Intelligence is becoming a valuable educational tool. This lesson will help you understand how AI can improve teaching while emphasizing reponsible and ethical classroom use. </a:t>
            </a:r>
            <a:endParaRPr lang="en-US" dirty="0">
              <a:ea typeface="Calibri"/>
              <a:cs typeface="Calibri"/>
            </a:endParaRPr>
          </a:p>
        </p:txBody>
      </p:sp>
      <p:sp>
        <p:nvSpPr>
          <p:cNvPr id="4" name="Slide Number Placeholder 3">
            <a:extLst>
              <a:ext uri="{FF2B5EF4-FFF2-40B4-BE49-F238E27FC236}">
                <a16:creationId xmlns:a16="http://schemas.microsoft.com/office/drawing/2014/main" id="{0A14E79E-BEFB-0728-172A-3BA304894609}"/>
              </a:ext>
            </a:extLst>
          </p:cNvPr>
          <p:cNvSpPr>
            <a:spLocks noGrp="1"/>
          </p:cNvSpPr>
          <p:nvPr>
            <p:ph type="sldNum" sz="quarter" idx="5"/>
          </p:nvPr>
        </p:nvSpPr>
        <p:spPr/>
        <p:txBody>
          <a:bodyPr/>
          <a:lstStyle/>
          <a:p>
            <a:fld id="{E9E0E377-8416-4A92-9C80-A19D0280DCEC}" type="slidenum">
              <a:t>5</a:t>
            </a:fld>
            <a:endParaRPr lang="en-US"/>
          </a:p>
        </p:txBody>
      </p:sp>
    </p:spTree>
    <p:extLst>
      <p:ext uri="{BB962C8B-B14F-4D97-AF65-F5344CB8AC3E}">
        <p14:creationId xmlns:p14="http://schemas.microsoft.com/office/powerpoint/2010/main" val="38433284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7F233-A142-045F-FCF6-65478F4E4C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9BAA9E-20A6-B669-A027-AF140DEE1D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9BA52B-3F89-1540-854B-AFA872DD808C}"/>
              </a:ext>
            </a:extLst>
          </p:cNvPr>
          <p:cNvSpPr>
            <a:spLocks noGrp="1"/>
          </p:cNvSpPr>
          <p:nvPr>
            <p:ph type="body" idx="1"/>
          </p:nvPr>
        </p:nvSpPr>
        <p:spPr/>
        <p:txBody>
          <a:bodyPr/>
          <a:lstStyle/>
          <a:p>
            <a:r>
              <a:rPr lang="en-US" dirty="0">
                <a:ea typeface="Calibri"/>
                <a:cs typeface="Calibri"/>
              </a:rPr>
              <a:t>Please complete each activity independently and </a:t>
            </a:r>
            <a:r>
              <a:rPr lang="en-US">
                <a:ea typeface="Calibri"/>
                <a:cs typeface="Calibri"/>
              </a:rPr>
              <a:t>answer each question thoughtfully. At the end of the lesson, you will complete a short assessment to demonstrate what you have learned. </a:t>
            </a:r>
            <a:endParaRPr lang="en-US" dirty="0">
              <a:ea typeface="Calibri"/>
              <a:cs typeface="Calibri"/>
            </a:endParaRPr>
          </a:p>
        </p:txBody>
      </p:sp>
      <p:sp>
        <p:nvSpPr>
          <p:cNvPr id="4" name="Slide Number Placeholder 3">
            <a:extLst>
              <a:ext uri="{FF2B5EF4-FFF2-40B4-BE49-F238E27FC236}">
                <a16:creationId xmlns:a16="http://schemas.microsoft.com/office/drawing/2014/main" id="{F801A4CE-808F-A3E1-FDE8-9028434968EA}"/>
              </a:ext>
            </a:extLst>
          </p:cNvPr>
          <p:cNvSpPr>
            <a:spLocks noGrp="1"/>
          </p:cNvSpPr>
          <p:nvPr>
            <p:ph type="sldNum" sz="quarter" idx="5"/>
          </p:nvPr>
        </p:nvSpPr>
        <p:spPr/>
        <p:txBody>
          <a:bodyPr/>
          <a:lstStyle/>
          <a:p>
            <a:fld id="{E9E0E377-8416-4A92-9C80-A19D0280DCEC}" type="slidenum">
              <a:t>6</a:t>
            </a:fld>
            <a:endParaRPr lang="en-US"/>
          </a:p>
        </p:txBody>
      </p:sp>
    </p:spTree>
    <p:extLst>
      <p:ext uri="{BB962C8B-B14F-4D97-AF65-F5344CB8AC3E}">
        <p14:creationId xmlns:p14="http://schemas.microsoft.com/office/powerpoint/2010/main" val="6158366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F2E6A-7148-D494-B533-1829BD49E4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078D04-8F1C-A423-05DA-3BBA361087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04A1B4-5C60-CB0B-2E54-9C59AD315114}"/>
              </a:ext>
            </a:extLst>
          </p:cNvPr>
          <p:cNvSpPr>
            <a:spLocks noGrp="1"/>
          </p:cNvSpPr>
          <p:nvPr>
            <p:ph type="body" idx="1"/>
          </p:nvPr>
        </p:nvSpPr>
        <p:spPr/>
        <p:txBody>
          <a:bodyPr/>
          <a:lstStyle/>
          <a:p>
            <a:r>
              <a:rPr lang="en-US" dirty="0">
                <a:ea typeface="Calibri"/>
                <a:cs typeface="Calibri"/>
              </a:rPr>
              <a:t>To complete this lesson </a:t>
            </a:r>
            <a:r>
              <a:rPr lang="en-US">
                <a:ea typeface="Calibri"/>
                <a:cs typeface="Calibri"/>
              </a:rPr>
              <a:t>successfully, you will need a computer, reliable internet access, and speakers or headphones for the narrated content. </a:t>
            </a:r>
            <a:endParaRPr lang="en-US" dirty="0">
              <a:ea typeface="Calibri"/>
              <a:cs typeface="Calibri"/>
            </a:endParaRPr>
          </a:p>
        </p:txBody>
      </p:sp>
      <p:sp>
        <p:nvSpPr>
          <p:cNvPr id="4" name="Slide Number Placeholder 3">
            <a:extLst>
              <a:ext uri="{FF2B5EF4-FFF2-40B4-BE49-F238E27FC236}">
                <a16:creationId xmlns:a16="http://schemas.microsoft.com/office/drawing/2014/main" id="{652C1E25-3B6F-F72C-76CF-6026FCEA78E8}"/>
              </a:ext>
            </a:extLst>
          </p:cNvPr>
          <p:cNvSpPr>
            <a:spLocks noGrp="1"/>
          </p:cNvSpPr>
          <p:nvPr>
            <p:ph type="sldNum" sz="quarter" idx="5"/>
          </p:nvPr>
        </p:nvSpPr>
        <p:spPr/>
        <p:txBody>
          <a:bodyPr/>
          <a:lstStyle/>
          <a:p>
            <a:fld id="{E9E0E377-8416-4A92-9C80-A19D0280DCEC}" type="slidenum">
              <a:t>7</a:t>
            </a:fld>
            <a:endParaRPr lang="en-US"/>
          </a:p>
        </p:txBody>
      </p:sp>
    </p:spTree>
    <p:extLst>
      <p:ext uri="{BB962C8B-B14F-4D97-AF65-F5344CB8AC3E}">
        <p14:creationId xmlns:p14="http://schemas.microsoft.com/office/powerpoint/2010/main" val="26744663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98F45-761F-3C5B-8831-82B1BC1427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707A94-0306-5385-A135-33EA7885C9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00D59A-A4AE-526F-980E-188EC103D4E4}"/>
              </a:ext>
            </a:extLst>
          </p:cNvPr>
          <p:cNvSpPr>
            <a:spLocks noGrp="1"/>
          </p:cNvSpPr>
          <p:nvPr>
            <p:ph type="body" idx="1"/>
          </p:nvPr>
        </p:nvSpPr>
        <p:spPr/>
        <p:txBody>
          <a:bodyPr/>
          <a:lstStyle/>
          <a:p>
            <a:r>
              <a:rPr lang="en-US" dirty="0">
                <a:ea typeface="Calibri"/>
                <a:cs typeface="Calibri"/>
              </a:rPr>
              <a:t>Hello! My name is Alex, and I'll be your guide throughout this lesson. I'll introduce each topic, ask questions, and </a:t>
            </a:r>
            <a:r>
              <a:rPr lang="en-US">
                <a:ea typeface="Calibri"/>
                <a:cs typeface="Calibri"/>
              </a:rPr>
              <a:t>help you understand how AI can be used responsibly in education. </a:t>
            </a:r>
            <a:endParaRPr lang="en-US" dirty="0">
              <a:ea typeface="Calibri"/>
              <a:cs typeface="Calibri"/>
            </a:endParaRPr>
          </a:p>
        </p:txBody>
      </p:sp>
      <p:sp>
        <p:nvSpPr>
          <p:cNvPr id="4" name="Slide Number Placeholder 3">
            <a:extLst>
              <a:ext uri="{FF2B5EF4-FFF2-40B4-BE49-F238E27FC236}">
                <a16:creationId xmlns:a16="http://schemas.microsoft.com/office/drawing/2014/main" id="{A66A4B21-8C0F-0002-B4F2-1B3B9978CF26}"/>
              </a:ext>
            </a:extLst>
          </p:cNvPr>
          <p:cNvSpPr>
            <a:spLocks noGrp="1"/>
          </p:cNvSpPr>
          <p:nvPr>
            <p:ph type="sldNum" sz="quarter" idx="5"/>
          </p:nvPr>
        </p:nvSpPr>
        <p:spPr/>
        <p:txBody>
          <a:bodyPr/>
          <a:lstStyle/>
          <a:p>
            <a:fld id="{E9E0E377-8416-4A92-9C80-A19D0280DCEC}" type="slidenum">
              <a:t>8</a:t>
            </a:fld>
            <a:endParaRPr lang="en-US"/>
          </a:p>
        </p:txBody>
      </p:sp>
    </p:spTree>
    <p:extLst>
      <p:ext uri="{BB962C8B-B14F-4D97-AF65-F5344CB8AC3E}">
        <p14:creationId xmlns:p14="http://schemas.microsoft.com/office/powerpoint/2010/main" val="36538333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CD6C0-7E36-F99D-7AE4-82AA2638C5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7753AF-5093-C913-6C53-4D09C85C10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E4ED3E-3C28-0191-01AA-191A5A66945E}"/>
              </a:ext>
            </a:extLst>
          </p:cNvPr>
          <p:cNvSpPr>
            <a:spLocks noGrp="1"/>
          </p:cNvSpPr>
          <p:nvPr>
            <p:ph type="body" idx="1"/>
          </p:nvPr>
        </p:nvSpPr>
        <p:spPr/>
        <p:txBody>
          <a:bodyPr/>
          <a:lstStyle/>
          <a:p>
            <a:r>
              <a:rPr lang="en-US" dirty="0">
                <a:ea typeface="Calibri"/>
                <a:cs typeface="Calibri"/>
              </a:rPr>
              <a:t>Turn the dial to show your current experience with artificial intelligence in </a:t>
            </a:r>
            <a:r>
              <a:rPr lang="en-US">
                <a:ea typeface="Calibri"/>
                <a:cs typeface="Calibri"/>
              </a:rPr>
              <a:t>education. There are no right or wrong answers. </a:t>
            </a:r>
            <a:endParaRPr lang="en-US" dirty="0">
              <a:ea typeface="Calibri"/>
              <a:cs typeface="Calibri"/>
            </a:endParaRPr>
          </a:p>
        </p:txBody>
      </p:sp>
      <p:sp>
        <p:nvSpPr>
          <p:cNvPr id="4" name="Slide Number Placeholder 3">
            <a:extLst>
              <a:ext uri="{FF2B5EF4-FFF2-40B4-BE49-F238E27FC236}">
                <a16:creationId xmlns:a16="http://schemas.microsoft.com/office/drawing/2014/main" id="{F1095E96-4628-8DA6-BF4D-FAC31F859479}"/>
              </a:ext>
            </a:extLst>
          </p:cNvPr>
          <p:cNvSpPr>
            <a:spLocks noGrp="1"/>
          </p:cNvSpPr>
          <p:nvPr>
            <p:ph type="sldNum" sz="quarter" idx="5"/>
          </p:nvPr>
        </p:nvSpPr>
        <p:spPr/>
        <p:txBody>
          <a:bodyPr/>
          <a:lstStyle/>
          <a:p>
            <a:fld id="{E9E0E377-8416-4A92-9C80-A19D0280DCEC}" type="slidenum">
              <a:t>9</a:t>
            </a:fld>
            <a:endParaRPr lang="en-US"/>
          </a:p>
        </p:txBody>
      </p:sp>
    </p:spTree>
    <p:extLst>
      <p:ext uri="{BB962C8B-B14F-4D97-AF65-F5344CB8AC3E}">
        <p14:creationId xmlns:p14="http://schemas.microsoft.com/office/powerpoint/2010/main" val="20092753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F1014-46A9-7A2F-9DB1-2EC4B4450C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4E8D73-F7F6-B460-A695-614853DCB2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EC0E85-D033-C79B-3DAE-99D26BC4C77D}"/>
              </a:ext>
            </a:extLst>
          </p:cNvPr>
          <p:cNvSpPr>
            <a:spLocks noGrp="1"/>
          </p:cNvSpPr>
          <p:nvPr>
            <p:ph type="body" idx="1"/>
          </p:nvPr>
        </p:nvSpPr>
        <p:spPr/>
        <p:txBody>
          <a:bodyPr/>
          <a:lstStyle/>
          <a:p>
            <a:r>
              <a:rPr lang="en-US">
                <a:ea typeface="Calibri"/>
                <a:cs typeface="Calibri"/>
              </a:rPr>
              <a:t>Whether you've never used AI or already have experience, this lesson is designed to help you learn practical ways to use AI responsibly in your classroom. </a:t>
            </a:r>
            <a:endParaRPr lang="en-US" dirty="0">
              <a:ea typeface="Calibri"/>
              <a:cs typeface="Calibri"/>
            </a:endParaRPr>
          </a:p>
        </p:txBody>
      </p:sp>
      <p:sp>
        <p:nvSpPr>
          <p:cNvPr id="4" name="Slide Number Placeholder 3">
            <a:extLst>
              <a:ext uri="{FF2B5EF4-FFF2-40B4-BE49-F238E27FC236}">
                <a16:creationId xmlns:a16="http://schemas.microsoft.com/office/drawing/2014/main" id="{234229B9-2319-1060-BB00-145CA93A3355}"/>
              </a:ext>
            </a:extLst>
          </p:cNvPr>
          <p:cNvSpPr>
            <a:spLocks noGrp="1"/>
          </p:cNvSpPr>
          <p:nvPr>
            <p:ph type="sldNum" sz="quarter" idx="5"/>
          </p:nvPr>
        </p:nvSpPr>
        <p:spPr/>
        <p:txBody>
          <a:bodyPr/>
          <a:lstStyle/>
          <a:p>
            <a:fld id="{E9E0E377-8416-4A92-9C80-A19D0280DCEC}" type="slidenum">
              <a:t>10</a:t>
            </a:fld>
            <a:endParaRPr lang="en-US"/>
          </a:p>
        </p:txBody>
      </p:sp>
    </p:spTree>
    <p:extLst>
      <p:ext uri="{BB962C8B-B14F-4D97-AF65-F5344CB8AC3E}">
        <p14:creationId xmlns:p14="http://schemas.microsoft.com/office/powerpoint/2010/main" val="15243891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61FE0-BDED-1709-34F9-AAA7D50CEC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4994C4-0D8C-55A5-C633-D8EA13476B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4A5EBD-834A-F9C0-135C-42194FF30283}"/>
              </a:ext>
            </a:extLst>
          </p:cNvPr>
          <p:cNvSpPr>
            <a:spLocks noGrp="1"/>
          </p:cNvSpPr>
          <p:nvPr>
            <p:ph type="body" idx="1"/>
          </p:nvPr>
        </p:nvSpPr>
        <p:spPr/>
        <p:txBody>
          <a:bodyPr/>
          <a:lstStyle/>
          <a:p>
            <a:r>
              <a:rPr lang="en-US" dirty="0">
                <a:ea typeface="Calibri"/>
                <a:cs typeface="Calibri"/>
              </a:rPr>
              <a:t>Move the slider to indicate how confident you feel about using AI in </a:t>
            </a:r>
            <a:r>
              <a:rPr lang="en-US">
                <a:ea typeface="Calibri"/>
                <a:cs typeface="Calibri"/>
              </a:rPr>
              <a:t>education. You'll revisit this question at the end of the lesson. </a:t>
            </a:r>
            <a:endParaRPr lang="en-US" dirty="0">
              <a:ea typeface="Calibri"/>
              <a:cs typeface="Calibri"/>
            </a:endParaRPr>
          </a:p>
        </p:txBody>
      </p:sp>
      <p:sp>
        <p:nvSpPr>
          <p:cNvPr id="4" name="Slide Number Placeholder 3">
            <a:extLst>
              <a:ext uri="{FF2B5EF4-FFF2-40B4-BE49-F238E27FC236}">
                <a16:creationId xmlns:a16="http://schemas.microsoft.com/office/drawing/2014/main" id="{6610D36D-5363-AD96-C507-37DD91733A34}"/>
              </a:ext>
            </a:extLst>
          </p:cNvPr>
          <p:cNvSpPr>
            <a:spLocks noGrp="1"/>
          </p:cNvSpPr>
          <p:nvPr>
            <p:ph type="sldNum" sz="quarter" idx="5"/>
          </p:nvPr>
        </p:nvSpPr>
        <p:spPr/>
        <p:txBody>
          <a:bodyPr/>
          <a:lstStyle/>
          <a:p>
            <a:fld id="{E9E0E377-8416-4A92-9C80-A19D0280DCEC}" type="slidenum">
              <a:t>11</a:t>
            </a:fld>
            <a:endParaRPr lang="en-US"/>
          </a:p>
        </p:txBody>
      </p:sp>
    </p:spTree>
    <p:extLst>
      <p:ext uri="{BB962C8B-B14F-4D97-AF65-F5344CB8AC3E}">
        <p14:creationId xmlns:p14="http://schemas.microsoft.com/office/powerpoint/2010/main" val="37776788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BBFC-66BC-331A-49A4-9A482DB628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520C98-BBAE-BF34-D723-7DCED66591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F4564E-4700-2BFB-47A0-533E3F271EB9}"/>
              </a:ext>
            </a:extLst>
          </p:cNvPr>
          <p:cNvSpPr>
            <a:spLocks noGrp="1"/>
          </p:cNvSpPr>
          <p:nvPr>
            <p:ph type="body" idx="1"/>
          </p:nvPr>
        </p:nvSpPr>
        <p:spPr/>
        <p:txBody>
          <a:bodyPr/>
          <a:lstStyle/>
          <a:p>
            <a:r>
              <a:rPr lang="en-US" dirty="0">
                <a:ea typeface="Calibri"/>
                <a:cs typeface="Calibri"/>
              </a:rPr>
              <a:t>As you move through this lesson, think about how your confidence grows while learning more about </a:t>
            </a:r>
            <a:r>
              <a:rPr lang="en-US">
                <a:ea typeface="Calibri"/>
                <a:cs typeface="Calibri"/>
              </a:rPr>
              <a:t>artificial intelligence. </a:t>
            </a:r>
            <a:endParaRPr lang="en-US" dirty="0">
              <a:ea typeface="Calibri"/>
              <a:cs typeface="Calibri"/>
            </a:endParaRPr>
          </a:p>
        </p:txBody>
      </p:sp>
      <p:sp>
        <p:nvSpPr>
          <p:cNvPr id="4" name="Slide Number Placeholder 3">
            <a:extLst>
              <a:ext uri="{FF2B5EF4-FFF2-40B4-BE49-F238E27FC236}">
                <a16:creationId xmlns:a16="http://schemas.microsoft.com/office/drawing/2014/main" id="{30798617-9300-B832-8443-2EEA1D328461}"/>
              </a:ext>
            </a:extLst>
          </p:cNvPr>
          <p:cNvSpPr>
            <a:spLocks noGrp="1"/>
          </p:cNvSpPr>
          <p:nvPr>
            <p:ph type="sldNum" sz="quarter" idx="5"/>
          </p:nvPr>
        </p:nvSpPr>
        <p:spPr/>
        <p:txBody>
          <a:bodyPr/>
          <a:lstStyle/>
          <a:p>
            <a:fld id="{E9E0E377-8416-4A92-9C80-A19D0280DCEC}" type="slidenum">
              <a:t>12</a:t>
            </a:fld>
            <a:endParaRPr lang="en-US"/>
          </a:p>
        </p:txBody>
      </p:sp>
    </p:spTree>
    <p:extLst>
      <p:ext uri="{BB962C8B-B14F-4D97-AF65-F5344CB8AC3E}">
        <p14:creationId xmlns:p14="http://schemas.microsoft.com/office/powerpoint/2010/main" val="40117127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F33D0-1293-D843-2DB1-C8C4BE4802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EB192C-60ED-ADE8-79A5-F08B41C8A3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929540-47B6-AEED-A19E-168EA41C48A6}"/>
              </a:ext>
            </a:extLst>
          </p:cNvPr>
          <p:cNvSpPr>
            <a:spLocks noGrp="1"/>
          </p:cNvSpPr>
          <p:nvPr>
            <p:ph type="body" idx="1"/>
          </p:nvPr>
        </p:nvSpPr>
        <p:spPr/>
        <p:txBody>
          <a:bodyPr/>
          <a:lstStyle/>
          <a:p>
            <a:r>
              <a:rPr lang="en-US">
                <a:ea typeface="Calibri"/>
                <a:cs typeface="Calibri"/>
              </a:rPr>
              <a:t>Whether you've never used AI or already have experience, this lesson is designed to help you learn practical ways to use AI responsibly in your classroom. </a:t>
            </a:r>
            <a:endParaRPr lang="en-US" dirty="0">
              <a:ea typeface="Calibri"/>
              <a:cs typeface="Calibri"/>
            </a:endParaRPr>
          </a:p>
        </p:txBody>
      </p:sp>
      <p:sp>
        <p:nvSpPr>
          <p:cNvPr id="4" name="Slide Number Placeholder 3">
            <a:extLst>
              <a:ext uri="{FF2B5EF4-FFF2-40B4-BE49-F238E27FC236}">
                <a16:creationId xmlns:a16="http://schemas.microsoft.com/office/drawing/2014/main" id="{53B4B72E-1AC9-0152-A29F-8DEBC8FDB04D}"/>
              </a:ext>
            </a:extLst>
          </p:cNvPr>
          <p:cNvSpPr>
            <a:spLocks noGrp="1"/>
          </p:cNvSpPr>
          <p:nvPr>
            <p:ph type="sldNum" sz="quarter" idx="5"/>
          </p:nvPr>
        </p:nvSpPr>
        <p:spPr/>
        <p:txBody>
          <a:bodyPr/>
          <a:lstStyle/>
          <a:p>
            <a:fld id="{E9E0E377-8416-4A92-9C80-A19D0280DCEC}" type="slidenum">
              <a:t>13</a:t>
            </a:fld>
            <a:endParaRPr lang="en-US"/>
          </a:p>
        </p:txBody>
      </p:sp>
    </p:spTree>
    <p:extLst>
      <p:ext uri="{BB962C8B-B14F-4D97-AF65-F5344CB8AC3E}">
        <p14:creationId xmlns:p14="http://schemas.microsoft.com/office/powerpoint/2010/main" val="13196722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525E1-7B6E-0B3C-1D3F-05C986141C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030926-EAD5-7E82-2FBC-69D16D99E8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B1A6CC-9CA2-49DE-07D1-7F9CB9CA1F8C}"/>
              </a:ext>
            </a:extLst>
          </p:cNvPr>
          <p:cNvSpPr>
            <a:spLocks noGrp="1"/>
          </p:cNvSpPr>
          <p:nvPr>
            <p:ph type="body" idx="1"/>
          </p:nvPr>
        </p:nvSpPr>
        <p:spPr/>
        <p:txBody>
          <a:bodyPr/>
          <a:lstStyle/>
          <a:p>
            <a:r>
              <a:rPr lang="en-US" dirty="0">
                <a:ea typeface="Calibri"/>
                <a:cs typeface="Calibri"/>
              </a:rPr>
              <a:t>Artificial </a:t>
            </a:r>
            <a:r>
              <a:rPr lang="en-US">
                <a:ea typeface="Calibri"/>
                <a:cs typeface="Calibri"/>
              </a:rPr>
              <a:t>intelligence is becoming more common in schools. Teachers use AI to create lesson plans, personalize instruction, and save time. Understanding AI helps educators make informed decisions.</a:t>
            </a:r>
            <a:endParaRPr lang="en-US" dirty="0">
              <a:ea typeface="Calibri"/>
              <a:cs typeface="Calibri"/>
            </a:endParaRPr>
          </a:p>
        </p:txBody>
      </p:sp>
      <p:sp>
        <p:nvSpPr>
          <p:cNvPr id="4" name="Slide Number Placeholder 3">
            <a:extLst>
              <a:ext uri="{FF2B5EF4-FFF2-40B4-BE49-F238E27FC236}">
                <a16:creationId xmlns:a16="http://schemas.microsoft.com/office/drawing/2014/main" id="{0C74F5C7-E405-3756-7D1C-A1676444875B}"/>
              </a:ext>
            </a:extLst>
          </p:cNvPr>
          <p:cNvSpPr>
            <a:spLocks noGrp="1"/>
          </p:cNvSpPr>
          <p:nvPr>
            <p:ph type="sldNum" sz="quarter" idx="5"/>
          </p:nvPr>
        </p:nvSpPr>
        <p:spPr/>
        <p:txBody>
          <a:bodyPr/>
          <a:lstStyle/>
          <a:p>
            <a:fld id="{E9E0E377-8416-4A92-9C80-A19D0280DCEC}" type="slidenum">
              <a:t>14</a:t>
            </a:fld>
            <a:endParaRPr lang="en-US"/>
          </a:p>
        </p:txBody>
      </p:sp>
    </p:spTree>
    <p:extLst>
      <p:ext uri="{BB962C8B-B14F-4D97-AF65-F5344CB8AC3E}">
        <p14:creationId xmlns:p14="http://schemas.microsoft.com/office/powerpoint/2010/main" val="4105263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47E36-7C29-D8AE-2DE4-17F47C5238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8AF1B5-4358-7341-AB78-22D01F5617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A1C823-B136-F7AF-97DC-143927961C4A}"/>
              </a:ext>
            </a:extLst>
          </p:cNvPr>
          <p:cNvSpPr>
            <a:spLocks noGrp="1"/>
          </p:cNvSpPr>
          <p:nvPr>
            <p:ph type="body" idx="1"/>
          </p:nvPr>
        </p:nvSpPr>
        <p:spPr/>
        <p:txBody>
          <a:bodyPr/>
          <a:lstStyle/>
          <a:p>
            <a:r>
              <a:rPr lang="en-US" dirty="0">
                <a:ea typeface="Calibri"/>
                <a:cs typeface="Calibri"/>
              </a:rPr>
              <a:t>The big idea of this lesson is that artificial intelligence can improve teaching and learning when used </a:t>
            </a:r>
            <a:r>
              <a:rPr lang="en-US">
                <a:ea typeface="Calibri"/>
                <a:cs typeface="Calibri"/>
              </a:rPr>
              <a:t>responsibly. Technology supports teachers, but educators remain the most important part of every classroom. </a:t>
            </a:r>
            <a:endParaRPr lang="en-US" dirty="0">
              <a:ea typeface="Calibri"/>
              <a:cs typeface="Calibri"/>
            </a:endParaRPr>
          </a:p>
        </p:txBody>
      </p:sp>
      <p:sp>
        <p:nvSpPr>
          <p:cNvPr id="4" name="Slide Number Placeholder 3">
            <a:extLst>
              <a:ext uri="{FF2B5EF4-FFF2-40B4-BE49-F238E27FC236}">
                <a16:creationId xmlns:a16="http://schemas.microsoft.com/office/drawing/2014/main" id="{4B4E51C9-3345-7682-2D58-4413A2C7F45A}"/>
              </a:ext>
            </a:extLst>
          </p:cNvPr>
          <p:cNvSpPr>
            <a:spLocks noGrp="1"/>
          </p:cNvSpPr>
          <p:nvPr>
            <p:ph type="sldNum" sz="quarter" idx="5"/>
          </p:nvPr>
        </p:nvSpPr>
        <p:spPr/>
        <p:txBody>
          <a:bodyPr/>
          <a:lstStyle/>
          <a:p>
            <a:fld id="{E9E0E377-8416-4A92-9C80-A19D0280DCEC}" type="slidenum">
              <a:t>15</a:t>
            </a:fld>
            <a:endParaRPr lang="en-US"/>
          </a:p>
        </p:txBody>
      </p:sp>
    </p:spTree>
    <p:extLst>
      <p:ext uri="{BB962C8B-B14F-4D97-AF65-F5344CB8AC3E}">
        <p14:creationId xmlns:p14="http://schemas.microsoft.com/office/powerpoint/2010/main" val="23836911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A5296-79AA-3495-D92A-F7CC35FF50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6EC7DC-8E33-D7DD-6FEA-33365B9375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486D4-5526-15D0-A910-C387D5853617}"/>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9966F64A-360F-5424-C4D9-F096855F107F}"/>
              </a:ext>
            </a:extLst>
          </p:cNvPr>
          <p:cNvSpPr>
            <a:spLocks noGrp="1"/>
          </p:cNvSpPr>
          <p:nvPr>
            <p:ph type="sldNum" sz="quarter" idx="5"/>
          </p:nvPr>
        </p:nvSpPr>
        <p:spPr/>
        <p:txBody>
          <a:bodyPr/>
          <a:lstStyle/>
          <a:p>
            <a:fld id="{E9E0E377-8416-4A92-9C80-A19D0280DCEC}" type="slidenum">
              <a:t>16</a:t>
            </a:fld>
            <a:endParaRPr lang="en-US"/>
          </a:p>
        </p:txBody>
      </p:sp>
    </p:spTree>
    <p:extLst>
      <p:ext uri="{BB962C8B-B14F-4D97-AF65-F5344CB8AC3E}">
        <p14:creationId xmlns:p14="http://schemas.microsoft.com/office/powerpoint/2010/main" val="23912759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02CAA-0311-00C6-7CC5-E41EE88E06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89C09F-4DF8-FB0C-73EE-8F9836B081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FBA0CC-8F54-6E82-4B84-308D5D54C4FF}"/>
              </a:ext>
            </a:extLst>
          </p:cNvPr>
          <p:cNvSpPr>
            <a:spLocks noGrp="1"/>
          </p:cNvSpPr>
          <p:nvPr>
            <p:ph type="body" idx="1"/>
          </p:nvPr>
        </p:nvSpPr>
        <p:spPr/>
        <p:txBody>
          <a:bodyPr/>
          <a:lstStyle/>
          <a:p>
            <a:r>
              <a:rPr lang="en-US">
                <a:ea typeface="Calibri"/>
                <a:cs typeface="Calibri"/>
              </a:rPr>
              <a:t>Thank you for sharing your opinion. Throughout this lesson, you'll explore reliable information that will help you better understand </a:t>
            </a:r>
            <a:r>
              <a:rPr lang="en-US" dirty="0">
                <a:ea typeface="Calibri"/>
                <a:cs typeface="Calibri"/>
              </a:rPr>
              <a:t>artificial intelligence in education. </a:t>
            </a:r>
          </a:p>
        </p:txBody>
      </p:sp>
      <p:sp>
        <p:nvSpPr>
          <p:cNvPr id="4" name="Slide Number Placeholder 3">
            <a:extLst>
              <a:ext uri="{FF2B5EF4-FFF2-40B4-BE49-F238E27FC236}">
                <a16:creationId xmlns:a16="http://schemas.microsoft.com/office/drawing/2014/main" id="{6F78DC36-2E30-72EA-C44E-777514833FA8}"/>
              </a:ext>
            </a:extLst>
          </p:cNvPr>
          <p:cNvSpPr>
            <a:spLocks noGrp="1"/>
          </p:cNvSpPr>
          <p:nvPr>
            <p:ph type="sldNum" sz="quarter" idx="5"/>
          </p:nvPr>
        </p:nvSpPr>
        <p:spPr/>
        <p:txBody>
          <a:bodyPr/>
          <a:lstStyle/>
          <a:p>
            <a:fld id="{E9E0E377-8416-4A92-9C80-A19D0280DCEC}" type="slidenum">
              <a:t>17</a:t>
            </a:fld>
            <a:endParaRPr lang="en-US"/>
          </a:p>
        </p:txBody>
      </p:sp>
    </p:spTree>
    <p:extLst>
      <p:ext uri="{BB962C8B-B14F-4D97-AF65-F5344CB8AC3E}">
        <p14:creationId xmlns:p14="http://schemas.microsoft.com/office/powerpoint/2010/main" val="31555136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27E60-A08E-6957-370D-6531B91D73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468571-C31C-BFC2-B252-EDEB9A15FC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2DE2A7-7D60-0DFD-3E58-FC19D755E3FA}"/>
              </a:ext>
            </a:extLst>
          </p:cNvPr>
          <p:cNvSpPr>
            <a:spLocks noGrp="1"/>
          </p:cNvSpPr>
          <p:nvPr>
            <p:ph type="body" idx="1"/>
          </p:nvPr>
        </p:nvSpPr>
        <p:spPr/>
        <p:txBody>
          <a:bodyPr/>
          <a:lstStyle/>
          <a:p>
            <a:r>
              <a:rPr lang="en-US" dirty="0">
                <a:ea typeface="Calibri"/>
                <a:cs typeface="Calibri"/>
              </a:rPr>
              <a:t>Artificial Intelligence refers to computer systems that can generate text, recognize patterns, analyze information, and make recommendations. In education, AI helps teachers </a:t>
            </a:r>
            <a:r>
              <a:rPr lang="en-US">
                <a:ea typeface="Calibri"/>
                <a:cs typeface="Calibri"/>
              </a:rPr>
              <a:t>save time and support learning. </a:t>
            </a:r>
            <a:endParaRPr lang="en-US" dirty="0">
              <a:ea typeface="Calibri"/>
              <a:cs typeface="Calibri"/>
            </a:endParaRPr>
          </a:p>
        </p:txBody>
      </p:sp>
      <p:sp>
        <p:nvSpPr>
          <p:cNvPr id="4" name="Slide Number Placeholder 3">
            <a:extLst>
              <a:ext uri="{FF2B5EF4-FFF2-40B4-BE49-F238E27FC236}">
                <a16:creationId xmlns:a16="http://schemas.microsoft.com/office/drawing/2014/main" id="{A6CF7DE4-88C8-9D28-E976-104E7161F831}"/>
              </a:ext>
            </a:extLst>
          </p:cNvPr>
          <p:cNvSpPr>
            <a:spLocks noGrp="1"/>
          </p:cNvSpPr>
          <p:nvPr>
            <p:ph type="sldNum" sz="quarter" idx="5"/>
          </p:nvPr>
        </p:nvSpPr>
        <p:spPr/>
        <p:txBody>
          <a:bodyPr/>
          <a:lstStyle/>
          <a:p>
            <a:fld id="{E9E0E377-8416-4A92-9C80-A19D0280DCEC}" type="slidenum">
              <a:t>18</a:t>
            </a:fld>
            <a:endParaRPr lang="en-US"/>
          </a:p>
        </p:txBody>
      </p:sp>
    </p:spTree>
    <p:extLst>
      <p:ext uri="{BB962C8B-B14F-4D97-AF65-F5344CB8AC3E}">
        <p14:creationId xmlns:p14="http://schemas.microsoft.com/office/powerpoint/2010/main" val="21656875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AD8C4-EB3F-2461-3D92-F6F705BB92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34AE6A-6E09-A686-B7E5-5CAFDECFBC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E2A32C-3461-5566-F6FD-90026FADA929}"/>
              </a:ext>
            </a:extLst>
          </p:cNvPr>
          <p:cNvSpPr>
            <a:spLocks noGrp="1"/>
          </p:cNvSpPr>
          <p:nvPr>
            <p:ph type="body" idx="1"/>
          </p:nvPr>
        </p:nvSpPr>
        <p:spPr/>
        <p:txBody>
          <a:bodyPr/>
          <a:lstStyle/>
          <a:p>
            <a:r>
              <a:rPr lang="en-US">
                <a:ea typeface="Calibri"/>
                <a:cs typeface="Calibri"/>
              </a:rPr>
              <a:t>Whether you've never used AI or already have experience, this lesson is designed to help you learn practical ways to use AI responsibly in your classroom. </a:t>
            </a:r>
            <a:endParaRPr lang="en-US" dirty="0">
              <a:ea typeface="Calibri"/>
              <a:cs typeface="Calibri"/>
            </a:endParaRPr>
          </a:p>
        </p:txBody>
      </p:sp>
      <p:sp>
        <p:nvSpPr>
          <p:cNvPr id="4" name="Slide Number Placeholder 3">
            <a:extLst>
              <a:ext uri="{FF2B5EF4-FFF2-40B4-BE49-F238E27FC236}">
                <a16:creationId xmlns:a16="http://schemas.microsoft.com/office/drawing/2014/main" id="{6CDF630D-47B2-3457-E1A5-2E0562E3E336}"/>
              </a:ext>
            </a:extLst>
          </p:cNvPr>
          <p:cNvSpPr>
            <a:spLocks noGrp="1"/>
          </p:cNvSpPr>
          <p:nvPr>
            <p:ph type="sldNum" sz="quarter" idx="5"/>
          </p:nvPr>
        </p:nvSpPr>
        <p:spPr/>
        <p:txBody>
          <a:bodyPr/>
          <a:lstStyle/>
          <a:p>
            <a:fld id="{E9E0E377-8416-4A92-9C80-A19D0280DCEC}" type="slidenum">
              <a:t>19</a:t>
            </a:fld>
            <a:endParaRPr lang="en-US"/>
          </a:p>
        </p:txBody>
      </p:sp>
    </p:spTree>
    <p:extLst>
      <p:ext uri="{BB962C8B-B14F-4D97-AF65-F5344CB8AC3E}">
        <p14:creationId xmlns:p14="http://schemas.microsoft.com/office/powerpoint/2010/main" val="24151670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66457-D856-B9C6-4F7E-01B65A2342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29DFE0-8136-FAFD-27C4-CF522748E0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1DEC24-E6CB-EDF1-6FBE-F92CFA6C2514}"/>
              </a:ext>
            </a:extLst>
          </p:cNvPr>
          <p:cNvSpPr>
            <a:spLocks noGrp="1"/>
          </p:cNvSpPr>
          <p:nvPr>
            <p:ph type="body" idx="1"/>
          </p:nvPr>
        </p:nvSpPr>
        <p:spPr/>
        <p:txBody>
          <a:bodyPr/>
          <a:lstStyle/>
          <a:p>
            <a:r>
              <a:rPr lang="en-US">
                <a:ea typeface="Calibri"/>
                <a:cs typeface="Calibri"/>
              </a:rPr>
              <a:t>Throughout this lesson, you'll learn about the benefits and limitations of AI so you can make informed decisions about its use in your classroom. </a:t>
            </a:r>
            <a:endParaRPr lang="en-US" dirty="0">
              <a:ea typeface="Calibri"/>
              <a:cs typeface="Calibri"/>
            </a:endParaRPr>
          </a:p>
        </p:txBody>
      </p:sp>
      <p:sp>
        <p:nvSpPr>
          <p:cNvPr id="4" name="Slide Number Placeholder 3">
            <a:extLst>
              <a:ext uri="{FF2B5EF4-FFF2-40B4-BE49-F238E27FC236}">
                <a16:creationId xmlns:a16="http://schemas.microsoft.com/office/drawing/2014/main" id="{7476869A-D710-CEBF-B506-6692D2E147F2}"/>
              </a:ext>
            </a:extLst>
          </p:cNvPr>
          <p:cNvSpPr>
            <a:spLocks noGrp="1"/>
          </p:cNvSpPr>
          <p:nvPr>
            <p:ph type="sldNum" sz="quarter" idx="5"/>
          </p:nvPr>
        </p:nvSpPr>
        <p:spPr/>
        <p:txBody>
          <a:bodyPr/>
          <a:lstStyle/>
          <a:p>
            <a:fld id="{E9E0E377-8416-4A92-9C80-A19D0280DCEC}" type="slidenum">
              <a:t>20</a:t>
            </a:fld>
            <a:endParaRPr lang="en-US"/>
          </a:p>
        </p:txBody>
      </p:sp>
    </p:spTree>
    <p:extLst>
      <p:ext uri="{BB962C8B-B14F-4D97-AF65-F5344CB8AC3E}">
        <p14:creationId xmlns:p14="http://schemas.microsoft.com/office/powerpoint/2010/main" val="39860731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FA349-F1F8-D610-59FE-E38FDAD241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7419B6-EFC9-8FE7-2F95-145091164C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6E1361-5B32-D98C-BC7D-9BDEC097DB0B}"/>
              </a:ext>
            </a:extLst>
          </p:cNvPr>
          <p:cNvSpPr>
            <a:spLocks noGrp="1"/>
          </p:cNvSpPr>
          <p:nvPr>
            <p:ph type="body" idx="1"/>
          </p:nvPr>
        </p:nvSpPr>
        <p:spPr/>
        <p:txBody>
          <a:bodyPr/>
          <a:lstStyle/>
          <a:p>
            <a:r>
              <a:rPr lang="en-US" dirty="0">
                <a:ea typeface="Calibri"/>
                <a:cs typeface="Calibri"/>
              </a:rPr>
              <a:t>AI can help teachers create lesson ideas, generate quizzes, summarize information, and personalize inst</a:t>
            </a:r>
            <a:r>
              <a:rPr lang="en-US">
                <a:ea typeface="Calibri"/>
                <a:cs typeface="Calibri"/>
              </a:rPr>
              <a:t>ruction. However, teachers should always review AI-generated content before using it with students </a:t>
            </a:r>
            <a:endParaRPr lang="en-US" dirty="0">
              <a:ea typeface="Calibri"/>
              <a:cs typeface="Calibri"/>
            </a:endParaRPr>
          </a:p>
        </p:txBody>
      </p:sp>
      <p:sp>
        <p:nvSpPr>
          <p:cNvPr id="4" name="Slide Number Placeholder 3">
            <a:extLst>
              <a:ext uri="{FF2B5EF4-FFF2-40B4-BE49-F238E27FC236}">
                <a16:creationId xmlns:a16="http://schemas.microsoft.com/office/drawing/2014/main" id="{EB8975C4-F3FF-F2D2-AA1D-0BF70B052BB5}"/>
              </a:ext>
            </a:extLst>
          </p:cNvPr>
          <p:cNvSpPr>
            <a:spLocks noGrp="1"/>
          </p:cNvSpPr>
          <p:nvPr>
            <p:ph type="sldNum" sz="quarter" idx="5"/>
          </p:nvPr>
        </p:nvSpPr>
        <p:spPr/>
        <p:txBody>
          <a:bodyPr/>
          <a:lstStyle/>
          <a:p>
            <a:fld id="{E9E0E377-8416-4A92-9C80-A19D0280DCEC}" type="slidenum">
              <a:t>21</a:t>
            </a:fld>
            <a:endParaRPr lang="en-US"/>
          </a:p>
        </p:txBody>
      </p:sp>
    </p:spTree>
    <p:extLst>
      <p:ext uri="{BB962C8B-B14F-4D97-AF65-F5344CB8AC3E}">
        <p14:creationId xmlns:p14="http://schemas.microsoft.com/office/powerpoint/2010/main" val="28275993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3E959-EB30-BCC9-001D-ED435E9CC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A092D-B1B2-183E-313D-57A1A8178A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41E35D-3CC4-F537-1508-7DD0DAD439B0}"/>
              </a:ext>
            </a:extLst>
          </p:cNvPr>
          <p:cNvSpPr>
            <a:spLocks noGrp="1"/>
          </p:cNvSpPr>
          <p:nvPr>
            <p:ph type="body" idx="1"/>
          </p:nvPr>
        </p:nvSpPr>
        <p:spPr/>
        <p:txBody>
          <a:bodyPr/>
          <a:lstStyle/>
          <a:p>
            <a:r>
              <a:rPr lang="en-US">
                <a:ea typeface="Calibri"/>
                <a:cs typeface="Calibri"/>
              </a:rPr>
              <a:t>Throughout this lesson, you'll learn about the benefits and limitations of AI so you can make informed decisions about its use in your classroom. </a:t>
            </a:r>
            <a:endParaRPr lang="en-US" dirty="0">
              <a:ea typeface="Calibri"/>
              <a:cs typeface="Calibri"/>
            </a:endParaRPr>
          </a:p>
        </p:txBody>
      </p:sp>
      <p:sp>
        <p:nvSpPr>
          <p:cNvPr id="4" name="Slide Number Placeholder 3">
            <a:extLst>
              <a:ext uri="{FF2B5EF4-FFF2-40B4-BE49-F238E27FC236}">
                <a16:creationId xmlns:a16="http://schemas.microsoft.com/office/drawing/2014/main" id="{898883FC-6DAB-0622-77E6-9CAC86B86425}"/>
              </a:ext>
            </a:extLst>
          </p:cNvPr>
          <p:cNvSpPr>
            <a:spLocks noGrp="1"/>
          </p:cNvSpPr>
          <p:nvPr>
            <p:ph type="sldNum" sz="quarter" idx="5"/>
          </p:nvPr>
        </p:nvSpPr>
        <p:spPr/>
        <p:txBody>
          <a:bodyPr/>
          <a:lstStyle/>
          <a:p>
            <a:fld id="{E9E0E377-8416-4A92-9C80-A19D0280DCEC}" type="slidenum">
              <a:t>22</a:t>
            </a:fld>
            <a:endParaRPr lang="en-US"/>
          </a:p>
        </p:txBody>
      </p:sp>
    </p:spTree>
    <p:extLst>
      <p:ext uri="{BB962C8B-B14F-4D97-AF65-F5344CB8AC3E}">
        <p14:creationId xmlns:p14="http://schemas.microsoft.com/office/powerpoint/2010/main" val="29479020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AE40D-7E17-F15E-A732-B307320813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947728-0842-7CA9-0BB1-ECD471C56C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B6BBD3-E96B-202A-6DD5-38F4F26B05B6}"/>
              </a:ext>
            </a:extLst>
          </p:cNvPr>
          <p:cNvSpPr>
            <a:spLocks noGrp="1"/>
          </p:cNvSpPr>
          <p:nvPr>
            <p:ph type="body" idx="1"/>
          </p:nvPr>
        </p:nvSpPr>
        <p:spPr/>
        <p:txBody>
          <a:bodyPr/>
          <a:lstStyle/>
          <a:p>
            <a:r>
              <a:rPr lang="en-US" dirty="0">
                <a:ea typeface="Calibri"/>
                <a:cs typeface="Calibri"/>
              </a:rPr>
              <a:t>Thank you for reflecting on your ideas. In the next phase of this lesson, you'll examine real examples of how teachers use AI </a:t>
            </a:r>
            <a:r>
              <a:rPr lang="en-US">
                <a:ea typeface="Calibri"/>
                <a:cs typeface="Calibri"/>
              </a:rPr>
              <a:t>responsibly to support student learning. </a:t>
            </a:r>
            <a:endParaRPr lang="en-US" dirty="0">
              <a:ea typeface="Calibri"/>
              <a:cs typeface="Calibri"/>
            </a:endParaRPr>
          </a:p>
        </p:txBody>
      </p:sp>
      <p:sp>
        <p:nvSpPr>
          <p:cNvPr id="4" name="Slide Number Placeholder 3">
            <a:extLst>
              <a:ext uri="{FF2B5EF4-FFF2-40B4-BE49-F238E27FC236}">
                <a16:creationId xmlns:a16="http://schemas.microsoft.com/office/drawing/2014/main" id="{FB9E6798-5A30-5EB7-C66A-A608D5917318}"/>
              </a:ext>
            </a:extLst>
          </p:cNvPr>
          <p:cNvSpPr>
            <a:spLocks noGrp="1"/>
          </p:cNvSpPr>
          <p:nvPr>
            <p:ph type="sldNum" sz="quarter" idx="5"/>
          </p:nvPr>
        </p:nvSpPr>
        <p:spPr/>
        <p:txBody>
          <a:bodyPr/>
          <a:lstStyle/>
          <a:p>
            <a:fld id="{E9E0E377-8416-4A92-9C80-A19D0280DCEC}" type="slidenum">
              <a:t>23</a:t>
            </a:fld>
            <a:endParaRPr lang="en-US"/>
          </a:p>
        </p:txBody>
      </p:sp>
    </p:spTree>
    <p:extLst>
      <p:ext uri="{BB962C8B-B14F-4D97-AF65-F5344CB8AC3E}">
        <p14:creationId xmlns:p14="http://schemas.microsoft.com/office/powerpoint/2010/main" val="10440261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6706F-BB28-AA0A-6B10-77F1054B80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4ECE75-A5DD-6E4D-512F-DB22C18F13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C24087-FD34-158F-9D89-42C546D9CAA6}"/>
              </a:ext>
            </a:extLst>
          </p:cNvPr>
          <p:cNvSpPr>
            <a:spLocks noGrp="1"/>
          </p:cNvSpPr>
          <p:nvPr>
            <p:ph type="body" idx="1"/>
          </p:nvPr>
        </p:nvSpPr>
        <p:spPr/>
        <p:txBody>
          <a:bodyPr/>
          <a:lstStyle/>
          <a:p>
            <a:r>
              <a:rPr lang="en-US">
                <a:ea typeface="Calibri"/>
                <a:cs typeface="Calibri"/>
              </a:rPr>
              <a:t>Whether you've never used AI or already have experience, this lesson is designed to help you learn practical ways to use AI responsibly in your classroom. </a:t>
            </a:r>
            <a:endParaRPr lang="en-US" dirty="0">
              <a:ea typeface="Calibri"/>
              <a:cs typeface="Calibri"/>
            </a:endParaRPr>
          </a:p>
        </p:txBody>
      </p:sp>
      <p:sp>
        <p:nvSpPr>
          <p:cNvPr id="4" name="Slide Number Placeholder 3">
            <a:extLst>
              <a:ext uri="{FF2B5EF4-FFF2-40B4-BE49-F238E27FC236}">
                <a16:creationId xmlns:a16="http://schemas.microsoft.com/office/drawing/2014/main" id="{7576536C-5543-1298-F373-E6715896BE61}"/>
              </a:ext>
            </a:extLst>
          </p:cNvPr>
          <p:cNvSpPr>
            <a:spLocks noGrp="1"/>
          </p:cNvSpPr>
          <p:nvPr>
            <p:ph type="sldNum" sz="quarter" idx="5"/>
          </p:nvPr>
        </p:nvSpPr>
        <p:spPr/>
        <p:txBody>
          <a:bodyPr/>
          <a:lstStyle/>
          <a:p>
            <a:fld id="{E9E0E377-8416-4A92-9C80-A19D0280DCEC}" type="slidenum">
              <a:t>24</a:t>
            </a:fld>
            <a:endParaRPr lang="en-US"/>
          </a:p>
        </p:txBody>
      </p:sp>
    </p:spTree>
    <p:extLst>
      <p:ext uri="{BB962C8B-B14F-4D97-AF65-F5344CB8AC3E}">
        <p14:creationId xmlns:p14="http://schemas.microsoft.com/office/powerpoint/2010/main" val="17291896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ADC8D-47B7-FF83-D86D-D0187522EB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4B8000-ECDB-C54D-4B02-72BD722F2C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483BDB-0996-3507-6F2F-2B3156D5DAC0}"/>
              </a:ext>
            </a:extLst>
          </p:cNvPr>
          <p:cNvSpPr>
            <a:spLocks noGrp="1"/>
          </p:cNvSpPr>
          <p:nvPr>
            <p:ph type="body" idx="1"/>
          </p:nvPr>
        </p:nvSpPr>
        <p:spPr/>
        <p:txBody>
          <a:bodyPr/>
          <a:lstStyle/>
          <a:p>
            <a:r>
              <a:rPr lang="en-US" dirty="0">
                <a:ea typeface="Calibri"/>
                <a:cs typeface="Calibri"/>
              </a:rPr>
              <a:t>During this section, we will explore how artificial intelligence works and how it can be used in educational settings. AI tools can support </a:t>
            </a:r>
            <a:r>
              <a:rPr lang="en-US">
                <a:ea typeface="Calibri"/>
                <a:cs typeface="Calibri"/>
              </a:rPr>
              <a:t>teachers by assisting with planning, organization and personalized learning. </a:t>
            </a:r>
            <a:endParaRPr lang="en-US" dirty="0">
              <a:ea typeface="Calibri"/>
              <a:cs typeface="Calibri"/>
            </a:endParaRPr>
          </a:p>
        </p:txBody>
      </p:sp>
      <p:sp>
        <p:nvSpPr>
          <p:cNvPr id="4" name="Slide Number Placeholder 3">
            <a:extLst>
              <a:ext uri="{FF2B5EF4-FFF2-40B4-BE49-F238E27FC236}">
                <a16:creationId xmlns:a16="http://schemas.microsoft.com/office/drawing/2014/main" id="{AF26E65C-CB35-E3DC-77B0-7F3C7E9411F4}"/>
              </a:ext>
            </a:extLst>
          </p:cNvPr>
          <p:cNvSpPr>
            <a:spLocks noGrp="1"/>
          </p:cNvSpPr>
          <p:nvPr>
            <p:ph type="sldNum" sz="quarter" idx="5"/>
          </p:nvPr>
        </p:nvSpPr>
        <p:spPr/>
        <p:txBody>
          <a:bodyPr/>
          <a:lstStyle/>
          <a:p>
            <a:fld id="{E9E0E377-8416-4A92-9C80-A19D0280DCEC}" type="slidenum">
              <a:t>25</a:t>
            </a:fld>
            <a:endParaRPr lang="en-US"/>
          </a:p>
        </p:txBody>
      </p:sp>
    </p:spTree>
    <p:extLst>
      <p:ext uri="{BB962C8B-B14F-4D97-AF65-F5344CB8AC3E}">
        <p14:creationId xmlns:p14="http://schemas.microsoft.com/office/powerpoint/2010/main" val="30727556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2D26E-1EB6-90C9-8279-478BEE0BE3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B4103E-A482-5CF0-977F-F6B99C1F42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F186A1-5D41-5443-24A8-C9B98A4DD5B2}"/>
              </a:ext>
            </a:extLst>
          </p:cNvPr>
          <p:cNvSpPr>
            <a:spLocks noGrp="1"/>
          </p:cNvSpPr>
          <p:nvPr>
            <p:ph type="body" idx="1"/>
          </p:nvPr>
        </p:nvSpPr>
        <p:spPr/>
        <p:txBody>
          <a:bodyPr/>
          <a:lstStyle/>
          <a:p>
            <a:r>
              <a:rPr lang="en-US" dirty="0">
                <a:ea typeface="Calibri"/>
                <a:cs typeface="Calibri"/>
              </a:rPr>
              <a:t>AI tools can help educators create lesson ideas, organize information, generate examples, and support classroom activities. Teachers should use AI as an assistant while cont</a:t>
            </a:r>
            <a:r>
              <a:rPr lang="en-US">
                <a:ea typeface="Calibri"/>
                <a:cs typeface="Calibri"/>
              </a:rPr>
              <a:t>inuing to make professional decisions. </a:t>
            </a:r>
            <a:endParaRPr lang="en-US" dirty="0">
              <a:ea typeface="Calibri"/>
              <a:cs typeface="Calibri"/>
            </a:endParaRPr>
          </a:p>
        </p:txBody>
      </p:sp>
      <p:sp>
        <p:nvSpPr>
          <p:cNvPr id="4" name="Slide Number Placeholder 3">
            <a:extLst>
              <a:ext uri="{FF2B5EF4-FFF2-40B4-BE49-F238E27FC236}">
                <a16:creationId xmlns:a16="http://schemas.microsoft.com/office/drawing/2014/main" id="{4B0BE2FC-14F1-BA19-2617-9348B73D444E}"/>
              </a:ext>
            </a:extLst>
          </p:cNvPr>
          <p:cNvSpPr>
            <a:spLocks noGrp="1"/>
          </p:cNvSpPr>
          <p:nvPr>
            <p:ph type="sldNum" sz="quarter" idx="5"/>
          </p:nvPr>
        </p:nvSpPr>
        <p:spPr/>
        <p:txBody>
          <a:bodyPr/>
          <a:lstStyle/>
          <a:p>
            <a:fld id="{E9E0E377-8416-4A92-9C80-A19D0280DCEC}" type="slidenum">
              <a:t>26</a:t>
            </a:fld>
            <a:endParaRPr lang="en-US"/>
          </a:p>
        </p:txBody>
      </p:sp>
    </p:spTree>
    <p:extLst>
      <p:ext uri="{BB962C8B-B14F-4D97-AF65-F5344CB8AC3E}">
        <p14:creationId xmlns:p14="http://schemas.microsoft.com/office/powerpoint/2010/main" val="40237577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20317-7B26-C0AB-525B-384D8E8612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4F15D4-1E72-81BE-BA47-449AE9AB40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D09372-36FE-4CA7-A32D-5CBFDC1F20E0}"/>
              </a:ext>
            </a:extLst>
          </p:cNvPr>
          <p:cNvSpPr>
            <a:spLocks noGrp="1"/>
          </p:cNvSpPr>
          <p:nvPr>
            <p:ph type="body" idx="1"/>
          </p:nvPr>
        </p:nvSpPr>
        <p:spPr/>
        <p:txBody>
          <a:bodyPr/>
          <a:lstStyle/>
          <a:p>
            <a:r>
              <a:rPr lang="en-US"/>
              <a:t>Interaction </a:t>
            </a:r>
            <a:endParaRPr lang="en-US">
              <a:solidFill>
                <a:srgbClr val="444444"/>
              </a:solidFill>
            </a:endParaRPr>
          </a:p>
          <a:p>
            <a:r>
              <a:rPr lang="en-US"/>
              <a:t>Freeform Drag-and Drap </a:t>
            </a:r>
          </a:p>
        </p:txBody>
      </p:sp>
      <p:sp>
        <p:nvSpPr>
          <p:cNvPr id="4" name="Slide Number Placeholder 3">
            <a:extLst>
              <a:ext uri="{FF2B5EF4-FFF2-40B4-BE49-F238E27FC236}">
                <a16:creationId xmlns:a16="http://schemas.microsoft.com/office/drawing/2014/main" id="{1E03334A-6472-7C5C-D606-B003844C6B60}"/>
              </a:ext>
            </a:extLst>
          </p:cNvPr>
          <p:cNvSpPr>
            <a:spLocks noGrp="1"/>
          </p:cNvSpPr>
          <p:nvPr>
            <p:ph type="sldNum" sz="quarter" idx="5"/>
          </p:nvPr>
        </p:nvSpPr>
        <p:spPr/>
        <p:txBody>
          <a:bodyPr/>
          <a:lstStyle/>
          <a:p>
            <a:fld id="{E9E0E377-8416-4A92-9C80-A19D0280DCEC}" type="slidenum">
              <a:t>27</a:t>
            </a:fld>
            <a:endParaRPr lang="en-US"/>
          </a:p>
        </p:txBody>
      </p:sp>
    </p:spTree>
    <p:extLst>
      <p:ext uri="{BB962C8B-B14F-4D97-AF65-F5344CB8AC3E}">
        <p14:creationId xmlns:p14="http://schemas.microsoft.com/office/powerpoint/2010/main" val="20880191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4644C-0CC5-168F-54FC-7D4C06EF88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579846-C3A3-87D9-0486-08C19A8E35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A9D8E0-B2CA-4364-6C77-E96370345065}"/>
              </a:ext>
            </a:extLst>
          </p:cNvPr>
          <p:cNvSpPr>
            <a:spLocks noGrp="1"/>
          </p:cNvSpPr>
          <p:nvPr>
            <p:ph type="body" idx="1"/>
          </p:nvPr>
        </p:nvSpPr>
        <p:spPr/>
        <p:txBody>
          <a:bodyPr/>
          <a:lstStyle/>
          <a:p>
            <a:r>
              <a:rPr lang="en-US" dirty="0"/>
              <a:t>Great job! AI can help </a:t>
            </a:r>
            <a:r>
              <a:rPr lang="en-US"/>
              <a:t>educator's</a:t>
            </a:r>
            <a:r>
              <a:rPr lang="en-US" dirty="0"/>
              <a:t> complete tasks more efficiently, but teachers remain responsible for relationships, decision-making, and ensuring students receive quality instruction.</a:t>
            </a:r>
          </a:p>
        </p:txBody>
      </p:sp>
      <p:sp>
        <p:nvSpPr>
          <p:cNvPr id="4" name="Slide Number Placeholder 3">
            <a:extLst>
              <a:ext uri="{FF2B5EF4-FFF2-40B4-BE49-F238E27FC236}">
                <a16:creationId xmlns:a16="http://schemas.microsoft.com/office/drawing/2014/main" id="{77CAF7C4-03D4-2D12-98FE-043254224EF2}"/>
              </a:ext>
            </a:extLst>
          </p:cNvPr>
          <p:cNvSpPr>
            <a:spLocks noGrp="1"/>
          </p:cNvSpPr>
          <p:nvPr>
            <p:ph type="sldNum" sz="quarter" idx="5"/>
          </p:nvPr>
        </p:nvSpPr>
        <p:spPr/>
        <p:txBody>
          <a:bodyPr/>
          <a:lstStyle/>
          <a:p>
            <a:fld id="{E9E0E377-8416-4A92-9C80-A19D0280DCEC}" type="slidenum">
              <a:t>28</a:t>
            </a:fld>
            <a:endParaRPr lang="en-US"/>
          </a:p>
        </p:txBody>
      </p:sp>
    </p:spTree>
    <p:extLst>
      <p:ext uri="{BB962C8B-B14F-4D97-AF65-F5344CB8AC3E}">
        <p14:creationId xmlns:p14="http://schemas.microsoft.com/office/powerpoint/2010/main" val="38142365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6CCA2-2D66-47A1-9328-D77E9761A4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45CDE5-15B9-27CE-B59C-317385571A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D090D2-5040-A58C-6611-441338B56089}"/>
              </a:ext>
            </a:extLst>
          </p:cNvPr>
          <p:cNvSpPr>
            <a:spLocks noGrp="1"/>
          </p:cNvSpPr>
          <p:nvPr>
            <p:ph type="body" idx="1"/>
          </p:nvPr>
        </p:nvSpPr>
        <p:spPr/>
        <p:txBody>
          <a:bodyPr/>
          <a:lstStyle/>
          <a:p>
            <a:r>
              <a:rPr lang="en-US"/>
              <a:t>AI can help teachers personalize instruction by providing resources, generating practice opportunities, and helping organize learning materials. When used appropriately, AI can support different student learning needs.</a:t>
            </a:r>
          </a:p>
        </p:txBody>
      </p:sp>
      <p:sp>
        <p:nvSpPr>
          <p:cNvPr id="4" name="Slide Number Placeholder 3">
            <a:extLst>
              <a:ext uri="{FF2B5EF4-FFF2-40B4-BE49-F238E27FC236}">
                <a16:creationId xmlns:a16="http://schemas.microsoft.com/office/drawing/2014/main" id="{C4A86BDB-95B1-6AEE-AA21-CE4B66A19255}"/>
              </a:ext>
            </a:extLst>
          </p:cNvPr>
          <p:cNvSpPr>
            <a:spLocks noGrp="1"/>
          </p:cNvSpPr>
          <p:nvPr>
            <p:ph type="sldNum" sz="quarter" idx="5"/>
          </p:nvPr>
        </p:nvSpPr>
        <p:spPr/>
        <p:txBody>
          <a:bodyPr/>
          <a:lstStyle/>
          <a:p>
            <a:fld id="{E9E0E377-8416-4A92-9C80-A19D0280DCEC}" type="slidenum">
              <a:t>29</a:t>
            </a:fld>
            <a:endParaRPr lang="en-US"/>
          </a:p>
        </p:txBody>
      </p:sp>
    </p:spTree>
    <p:extLst>
      <p:ext uri="{BB962C8B-B14F-4D97-AF65-F5344CB8AC3E}">
        <p14:creationId xmlns:p14="http://schemas.microsoft.com/office/powerpoint/2010/main" val="23115472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CD302-BCF5-D111-7FD5-B8955B47A4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330D8E-1B48-6528-7EB1-58B9BA9E0C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41FDB4-42D9-E60B-2E09-9555E99BAC54}"/>
              </a:ext>
            </a:extLst>
          </p:cNvPr>
          <p:cNvSpPr>
            <a:spLocks noGrp="1"/>
          </p:cNvSpPr>
          <p:nvPr>
            <p:ph type="body" idx="1"/>
          </p:nvPr>
        </p:nvSpPr>
        <p:spPr/>
        <p:txBody>
          <a:bodyPr/>
          <a:lstStyle/>
          <a:p>
            <a:r>
              <a:rPr lang="en-US"/>
              <a:t>Examples of AI use include generating lesson ideas, creating review questions, summarizing information, and brainstorming activities. Teachers should always review AI-created materials before sharing them with students.</a:t>
            </a:r>
          </a:p>
          <a:p>
            <a:br>
              <a:rPr lang="en-US" dirty="0"/>
            </a:br>
            <a:endParaRPr lang="en-US" dirty="0"/>
          </a:p>
          <a:p>
            <a:endParaRPr lang="en-US" dirty="0">
              <a:ea typeface="Calibri"/>
              <a:cs typeface="Calibri"/>
            </a:endParaRPr>
          </a:p>
        </p:txBody>
      </p:sp>
      <p:sp>
        <p:nvSpPr>
          <p:cNvPr id="4" name="Slide Number Placeholder 3">
            <a:extLst>
              <a:ext uri="{FF2B5EF4-FFF2-40B4-BE49-F238E27FC236}">
                <a16:creationId xmlns:a16="http://schemas.microsoft.com/office/drawing/2014/main" id="{BD1F9CB9-BE07-9F52-03BB-7A6F42D43B0E}"/>
              </a:ext>
            </a:extLst>
          </p:cNvPr>
          <p:cNvSpPr>
            <a:spLocks noGrp="1"/>
          </p:cNvSpPr>
          <p:nvPr>
            <p:ph type="sldNum" sz="quarter" idx="5"/>
          </p:nvPr>
        </p:nvSpPr>
        <p:spPr/>
        <p:txBody>
          <a:bodyPr/>
          <a:lstStyle/>
          <a:p>
            <a:fld id="{E9E0E377-8416-4A92-9C80-A19D0280DCEC}" type="slidenum">
              <a:t>30</a:t>
            </a:fld>
            <a:endParaRPr lang="en-US"/>
          </a:p>
        </p:txBody>
      </p:sp>
    </p:spTree>
    <p:extLst>
      <p:ext uri="{BB962C8B-B14F-4D97-AF65-F5344CB8AC3E}">
        <p14:creationId xmlns:p14="http://schemas.microsoft.com/office/powerpoint/2010/main" val="28156787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FBF5A-6FBE-7C3E-A189-E0EBDE62D5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7FDD76-12F2-AA6C-D2D9-CB89FE21A8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1B7DB0-2C80-39CC-2BE6-1CADBE76685D}"/>
              </a:ext>
            </a:extLst>
          </p:cNvPr>
          <p:cNvSpPr>
            <a:spLocks noGrp="1"/>
          </p:cNvSpPr>
          <p:nvPr>
            <p:ph type="body" idx="1"/>
          </p:nvPr>
        </p:nvSpPr>
        <p:spPr/>
        <p:txBody>
          <a:bodyPr/>
          <a:lstStyle/>
          <a:p>
            <a:r>
              <a:rPr lang="en-US"/>
              <a:t>Interaction Type</a:t>
            </a:r>
          </a:p>
          <a:p>
            <a:r>
              <a:rPr lang="en-US"/>
              <a:t>Freeform Pick One</a:t>
            </a:r>
          </a:p>
          <a:p>
            <a:endParaRPr lang="en-US" dirty="0">
              <a:ea typeface="Calibri"/>
              <a:cs typeface="Calibri"/>
            </a:endParaRPr>
          </a:p>
          <a:p>
            <a:br>
              <a:rPr lang="en-US" dirty="0"/>
            </a:br>
            <a:endParaRPr lang="en-US" dirty="0"/>
          </a:p>
          <a:p>
            <a:endParaRPr lang="en-US" dirty="0">
              <a:ea typeface="Calibri"/>
              <a:cs typeface="Calibri"/>
            </a:endParaRPr>
          </a:p>
        </p:txBody>
      </p:sp>
      <p:sp>
        <p:nvSpPr>
          <p:cNvPr id="4" name="Slide Number Placeholder 3">
            <a:extLst>
              <a:ext uri="{FF2B5EF4-FFF2-40B4-BE49-F238E27FC236}">
                <a16:creationId xmlns:a16="http://schemas.microsoft.com/office/drawing/2014/main" id="{676A5212-E1EE-70E4-9B7D-DF93ED2C7D47}"/>
              </a:ext>
            </a:extLst>
          </p:cNvPr>
          <p:cNvSpPr>
            <a:spLocks noGrp="1"/>
          </p:cNvSpPr>
          <p:nvPr>
            <p:ph type="sldNum" sz="quarter" idx="5"/>
          </p:nvPr>
        </p:nvSpPr>
        <p:spPr/>
        <p:txBody>
          <a:bodyPr/>
          <a:lstStyle/>
          <a:p>
            <a:fld id="{E9E0E377-8416-4A92-9C80-A19D0280DCEC}" type="slidenum">
              <a:t>31</a:t>
            </a:fld>
            <a:endParaRPr lang="en-US"/>
          </a:p>
        </p:txBody>
      </p:sp>
    </p:spTree>
    <p:extLst>
      <p:ext uri="{BB962C8B-B14F-4D97-AF65-F5344CB8AC3E}">
        <p14:creationId xmlns:p14="http://schemas.microsoft.com/office/powerpoint/2010/main" val="17967201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CD59D-F0CB-93A6-2034-583639AAA5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C9AE5B-67B2-76A5-2F99-5AC6B5662C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E19B1A-0B16-3EA4-F5FD-C180CBE8583E}"/>
              </a:ext>
            </a:extLst>
          </p:cNvPr>
          <p:cNvSpPr>
            <a:spLocks noGrp="1"/>
          </p:cNvSpPr>
          <p:nvPr>
            <p:ph type="body" idx="1"/>
          </p:nvPr>
        </p:nvSpPr>
        <p:spPr/>
        <p:txBody>
          <a:bodyPr/>
          <a:lstStyle/>
          <a:p>
            <a:r>
              <a:rPr lang="en-US"/>
              <a:t>The best choice is reviewing and editing AI materials before classroom use. Responsible AI use requires teachers to check information, protect students, and make professional decisions.</a:t>
            </a:r>
          </a:p>
          <a:p>
            <a:br>
              <a:rPr lang="en-US" dirty="0"/>
            </a:br>
            <a:endParaRPr lang="en-US" dirty="0"/>
          </a:p>
          <a:p>
            <a:endParaRPr lang="en-US" dirty="0">
              <a:ea typeface="Calibri"/>
              <a:cs typeface="Calibri"/>
            </a:endParaRPr>
          </a:p>
        </p:txBody>
      </p:sp>
      <p:sp>
        <p:nvSpPr>
          <p:cNvPr id="4" name="Slide Number Placeholder 3">
            <a:extLst>
              <a:ext uri="{FF2B5EF4-FFF2-40B4-BE49-F238E27FC236}">
                <a16:creationId xmlns:a16="http://schemas.microsoft.com/office/drawing/2014/main" id="{55A87F5A-1A29-475E-3AC9-90B0D2E98698}"/>
              </a:ext>
            </a:extLst>
          </p:cNvPr>
          <p:cNvSpPr>
            <a:spLocks noGrp="1"/>
          </p:cNvSpPr>
          <p:nvPr>
            <p:ph type="sldNum" sz="quarter" idx="5"/>
          </p:nvPr>
        </p:nvSpPr>
        <p:spPr/>
        <p:txBody>
          <a:bodyPr/>
          <a:lstStyle/>
          <a:p>
            <a:fld id="{E9E0E377-8416-4A92-9C80-A19D0280DCEC}" type="slidenum">
              <a:t>32</a:t>
            </a:fld>
            <a:endParaRPr lang="en-US"/>
          </a:p>
        </p:txBody>
      </p:sp>
    </p:spTree>
    <p:extLst>
      <p:ext uri="{BB962C8B-B14F-4D97-AF65-F5344CB8AC3E}">
        <p14:creationId xmlns:p14="http://schemas.microsoft.com/office/powerpoint/2010/main" val="41460085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2811E-18CC-4243-4024-CD7AFB01B5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BACBDA-10EB-ABD2-9C11-288D4CBEE7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308128-8000-638B-8522-A469003FCA3C}"/>
              </a:ext>
            </a:extLst>
          </p:cNvPr>
          <p:cNvSpPr>
            <a:spLocks noGrp="1"/>
          </p:cNvSpPr>
          <p:nvPr>
            <p:ph type="body" idx="1"/>
          </p:nvPr>
        </p:nvSpPr>
        <p:spPr/>
        <p:txBody>
          <a:bodyPr/>
          <a:lstStyle/>
          <a:p>
            <a:r>
              <a:rPr lang="en-US"/>
              <a:t>Although AI has many benefits, it can make mistakes or provide inaccurate information. Educators must evaluate AI responses carefully before using them in learning environments.</a:t>
            </a:r>
          </a:p>
          <a:p>
            <a:endParaRPr lang="en-US" dirty="0">
              <a:ea typeface="Calibri"/>
              <a:cs typeface="Calibri"/>
            </a:endParaRPr>
          </a:p>
          <a:p>
            <a:br>
              <a:rPr lang="en-US" dirty="0"/>
            </a:br>
            <a:endParaRPr lang="en-US" dirty="0"/>
          </a:p>
          <a:p>
            <a:endParaRPr lang="en-US" dirty="0">
              <a:ea typeface="Calibri"/>
              <a:cs typeface="Calibri"/>
            </a:endParaRPr>
          </a:p>
        </p:txBody>
      </p:sp>
      <p:sp>
        <p:nvSpPr>
          <p:cNvPr id="4" name="Slide Number Placeholder 3">
            <a:extLst>
              <a:ext uri="{FF2B5EF4-FFF2-40B4-BE49-F238E27FC236}">
                <a16:creationId xmlns:a16="http://schemas.microsoft.com/office/drawing/2014/main" id="{5D321850-10B5-058D-6576-C6F8DF53FC47}"/>
              </a:ext>
            </a:extLst>
          </p:cNvPr>
          <p:cNvSpPr>
            <a:spLocks noGrp="1"/>
          </p:cNvSpPr>
          <p:nvPr>
            <p:ph type="sldNum" sz="quarter" idx="5"/>
          </p:nvPr>
        </p:nvSpPr>
        <p:spPr/>
        <p:txBody>
          <a:bodyPr/>
          <a:lstStyle/>
          <a:p>
            <a:fld id="{E9E0E377-8416-4A92-9C80-A19D0280DCEC}" type="slidenum">
              <a:t>33</a:t>
            </a:fld>
            <a:endParaRPr lang="en-US"/>
          </a:p>
        </p:txBody>
      </p:sp>
    </p:spTree>
    <p:extLst>
      <p:ext uri="{BB962C8B-B14F-4D97-AF65-F5344CB8AC3E}">
        <p14:creationId xmlns:p14="http://schemas.microsoft.com/office/powerpoint/2010/main" val="19234729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7F3E5-2A71-96F5-6098-37A7844C66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749FBF-6022-DEC9-E333-F0F2A35D8C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6C1604-B5B0-6F0F-4814-C59B5E96349C}"/>
              </a:ext>
            </a:extLst>
          </p:cNvPr>
          <p:cNvSpPr>
            <a:spLocks noGrp="1"/>
          </p:cNvSpPr>
          <p:nvPr>
            <p:ph type="body" idx="1"/>
          </p:nvPr>
        </p:nvSpPr>
        <p:spPr/>
        <p:txBody>
          <a:bodyPr/>
          <a:lstStyle/>
          <a:p>
            <a:r>
              <a:rPr lang="en-US"/>
              <a:t>Ethical AI use includes protecting student information, reviewing generated content, and understanding the limitations of technology. Responsible decisions help create safe learning experiences.</a:t>
            </a:r>
            <a:br>
              <a:rPr lang="en-US" dirty="0">
                <a:cs typeface="+mn-lt"/>
              </a:rPr>
            </a:br>
            <a:endParaRPr lang="en-US">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FF7965B9-FD65-5702-81BF-B64781A4C8AD}"/>
              </a:ext>
            </a:extLst>
          </p:cNvPr>
          <p:cNvSpPr>
            <a:spLocks noGrp="1"/>
          </p:cNvSpPr>
          <p:nvPr>
            <p:ph type="sldNum" sz="quarter" idx="5"/>
          </p:nvPr>
        </p:nvSpPr>
        <p:spPr/>
        <p:txBody>
          <a:bodyPr/>
          <a:lstStyle/>
          <a:p>
            <a:fld id="{E9E0E377-8416-4A92-9C80-A19D0280DCEC}" type="slidenum">
              <a:t>34</a:t>
            </a:fld>
            <a:endParaRPr lang="en-US"/>
          </a:p>
        </p:txBody>
      </p:sp>
    </p:spTree>
    <p:extLst>
      <p:ext uri="{BB962C8B-B14F-4D97-AF65-F5344CB8AC3E}">
        <p14:creationId xmlns:p14="http://schemas.microsoft.com/office/powerpoint/2010/main" val="22513940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9D1E6-93B7-33D2-FD57-7A88F921E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CAAD60-1B18-8E00-DF99-61EBFDE3E2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998F4E-4CFE-3DA7-11CB-F50CD1E3B92D}"/>
              </a:ext>
            </a:extLst>
          </p:cNvPr>
          <p:cNvSpPr>
            <a:spLocks noGrp="1"/>
          </p:cNvSpPr>
          <p:nvPr>
            <p:ph type="body" idx="1"/>
          </p:nvPr>
        </p:nvSpPr>
        <p:spPr/>
        <p:txBody>
          <a:bodyPr/>
          <a:lstStyle/>
          <a:p>
            <a:r>
              <a:rPr lang="en-US"/>
              <a:t>Interaction Type</a:t>
            </a:r>
          </a:p>
          <a:p>
            <a:r>
              <a:rPr lang="en-US"/>
              <a:t>Text Entry</a:t>
            </a:r>
          </a:p>
          <a:p>
            <a:br>
              <a:rPr lang="en-US" dirty="0">
                <a:cs typeface="+mn-lt"/>
              </a:rPr>
            </a:br>
            <a:endParaRPr lang="en-US">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8509AD68-84E0-1EA3-7AE7-37B9EEA8AE48}"/>
              </a:ext>
            </a:extLst>
          </p:cNvPr>
          <p:cNvSpPr>
            <a:spLocks noGrp="1"/>
          </p:cNvSpPr>
          <p:nvPr>
            <p:ph type="sldNum" sz="quarter" idx="5"/>
          </p:nvPr>
        </p:nvSpPr>
        <p:spPr/>
        <p:txBody>
          <a:bodyPr/>
          <a:lstStyle/>
          <a:p>
            <a:fld id="{E9E0E377-8416-4A92-9C80-A19D0280DCEC}" type="slidenum">
              <a:t>35</a:t>
            </a:fld>
            <a:endParaRPr lang="en-US"/>
          </a:p>
        </p:txBody>
      </p:sp>
    </p:spTree>
    <p:extLst>
      <p:ext uri="{BB962C8B-B14F-4D97-AF65-F5344CB8AC3E}">
        <p14:creationId xmlns:p14="http://schemas.microsoft.com/office/powerpoint/2010/main" val="26180887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79B7A-7DA9-6ACD-C1B1-CA830A1A61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BB083C-F3A1-6496-908B-A8D438BAB3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A199CA-544E-6DCA-2BE1-BC0F1967E0C5}"/>
              </a:ext>
            </a:extLst>
          </p:cNvPr>
          <p:cNvSpPr>
            <a:spLocks noGrp="1"/>
          </p:cNvSpPr>
          <p:nvPr>
            <p:ph type="body" idx="1"/>
          </p:nvPr>
        </p:nvSpPr>
        <p:spPr/>
        <p:txBody>
          <a:bodyPr/>
          <a:lstStyle/>
          <a:p>
            <a:r>
              <a:rPr lang="en-US"/>
              <a:t>Thank you for reflecting on your own classroom. AI is most effective when teachers combine technology tools with their professional knowledge and understanding of students.</a:t>
            </a:r>
          </a:p>
          <a:p>
            <a:br>
              <a:rPr lang="en-US" dirty="0">
                <a:cs typeface="+mn-lt"/>
              </a:rPr>
            </a:br>
            <a:endParaRPr lang="en-US">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1CC77062-AD78-0AC1-BF5A-4B2632103B24}"/>
              </a:ext>
            </a:extLst>
          </p:cNvPr>
          <p:cNvSpPr>
            <a:spLocks noGrp="1"/>
          </p:cNvSpPr>
          <p:nvPr>
            <p:ph type="sldNum" sz="quarter" idx="5"/>
          </p:nvPr>
        </p:nvSpPr>
        <p:spPr/>
        <p:txBody>
          <a:bodyPr/>
          <a:lstStyle/>
          <a:p>
            <a:fld id="{E9E0E377-8416-4A92-9C80-A19D0280DCEC}" type="slidenum">
              <a:t>36</a:t>
            </a:fld>
            <a:endParaRPr lang="en-US"/>
          </a:p>
        </p:txBody>
      </p:sp>
    </p:spTree>
    <p:extLst>
      <p:ext uri="{BB962C8B-B14F-4D97-AF65-F5344CB8AC3E}">
        <p14:creationId xmlns:p14="http://schemas.microsoft.com/office/powerpoint/2010/main" val="30510433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620B5-D491-10F1-2B0D-98282719B5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73BC7A-DEFA-D0B8-8193-0FD50F137C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69A1E9-006C-1E83-EDC5-21689DF1C22D}"/>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83789B90-E412-02E2-1DB5-A23658728784}"/>
              </a:ext>
            </a:extLst>
          </p:cNvPr>
          <p:cNvSpPr>
            <a:spLocks noGrp="1"/>
          </p:cNvSpPr>
          <p:nvPr>
            <p:ph type="sldNum" sz="quarter" idx="5"/>
          </p:nvPr>
        </p:nvSpPr>
        <p:spPr/>
        <p:txBody>
          <a:bodyPr/>
          <a:lstStyle/>
          <a:p>
            <a:fld id="{E9E0E377-8416-4A92-9C80-A19D0280DCEC}" type="slidenum">
              <a:t>37</a:t>
            </a:fld>
            <a:endParaRPr lang="en-US"/>
          </a:p>
        </p:txBody>
      </p:sp>
    </p:spTree>
    <p:extLst>
      <p:ext uri="{BB962C8B-B14F-4D97-AF65-F5344CB8AC3E}">
        <p14:creationId xmlns:p14="http://schemas.microsoft.com/office/powerpoint/2010/main" val="23420770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721A5-72A8-8E91-6128-3520F1C029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49B3FC-63E4-098F-D1E8-9F4FF39281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09E987-1009-3190-AB94-18A6BAF82236}"/>
              </a:ext>
            </a:extLst>
          </p:cNvPr>
          <p:cNvSpPr>
            <a:spLocks noGrp="1"/>
          </p:cNvSpPr>
          <p:nvPr>
            <p:ph type="body" idx="1"/>
          </p:nvPr>
        </p:nvSpPr>
        <p:spPr/>
        <p:txBody>
          <a:bodyPr/>
          <a:lstStyle/>
          <a:p>
            <a:r>
              <a:rPr lang="en-US"/>
              <a:t>Meet Mrs. Lopez, a teacher who wants to use AI to create a science lesson. As she explores AI tools, she must decide how to use technology responsibly while supporting her students.</a:t>
            </a:r>
          </a:p>
          <a:p>
            <a:br>
              <a:rPr lang="en-US" dirty="0">
                <a:cs typeface="+mn-lt"/>
              </a:rPr>
            </a:br>
            <a:endParaRPr lang="en-US">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89169E99-6064-59DA-2073-69D6148A0F0E}"/>
              </a:ext>
            </a:extLst>
          </p:cNvPr>
          <p:cNvSpPr>
            <a:spLocks noGrp="1"/>
          </p:cNvSpPr>
          <p:nvPr>
            <p:ph type="sldNum" sz="quarter" idx="5"/>
          </p:nvPr>
        </p:nvSpPr>
        <p:spPr/>
        <p:txBody>
          <a:bodyPr/>
          <a:lstStyle/>
          <a:p>
            <a:fld id="{E9E0E377-8416-4A92-9C80-A19D0280DCEC}" type="slidenum">
              <a:t>38</a:t>
            </a:fld>
            <a:endParaRPr lang="en-US"/>
          </a:p>
        </p:txBody>
      </p:sp>
    </p:spTree>
    <p:extLst>
      <p:ext uri="{BB962C8B-B14F-4D97-AF65-F5344CB8AC3E}">
        <p14:creationId xmlns:p14="http://schemas.microsoft.com/office/powerpoint/2010/main" val="6978912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D7D63-579F-9BF4-AA5B-7F66CC4B2C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EB2244-2892-6347-62DB-35E2F04D11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229B62-D0C3-86F3-1A98-81577E45E8CE}"/>
              </a:ext>
            </a:extLst>
          </p:cNvPr>
          <p:cNvSpPr>
            <a:spLocks noGrp="1"/>
          </p:cNvSpPr>
          <p:nvPr>
            <p:ph type="body" idx="1"/>
          </p:nvPr>
        </p:nvSpPr>
        <p:spPr/>
        <p:txBody>
          <a:bodyPr/>
          <a:lstStyle/>
          <a:p>
            <a:r>
              <a:rPr lang="en-US"/>
              <a:t>Throughout this scenario, Mrs. Lopez, Alex, and Principal Davis will discuss different choices related to artificial intelligence. Their decisions will demonstrate responsible AI practices.</a:t>
            </a:r>
          </a:p>
          <a:p>
            <a:endParaRPr lang="en-US" dirty="0">
              <a:ea typeface="Calibri"/>
              <a:cs typeface="Calibri"/>
            </a:endParaRPr>
          </a:p>
          <a:p>
            <a:br>
              <a:rPr lang="en-US" dirty="0">
                <a:cs typeface="+mn-lt"/>
              </a:rPr>
            </a:br>
            <a:endParaRPr lang="en-US">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B5762C0D-A525-3D21-0295-A1077B700D42}"/>
              </a:ext>
            </a:extLst>
          </p:cNvPr>
          <p:cNvSpPr>
            <a:spLocks noGrp="1"/>
          </p:cNvSpPr>
          <p:nvPr>
            <p:ph type="sldNum" sz="quarter" idx="5"/>
          </p:nvPr>
        </p:nvSpPr>
        <p:spPr/>
        <p:txBody>
          <a:bodyPr/>
          <a:lstStyle/>
          <a:p>
            <a:fld id="{E9E0E377-8416-4A92-9C80-A19D0280DCEC}" type="slidenum">
              <a:t>39</a:t>
            </a:fld>
            <a:endParaRPr lang="en-US"/>
          </a:p>
        </p:txBody>
      </p:sp>
    </p:spTree>
    <p:extLst>
      <p:ext uri="{BB962C8B-B14F-4D97-AF65-F5344CB8AC3E}">
        <p14:creationId xmlns:p14="http://schemas.microsoft.com/office/powerpoint/2010/main" val="254366420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91443-04D0-5823-0779-85D3A8F552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6DFEB7-24F5-60EE-608D-DFF272B4A7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EB120A-BFF9-C275-3CF7-6B0D02F07641}"/>
              </a:ext>
            </a:extLst>
          </p:cNvPr>
          <p:cNvSpPr>
            <a:spLocks noGrp="1"/>
          </p:cNvSpPr>
          <p:nvPr>
            <p:ph type="body" idx="1"/>
          </p:nvPr>
        </p:nvSpPr>
        <p:spPr/>
        <p:txBody>
          <a:bodyPr/>
          <a:lstStyle/>
          <a:p>
            <a:r>
              <a:rPr lang="en-US"/>
              <a:t>Mrs. Lopez discovers that AI can save time, but she also realizes teachers must carefully review AI-generated information before using it.</a:t>
            </a:r>
          </a:p>
          <a:p>
            <a:br>
              <a:rPr lang="en-US" dirty="0">
                <a:cs typeface="+mn-lt"/>
              </a:rPr>
            </a:br>
            <a:endParaRPr lang="en-US">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8C56EF37-FD69-3D5A-A713-B782AF148793}"/>
              </a:ext>
            </a:extLst>
          </p:cNvPr>
          <p:cNvSpPr>
            <a:spLocks noGrp="1"/>
          </p:cNvSpPr>
          <p:nvPr>
            <p:ph type="sldNum" sz="quarter" idx="5"/>
          </p:nvPr>
        </p:nvSpPr>
        <p:spPr/>
        <p:txBody>
          <a:bodyPr/>
          <a:lstStyle/>
          <a:p>
            <a:fld id="{E9E0E377-8416-4A92-9C80-A19D0280DCEC}" type="slidenum">
              <a:t>40</a:t>
            </a:fld>
            <a:endParaRPr lang="en-US"/>
          </a:p>
        </p:txBody>
      </p:sp>
    </p:spTree>
    <p:extLst>
      <p:ext uri="{BB962C8B-B14F-4D97-AF65-F5344CB8AC3E}">
        <p14:creationId xmlns:p14="http://schemas.microsoft.com/office/powerpoint/2010/main" val="18285950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0F542-4BA4-9BA2-2588-88E79225A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12A40B-5D3D-2951-2478-16247EA93F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610699-64DD-BD66-2508-7EE495692821}"/>
              </a:ext>
            </a:extLst>
          </p:cNvPr>
          <p:cNvSpPr>
            <a:spLocks noGrp="1"/>
          </p:cNvSpPr>
          <p:nvPr>
            <p:ph type="body" idx="1"/>
          </p:nvPr>
        </p:nvSpPr>
        <p:spPr/>
        <p:txBody>
          <a:bodyPr/>
          <a:lstStyle/>
          <a:p>
            <a:r>
              <a:rPr lang="en-US"/>
              <a:t>Select each character to learn about different perspectives on responsible AI use. Each character provides information that can help Mrs. Lopez make an informed decision.</a:t>
            </a:r>
          </a:p>
          <a:p>
            <a:endParaRPr lang="en-US" dirty="0">
              <a:ea typeface="Calibri"/>
              <a:cs typeface="Calibri"/>
            </a:endParaRPr>
          </a:p>
          <a:p>
            <a:br>
              <a:rPr lang="en-US" dirty="0">
                <a:cs typeface="+mn-lt"/>
              </a:rPr>
            </a:br>
            <a:endParaRPr lang="en-US">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88A5F96D-5AA7-94C5-DF2D-BB07A337E330}"/>
              </a:ext>
            </a:extLst>
          </p:cNvPr>
          <p:cNvSpPr>
            <a:spLocks noGrp="1"/>
          </p:cNvSpPr>
          <p:nvPr>
            <p:ph type="sldNum" sz="quarter" idx="5"/>
          </p:nvPr>
        </p:nvSpPr>
        <p:spPr/>
        <p:txBody>
          <a:bodyPr/>
          <a:lstStyle/>
          <a:p>
            <a:fld id="{E9E0E377-8416-4A92-9C80-A19D0280DCEC}" type="slidenum">
              <a:t>41</a:t>
            </a:fld>
            <a:endParaRPr lang="en-US"/>
          </a:p>
        </p:txBody>
      </p:sp>
    </p:spTree>
    <p:extLst>
      <p:ext uri="{BB962C8B-B14F-4D97-AF65-F5344CB8AC3E}">
        <p14:creationId xmlns:p14="http://schemas.microsoft.com/office/powerpoint/2010/main" val="872905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DD302-EC79-B884-E4A7-E0D84A1F8F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803FE5-2243-2B41-B6FF-C8F3A89E41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28FFDC-79AD-A8F1-564F-13114CE8EFA5}"/>
              </a:ext>
            </a:extLst>
          </p:cNvPr>
          <p:cNvSpPr>
            <a:spLocks noGrp="1"/>
          </p:cNvSpPr>
          <p:nvPr>
            <p:ph type="body" idx="1"/>
          </p:nvPr>
        </p:nvSpPr>
        <p:spPr/>
        <p:txBody>
          <a:bodyPr/>
          <a:lstStyle/>
          <a:p>
            <a:endParaRPr lang="en-US" dirty="0">
              <a:ea typeface="Calibri"/>
              <a:cs typeface="Calibri"/>
            </a:endParaRPr>
          </a:p>
          <a:p>
            <a:endParaRPr lang="en-US" dirty="0"/>
          </a:p>
          <a:p>
            <a:endParaRPr lang="en-US" dirty="0"/>
          </a:p>
          <a:p>
            <a:r>
              <a:rPr lang="en-US"/>
              <a:t>Interaction</a:t>
            </a:r>
          </a:p>
          <a:p>
            <a:r>
              <a:rPr lang="en-US"/>
              <a:t>Triggers + Layers + State Changes</a:t>
            </a:r>
          </a:p>
          <a:p>
            <a:r>
              <a:rPr lang="en-US"/>
              <a:t>Character States:</a:t>
            </a:r>
          </a:p>
          <a:p>
            <a:r>
              <a:rPr lang="en-US"/>
              <a:t>Correct → Happy</a:t>
            </a:r>
          </a:p>
          <a:p>
            <a:r>
              <a:rPr lang="en-US"/>
              <a:t>Incorrect → Concerned</a:t>
            </a:r>
          </a:p>
          <a:p>
            <a:endParaRPr lang="en-US" dirty="0">
              <a:ea typeface="Calibri"/>
              <a:cs typeface="Calibri"/>
            </a:endParaRPr>
          </a:p>
          <a:p>
            <a:r>
              <a:rPr lang="en-US"/>
              <a:t>Mrs. Lopez must decide how to use AI responsibly. Choose the action that best supports students while using technology appropriately.</a:t>
            </a:r>
            <a:br>
              <a:rPr lang="en-US" dirty="0">
                <a:cs typeface="+mn-lt"/>
              </a:rPr>
            </a:br>
            <a:endParaRPr lang="en-US">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77A597DB-AE3B-5272-76E6-EB9536ABAAC0}"/>
              </a:ext>
            </a:extLst>
          </p:cNvPr>
          <p:cNvSpPr>
            <a:spLocks noGrp="1"/>
          </p:cNvSpPr>
          <p:nvPr>
            <p:ph type="sldNum" sz="quarter" idx="5"/>
          </p:nvPr>
        </p:nvSpPr>
        <p:spPr/>
        <p:txBody>
          <a:bodyPr/>
          <a:lstStyle/>
          <a:p>
            <a:fld id="{E9E0E377-8416-4A92-9C80-A19D0280DCEC}" type="slidenum">
              <a:t>42</a:t>
            </a:fld>
            <a:endParaRPr lang="en-US"/>
          </a:p>
        </p:txBody>
      </p:sp>
    </p:spTree>
    <p:extLst>
      <p:ext uri="{BB962C8B-B14F-4D97-AF65-F5344CB8AC3E}">
        <p14:creationId xmlns:p14="http://schemas.microsoft.com/office/powerpoint/2010/main" val="23975753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E28EA-44D1-9BEC-6A9F-EEC854436E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40801C-0855-50FE-B89F-0114E9A8B7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369468-4FCB-0197-BD4F-D2F662F53E68}"/>
              </a:ext>
            </a:extLst>
          </p:cNvPr>
          <p:cNvSpPr>
            <a:spLocks noGrp="1"/>
          </p:cNvSpPr>
          <p:nvPr>
            <p:ph type="body" idx="1"/>
          </p:nvPr>
        </p:nvSpPr>
        <p:spPr/>
        <p:txBody>
          <a:bodyPr/>
          <a:lstStyle/>
          <a:p>
            <a:r>
              <a:rPr lang="en-US"/>
              <a:t>The best choice is to review and edit AI-generated materials before using them. AI can provide support, but teachers are responsible for ensuring lessons are accurate and meaningful.</a:t>
            </a:r>
          </a:p>
          <a:p>
            <a:endParaRPr lang="en-US" dirty="0">
              <a:ea typeface="Calibri"/>
              <a:cs typeface="Calibri"/>
            </a:endParaRPr>
          </a:p>
          <a:p>
            <a:br>
              <a:rPr lang="en-US" dirty="0">
                <a:cs typeface="+mn-lt"/>
              </a:rPr>
            </a:br>
            <a:endParaRPr lang="en-US">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93851FE1-69AC-BAA6-EFA9-C52B4FB7BD27}"/>
              </a:ext>
            </a:extLst>
          </p:cNvPr>
          <p:cNvSpPr>
            <a:spLocks noGrp="1"/>
          </p:cNvSpPr>
          <p:nvPr>
            <p:ph type="sldNum" sz="quarter" idx="5"/>
          </p:nvPr>
        </p:nvSpPr>
        <p:spPr/>
        <p:txBody>
          <a:bodyPr/>
          <a:lstStyle/>
          <a:p>
            <a:fld id="{E9E0E377-8416-4A92-9C80-A19D0280DCEC}" type="slidenum">
              <a:t>43</a:t>
            </a:fld>
            <a:endParaRPr lang="en-US"/>
          </a:p>
        </p:txBody>
      </p:sp>
    </p:spTree>
    <p:extLst>
      <p:ext uri="{BB962C8B-B14F-4D97-AF65-F5344CB8AC3E}">
        <p14:creationId xmlns:p14="http://schemas.microsoft.com/office/powerpoint/2010/main" val="41535664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A83F1-F323-2F40-3B9D-6DD109B527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C9F295-29D1-9CD2-82DF-3E54662E1F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54E28F-5DAD-6451-85AA-27F3997F1B48}"/>
              </a:ext>
            </a:extLst>
          </p:cNvPr>
          <p:cNvSpPr>
            <a:spLocks noGrp="1"/>
          </p:cNvSpPr>
          <p:nvPr>
            <p:ph type="body" idx="1"/>
          </p:nvPr>
        </p:nvSpPr>
        <p:spPr/>
        <p:txBody>
          <a:bodyPr/>
          <a:lstStyle/>
          <a:p>
            <a:r>
              <a:rPr lang="en-US">
                <a:ea typeface="Calibri"/>
                <a:cs typeface="Calibri"/>
              </a:rPr>
              <a:t>Interaction </a:t>
            </a:r>
          </a:p>
          <a:p>
            <a:r>
              <a:rPr lang="en-US">
                <a:ea typeface="Calibri"/>
                <a:cs typeface="Calibri"/>
              </a:rPr>
              <a:t>Freeform Drag-and Drap </a:t>
            </a:r>
            <a:endParaRPr lang="en-US" dirty="0">
              <a:ea typeface="Calibri"/>
              <a:cs typeface="Calibri"/>
            </a:endParaRPr>
          </a:p>
        </p:txBody>
      </p:sp>
      <p:sp>
        <p:nvSpPr>
          <p:cNvPr id="4" name="Slide Number Placeholder 3">
            <a:extLst>
              <a:ext uri="{FF2B5EF4-FFF2-40B4-BE49-F238E27FC236}">
                <a16:creationId xmlns:a16="http://schemas.microsoft.com/office/drawing/2014/main" id="{A0245E50-3C7F-EFDE-AAA1-218758AED83E}"/>
              </a:ext>
            </a:extLst>
          </p:cNvPr>
          <p:cNvSpPr>
            <a:spLocks noGrp="1"/>
          </p:cNvSpPr>
          <p:nvPr>
            <p:ph type="sldNum" sz="quarter" idx="5"/>
          </p:nvPr>
        </p:nvSpPr>
        <p:spPr/>
        <p:txBody>
          <a:bodyPr/>
          <a:lstStyle/>
          <a:p>
            <a:fld id="{E9E0E377-8416-4A92-9C80-A19D0280DCEC}" type="slidenum">
              <a:t>44</a:t>
            </a:fld>
            <a:endParaRPr lang="en-US"/>
          </a:p>
        </p:txBody>
      </p:sp>
    </p:spTree>
    <p:extLst>
      <p:ext uri="{BB962C8B-B14F-4D97-AF65-F5344CB8AC3E}">
        <p14:creationId xmlns:p14="http://schemas.microsoft.com/office/powerpoint/2010/main" val="395578154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A0363-5519-ACB0-7844-4C82E07A81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A1245-90F0-821E-022B-DB00BA4E6D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83E33D-CC37-C0E6-B0FA-307F16F4781F}"/>
              </a:ext>
            </a:extLst>
          </p:cNvPr>
          <p:cNvSpPr>
            <a:spLocks noGrp="1"/>
          </p:cNvSpPr>
          <p:nvPr>
            <p:ph type="body" idx="1"/>
          </p:nvPr>
        </p:nvSpPr>
        <p:spPr/>
        <p:txBody>
          <a:bodyPr/>
          <a:lstStyle/>
          <a:p>
            <a:r>
              <a:rPr lang="en-US"/>
              <a:t>AI can support classroom tasks, but teachers bring professional knowledge, creativity, and relationships that technology cannot replace.</a:t>
            </a:r>
            <a:br>
              <a:rPr lang="en-US" dirty="0">
                <a:cs typeface="+mn-lt"/>
              </a:rPr>
            </a:br>
            <a:endParaRPr lang="en-US">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8611CB9C-2D03-1705-CAD4-41657A3EBA33}"/>
              </a:ext>
            </a:extLst>
          </p:cNvPr>
          <p:cNvSpPr>
            <a:spLocks noGrp="1"/>
          </p:cNvSpPr>
          <p:nvPr>
            <p:ph type="sldNum" sz="quarter" idx="5"/>
          </p:nvPr>
        </p:nvSpPr>
        <p:spPr/>
        <p:txBody>
          <a:bodyPr/>
          <a:lstStyle/>
          <a:p>
            <a:fld id="{E9E0E377-8416-4A92-9C80-A19D0280DCEC}" type="slidenum">
              <a:t>45</a:t>
            </a:fld>
            <a:endParaRPr lang="en-US"/>
          </a:p>
        </p:txBody>
      </p:sp>
    </p:spTree>
    <p:extLst>
      <p:ext uri="{BB962C8B-B14F-4D97-AF65-F5344CB8AC3E}">
        <p14:creationId xmlns:p14="http://schemas.microsoft.com/office/powerpoint/2010/main" val="15383020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ECDDF-541E-A1A3-1F47-6A0895FC9C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830C6C-5B4D-ACFD-E1EC-54CE25171F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67668D-561E-922E-C2A7-BF6EBB1BF212}"/>
              </a:ext>
            </a:extLst>
          </p:cNvPr>
          <p:cNvSpPr>
            <a:spLocks noGrp="1"/>
          </p:cNvSpPr>
          <p:nvPr>
            <p:ph type="body" idx="1"/>
          </p:nvPr>
        </p:nvSpPr>
        <p:spPr/>
        <p:txBody>
          <a:bodyPr/>
          <a:lstStyle/>
          <a:p>
            <a:r>
              <a:rPr lang="en-US"/>
              <a:t>Throughout this case study, you practiced making decisions about AI use. Responsible educators combine technology with professional judgment to create meaningful learning experiences.</a:t>
            </a:r>
            <a:br>
              <a:rPr lang="en-US" dirty="0">
                <a:cs typeface="+mn-lt"/>
              </a:rPr>
            </a:br>
            <a:endParaRPr lang="en-US">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9D18BB05-8C5C-2D50-FD36-A00A13A24561}"/>
              </a:ext>
            </a:extLst>
          </p:cNvPr>
          <p:cNvSpPr>
            <a:spLocks noGrp="1"/>
          </p:cNvSpPr>
          <p:nvPr>
            <p:ph type="sldNum" sz="quarter" idx="5"/>
          </p:nvPr>
        </p:nvSpPr>
        <p:spPr/>
        <p:txBody>
          <a:bodyPr/>
          <a:lstStyle/>
          <a:p>
            <a:fld id="{E9E0E377-8416-4A92-9C80-A19D0280DCEC}" type="slidenum">
              <a:t>46</a:t>
            </a:fld>
            <a:endParaRPr lang="en-US"/>
          </a:p>
        </p:txBody>
      </p:sp>
    </p:spTree>
    <p:extLst>
      <p:ext uri="{BB962C8B-B14F-4D97-AF65-F5344CB8AC3E}">
        <p14:creationId xmlns:p14="http://schemas.microsoft.com/office/powerpoint/2010/main" val="354227504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0FDBB-040C-5881-3F6D-99D6C9501F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A5145C-1C65-E3AC-010B-2F8EA603DA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94BE83-44E6-4AFE-90A7-94C55A82671D}"/>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4F14801B-5A0C-6E85-A0BE-F87F784ACA04}"/>
              </a:ext>
            </a:extLst>
          </p:cNvPr>
          <p:cNvSpPr>
            <a:spLocks noGrp="1"/>
          </p:cNvSpPr>
          <p:nvPr>
            <p:ph type="sldNum" sz="quarter" idx="5"/>
          </p:nvPr>
        </p:nvSpPr>
        <p:spPr/>
        <p:txBody>
          <a:bodyPr/>
          <a:lstStyle/>
          <a:p>
            <a:fld id="{E9E0E377-8416-4A92-9C80-A19D0280DCEC}" type="slidenum">
              <a:t>47</a:t>
            </a:fld>
            <a:endParaRPr lang="en-US"/>
          </a:p>
        </p:txBody>
      </p:sp>
    </p:spTree>
    <p:extLst>
      <p:ext uri="{BB962C8B-B14F-4D97-AF65-F5344CB8AC3E}">
        <p14:creationId xmlns:p14="http://schemas.microsoft.com/office/powerpoint/2010/main" val="184786220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5EA41-3386-CAAC-F4D3-BDF3FE8DAB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B105E8-A0EC-4E76-13DB-131FB0C39C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6ACFC0-77A8-EA5D-0528-CBDC482C3380}"/>
              </a:ext>
            </a:extLst>
          </p:cNvPr>
          <p:cNvSpPr>
            <a:spLocks noGrp="1"/>
          </p:cNvSpPr>
          <p:nvPr>
            <p:ph type="body" idx="1"/>
          </p:nvPr>
        </p:nvSpPr>
        <p:spPr/>
        <p:txBody>
          <a:bodyPr/>
          <a:lstStyle/>
          <a:p>
            <a:r>
              <a:rPr lang="en-US"/>
              <a:t>Please enter your name before starting the final assessment. Your name will appear on your quiz results page after completing the lesson.</a:t>
            </a:r>
            <a:br>
              <a:rPr lang="en-US" dirty="0">
                <a:cs typeface="+mn-lt"/>
              </a:rPr>
            </a:br>
            <a:endParaRPr lang="en-US">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42C0EEF0-FF72-C20E-88E1-065B2B33D622}"/>
              </a:ext>
            </a:extLst>
          </p:cNvPr>
          <p:cNvSpPr>
            <a:spLocks noGrp="1"/>
          </p:cNvSpPr>
          <p:nvPr>
            <p:ph type="sldNum" sz="quarter" idx="5"/>
          </p:nvPr>
        </p:nvSpPr>
        <p:spPr/>
        <p:txBody>
          <a:bodyPr/>
          <a:lstStyle/>
          <a:p>
            <a:fld id="{E9E0E377-8416-4A92-9C80-A19D0280DCEC}" type="slidenum">
              <a:t>48</a:t>
            </a:fld>
            <a:endParaRPr lang="en-US"/>
          </a:p>
        </p:txBody>
      </p:sp>
    </p:spTree>
    <p:extLst>
      <p:ext uri="{BB962C8B-B14F-4D97-AF65-F5344CB8AC3E}">
        <p14:creationId xmlns:p14="http://schemas.microsoft.com/office/powerpoint/2010/main" val="1684535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35922-534D-C874-4629-42233F6BA1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449FC5-858A-2FFF-57B9-C3CE6B5CD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CEF9DA-C554-674A-3E19-5E0DFD6DCABD}"/>
              </a:ext>
            </a:extLst>
          </p:cNvPr>
          <p:cNvSpPr>
            <a:spLocks noGrp="1"/>
          </p:cNvSpPr>
          <p:nvPr>
            <p:ph type="body" idx="1"/>
          </p:nvPr>
        </p:nvSpPr>
        <p:spPr/>
        <p:txBody>
          <a:bodyPr/>
          <a:lstStyle/>
          <a:p>
            <a:r>
              <a:rPr lang="en-US"/>
              <a:t>You will now complete the final assessment. Answer each question based on what you learned throughout this interactive lesson. You need an 80 percent score to successfully complete the quiz.</a:t>
            </a:r>
          </a:p>
          <a:p>
            <a:br>
              <a:rPr lang="en-US" dirty="0">
                <a:cs typeface="+mn-lt"/>
              </a:rPr>
            </a:br>
            <a:endParaRPr lang="en-US">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9BF1517D-5E26-68A2-DA1F-E9948474D102}"/>
              </a:ext>
            </a:extLst>
          </p:cNvPr>
          <p:cNvSpPr>
            <a:spLocks noGrp="1"/>
          </p:cNvSpPr>
          <p:nvPr>
            <p:ph type="sldNum" sz="quarter" idx="5"/>
          </p:nvPr>
        </p:nvSpPr>
        <p:spPr/>
        <p:txBody>
          <a:bodyPr/>
          <a:lstStyle/>
          <a:p>
            <a:fld id="{E9E0E377-8416-4A92-9C80-A19D0280DCEC}" type="slidenum">
              <a:t>49</a:t>
            </a:fld>
            <a:endParaRPr lang="en-US"/>
          </a:p>
        </p:txBody>
      </p:sp>
    </p:spTree>
    <p:extLst>
      <p:ext uri="{BB962C8B-B14F-4D97-AF65-F5344CB8AC3E}">
        <p14:creationId xmlns:p14="http://schemas.microsoft.com/office/powerpoint/2010/main" val="110142381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E9088-3A6E-BC75-AF52-08122D4D1E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E8AE2D-69F6-9265-E5A4-AB85270E63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E8CD83-0AF1-6975-66A0-74F0223AF37B}"/>
              </a:ext>
            </a:extLst>
          </p:cNvPr>
          <p:cNvSpPr>
            <a:spLocks noGrp="1"/>
          </p:cNvSpPr>
          <p:nvPr>
            <p:ph type="body" idx="1"/>
          </p:nvPr>
        </p:nvSpPr>
        <p:spPr/>
        <p:txBody>
          <a:bodyPr/>
          <a:lstStyle/>
          <a:p>
            <a:r>
              <a:rPr lang="en-US"/>
              <a:t>Feedback</a:t>
            </a:r>
          </a:p>
          <a:p>
            <a:r>
              <a:rPr lang="en-US"/>
              <a:t>Correct! AI supports educators but does not replace teachers.</a:t>
            </a:r>
          </a:p>
          <a:p>
            <a:endParaRPr lang="en-US" dirty="0">
              <a:ea typeface="Calibri"/>
              <a:cs typeface="Calibri"/>
            </a:endParaRPr>
          </a:p>
          <a:p>
            <a:br>
              <a:rPr lang="en-US" dirty="0">
                <a:cs typeface="+mn-lt"/>
              </a:rPr>
            </a:br>
            <a:endParaRPr lang="en-US">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DC067DBC-346A-26DE-3E13-E334C56A9E79}"/>
              </a:ext>
            </a:extLst>
          </p:cNvPr>
          <p:cNvSpPr>
            <a:spLocks noGrp="1"/>
          </p:cNvSpPr>
          <p:nvPr>
            <p:ph type="sldNum" sz="quarter" idx="5"/>
          </p:nvPr>
        </p:nvSpPr>
        <p:spPr/>
        <p:txBody>
          <a:bodyPr/>
          <a:lstStyle/>
          <a:p>
            <a:fld id="{E9E0E377-8416-4A92-9C80-A19D0280DCEC}" type="slidenum">
              <a:t>50</a:t>
            </a:fld>
            <a:endParaRPr lang="en-US"/>
          </a:p>
        </p:txBody>
      </p:sp>
    </p:spTree>
    <p:extLst>
      <p:ext uri="{BB962C8B-B14F-4D97-AF65-F5344CB8AC3E}">
        <p14:creationId xmlns:p14="http://schemas.microsoft.com/office/powerpoint/2010/main" val="64262866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D47B6-BBBE-4631-7FEB-2E4A00481A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06BA22-937A-EA24-CC3A-0FEF063B97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FAF9C5-1E71-0E40-F322-F22242CE3080}"/>
              </a:ext>
            </a:extLst>
          </p:cNvPr>
          <p:cNvSpPr>
            <a:spLocks noGrp="1"/>
          </p:cNvSpPr>
          <p:nvPr>
            <p:ph type="body" idx="1"/>
          </p:nvPr>
        </p:nvSpPr>
        <p:spPr/>
        <p:txBody>
          <a:bodyPr/>
          <a:lstStyle/>
          <a:p>
            <a:r>
              <a:rPr lang="en-US"/>
              <a:t>Feedback</a:t>
            </a:r>
          </a:p>
          <a:p>
            <a:r>
              <a:rPr lang="en-US"/>
              <a:t>Teachers should always review AI-generated information.</a:t>
            </a:r>
          </a:p>
          <a:p>
            <a:endParaRPr lang="en-US" dirty="0">
              <a:ea typeface="Calibri"/>
              <a:cs typeface="Calibri"/>
            </a:endParaRPr>
          </a:p>
          <a:p>
            <a:endParaRPr lang="en-US" dirty="0">
              <a:ea typeface="Calibri"/>
              <a:cs typeface="Calibri"/>
            </a:endParaRPr>
          </a:p>
          <a:p>
            <a:br>
              <a:rPr lang="en-US" dirty="0">
                <a:cs typeface="+mn-lt"/>
              </a:rPr>
            </a:br>
            <a:endParaRPr lang="en-US">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F581F728-54B6-1FDB-F433-32D392E5B99C}"/>
              </a:ext>
            </a:extLst>
          </p:cNvPr>
          <p:cNvSpPr>
            <a:spLocks noGrp="1"/>
          </p:cNvSpPr>
          <p:nvPr>
            <p:ph type="sldNum" sz="quarter" idx="5"/>
          </p:nvPr>
        </p:nvSpPr>
        <p:spPr/>
        <p:txBody>
          <a:bodyPr/>
          <a:lstStyle/>
          <a:p>
            <a:fld id="{E9E0E377-8416-4A92-9C80-A19D0280DCEC}" type="slidenum">
              <a:t>51</a:t>
            </a:fld>
            <a:endParaRPr lang="en-US"/>
          </a:p>
        </p:txBody>
      </p:sp>
    </p:spTree>
    <p:extLst>
      <p:ext uri="{BB962C8B-B14F-4D97-AF65-F5344CB8AC3E}">
        <p14:creationId xmlns:p14="http://schemas.microsoft.com/office/powerpoint/2010/main" val="143591305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07F04-45D1-4A48-EC78-C2829131B8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1FFCEC-C431-C829-EFC9-732D7A2141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E2AA6D-341B-CBFF-EBE7-2EC628BDE2E0}"/>
              </a:ext>
            </a:extLst>
          </p:cNvPr>
          <p:cNvSpPr>
            <a:spLocks noGrp="1"/>
          </p:cNvSpPr>
          <p:nvPr>
            <p:ph type="body" idx="1"/>
          </p:nvPr>
        </p:nvSpPr>
        <p:spPr/>
        <p:txBody>
          <a:bodyPr/>
          <a:lstStyle/>
          <a:p>
            <a:r>
              <a:rPr lang="en-US"/>
              <a:t>Feedback</a:t>
            </a:r>
          </a:p>
          <a:p>
            <a:r>
              <a:rPr lang="en-US" dirty="0"/>
              <a:t>AI supports classroom tasks but teachers remain responsible for instruction.</a:t>
            </a:r>
          </a:p>
          <a:p>
            <a:endParaRPr lang="en-US" dirty="0">
              <a:ea typeface="Calibri"/>
              <a:cs typeface="Calibri"/>
            </a:endParaRPr>
          </a:p>
          <a:p>
            <a:endParaRPr lang="en-US" dirty="0">
              <a:ea typeface="Calibri"/>
              <a:cs typeface="Calibri"/>
            </a:endParaRPr>
          </a:p>
          <a:p>
            <a:endParaRPr lang="en-US" dirty="0">
              <a:ea typeface="Calibri"/>
              <a:cs typeface="Calibri"/>
            </a:endParaRPr>
          </a:p>
          <a:p>
            <a:br>
              <a:rPr lang="en-US" dirty="0">
                <a:cs typeface="+mn-lt"/>
              </a:rPr>
            </a:br>
            <a:endParaRPr lang="en-US">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2F86FBC6-B1ED-9F1F-7B81-88C71001D67E}"/>
              </a:ext>
            </a:extLst>
          </p:cNvPr>
          <p:cNvSpPr>
            <a:spLocks noGrp="1"/>
          </p:cNvSpPr>
          <p:nvPr>
            <p:ph type="sldNum" sz="quarter" idx="5"/>
          </p:nvPr>
        </p:nvSpPr>
        <p:spPr/>
        <p:txBody>
          <a:bodyPr/>
          <a:lstStyle/>
          <a:p>
            <a:fld id="{E9E0E377-8416-4A92-9C80-A19D0280DCEC}" type="slidenum">
              <a:t>52</a:t>
            </a:fld>
            <a:endParaRPr lang="en-US"/>
          </a:p>
        </p:txBody>
      </p:sp>
    </p:spTree>
    <p:extLst>
      <p:ext uri="{BB962C8B-B14F-4D97-AF65-F5344CB8AC3E}">
        <p14:creationId xmlns:p14="http://schemas.microsoft.com/office/powerpoint/2010/main" val="75458325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B55BD-1C07-8A9B-C9DA-51D57C0BF2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AB7E42-2233-90F7-3C70-0DF23556B0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ACA705-16C7-356D-5ADE-0B70935A9C8C}"/>
              </a:ext>
            </a:extLst>
          </p:cNvPr>
          <p:cNvSpPr>
            <a:spLocks noGrp="1"/>
          </p:cNvSpPr>
          <p:nvPr>
            <p:ph type="body" idx="1"/>
          </p:nvPr>
        </p:nvSpPr>
        <p:spPr/>
        <p:txBody>
          <a:bodyPr/>
          <a:lstStyle/>
          <a:p>
            <a:r>
              <a:rPr lang="en-US"/>
              <a:t>Feedback</a:t>
            </a:r>
          </a:p>
          <a:p>
            <a:r>
              <a:rPr lang="en-US"/>
              <a:t>Reviewing AI content helps ensure accuracy and responsible use.</a:t>
            </a:r>
          </a:p>
          <a:p>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a:p>
            <a:br>
              <a:rPr lang="en-US" dirty="0">
                <a:cs typeface="+mn-lt"/>
              </a:rPr>
            </a:br>
            <a:endParaRPr lang="en-US">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D3DFDF12-6580-0024-4705-8E949862F8A1}"/>
              </a:ext>
            </a:extLst>
          </p:cNvPr>
          <p:cNvSpPr>
            <a:spLocks noGrp="1"/>
          </p:cNvSpPr>
          <p:nvPr>
            <p:ph type="sldNum" sz="quarter" idx="5"/>
          </p:nvPr>
        </p:nvSpPr>
        <p:spPr/>
        <p:txBody>
          <a:bodyPr/>
          <a:lstStyle/>
          <a:p>
            <a:fld id="{E9E0E377-8416-4A92-9C80-A19D0280DCEC}" type="slidenum">
              <a:t>53</a:t>
            </a:fld>
            <a:endParaRPr lang="en-US"/>
          </a:p>
        </p:txBody>
      </p:sp>
    </p:spTree>
    <p:extLst>
      <p:ext uri="{BB962C8B-B14F-4D97-AF65-F5344CB8AC3E}">
        <p14:creationId xmlns:p14="http://schemas.microsoft.com/office/powerpoint/2010/main" val="11535620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0D00D-4414-6CC1-F46B-14D6ED58BC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417600-AC8B-5A9E-D8D0-912168EDD1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689F71-B69C-37AA-95EE-3A89886C3EF7}"/>
              </a:ext>
            </a:extLst>
          </p:cNvPr>
          <p:cNvSpPr>
            <a:spLocks noGrp="1"/>
          </p:cNvSpPr>
          <p:nvPr>
            <p:ph type="body" idx="1"/>
          </p:nvPr>
        </p:nvSpPr>
        <p:spPr/>
        <p:txBody>
          <a:bodyPr/>
          <a:lstStyle/>
          <a:p>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a:p>
            <a:br>
              <a:rPr lang="en-US" dirty="0">
                <a:cs typeface="+mn-lt"/>
              </a:rPr>
            </a:br>
            <a:endParaRPr lang="en-US">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5E4CB225-CD81-FAEB-B501-1154AFF5335B}"/>
              </a:ext>
            </a:extLst>
          </p:cNvPr>
          <p:cNvSpPr>
            <a:spLocks noGrp="1"/>
          </p:cNvSpPr>
          <p:nvPr>
            <p:ph type="sldNum" sz="quarter" idx="5"/>
          </p:nvPr>
        </p:nvSpPr>
        <p:spPr/>
        <p:txBody>
          <a:bodyPr/>
          <a:lstStyle/>
          <a:p>
            <a:fld id="{E9E0E377-8416-4A92-9C80-A19D0280DCEC}" type="slidenum">
              <a:t>54</a:t>
            </a:fld>
            <a:endParaRPr lang="en-US"/>
          </a:p>
        </p:txBody>
      </p:sp>
    </p:spTree>
    <p:extLst>
      <p:ext uri="{BB962C8B-B14F-4D97-AF65-F5344CB8AC3E}">
        <p14:creationId xmlns:p14="http://schemas.microsoft.com/office/powerpoint/2010/main" val="63607009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480CC-927C-754C-20F3-B05BE06347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9E867D-D5EC-CA83-B2A8-21AF22B0F8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0AB1BF-6788-31EC-FBD0-41DDEEFBEC57}"/>
              </a:ext>
            </a:extLst>
          </p:cNvPr>
          <p:cNvSpPr>
            <a:spLocks noGrp="1"/>
          </p:cNvSpPr>
          <p:nvPr>
            <p:ph type="body" idx="1"/>
          </p:nvPr>
        </p:nvSpPr>
        <p:spPr/>
        <p:txBody>
          <a:bodyPr/>
          <a:lstStyle/>
          <a:p>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a:p>
            <a:br>
              <a:rPr lang="en-US" dirty="0">
                <a:cs typeface="+mn-lt"/>
              </a:rPr>
            </a:br>
            <a:endParaRPr lang="en-US">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045CABFB-B862-9E8D-C095-BEDA0F8350C9}"/>
              </a:ext>
            </a:extLst>
          </p:cNvPr>
          <p:cNvSpPr>
            <a:spLocks noGrp="1"/>
          </p:cNvSpPr>
          <p:nvPr>
            <p:ph type="sldNum" sz="quarter" idx="5"/>
          </p:nvPr>
        </p:nvSpPr>
        <p:spPr/>
        <p:txBody>
          <a:bodyPr/>
          <a:lstStyle/>
          <a:p>
            <a:fld id="{E9E0E377-8416-4A92-9C80-A19D0280DCEC}" type="slidenum">
              <a:t>55</a:t>
            </a:fld>
            <a:endParaRPr lang="en-US"/>
          </a:p>
        </p:txBody>
      </p:sp>
    </p:spTree>
    <p:extLst>
      <p:ext uri="{BB962C8B-B14F-4D97-AF65-F5344CB8AC3E}">
        <p14:creationId xmlns:p14="http://schemas.microsoft.com/office/powerpoint/2010/main" val="386725237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C9F5B-9C7D-6A90-AC5C-79FE8B9F01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3F96F6-656B-A775-394D-215B0E1279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3161BB-FDA3-383C-DAA6-5B0126576F99}"/>
              </a:ext>
            </a:extLst>
          </p:cNvPr>
          <p:cNvSpPr>
            <a:spLocks noGrp="1"/>
          </p:cNvSpPr>
          <p:nvPr>
            <p:ph type="body" idx="1"/>
          </p:nvPr>
        </p:nvSpPr>
        <p:spPr/>
        <p:txBody>
          <a:bodyPr/>
          <a:lstStyle/>
          <a:p>
            <a:r>
              <a:rPr lang="en-US"/>
              <a:t>Congratulations on completing this interactive lesson. You explored artificial intelligence, practiced responsible decision-making, and learned how AI can support education. Remember, technology is a tool, but teachers create meaningful learning experiences.</a:t>
            </a:r>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a:p>
            <a:br>
              <a:rPr lang="en-US" dirty="0">
                <a:cs typeface="+mn-lt"/>
              </a:rPr>
            </a:br>
            <a:endParaRPr lang="en-US">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8A8321B4-B742-248F-72BE-A52151D31CE4}"/>
              </a:ext>
            </a:extLst>
          </p:cNvPr>
          <p:cNvSpPr>
            <a:spLocks noGrp="1"/>
          </p:cNvSpPr>
          <p:nvPr>
            <p:ph type="sldNum" sz="quarter" idx="5"/>
          </p:nvPr>
        </p:nvSpPr>
        <p:spPr/>
        <p:txBody>
          <a:bodyPr/>
          <a:lstStyle/>
          <a:p>
            <a:fld id="{E9E0E377-8416-4A92-9C80-A19D0280DCEC}" type="slidenum">
              <a:t>56</a:t>
            </a:fld>
            <a:endParaRPr lang="en-US"/>
          </a:p>
        </p:txBody>
      </p:sp>
    </p:spTree>
    <p:extLst>
      <p:ext uri="{BB962C8B-B14F-4D97-AF65-F5344CB8AC3E}">
        <p14:creationId xmlns:p14="http://schemas.microsoft.com/office/powerpoint/2010/main" val="404088662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02C8C-A404-1EA2-7A86-2C2CF1ACC3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2FCA1C-A0D5-7893-E2A1-7F261B9E38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944FEF-5E8F-1168-4DE1-4C5A2A2C06CD}"/>
              </a:ext>
            </a:extLst>
          </p:cNvPr>
          <p:cNvSpPr>
            <a:spLocks noGrp="1"/>
          </p:cNvSpPr>
          <p:nvPr>
            <p:ph type="body" idx="1"/>
          </p:nvPr>
        </p:nvSpPr>
        <p:spPr/>
        <p:txBody>
          <a:bodyPr/>
          <a:lstStyle/>
          <a:p>
            <a:r>
              <a:rPr lang="en-US"/>
              <a:t>Continue exploring reliable resources to learn more about artificial intelligence in education and how it can support teaching practices.</a:t>
            </a:r>
          </a:p>
        </p:txBody>
      </p:sp>
      <p:sp>
        <p:nvSpPr>
          <p:cNvPr id="4" name="Slide Number Placeholder 3">
            <a:extLst>
              <a:ext uri="{FF2B5EF4-FFF2-40B4-BE49-F238E27FC236}">
                <a16:creationId xmlns:a16="http://schemas.microsoft.com/office/drawing/2014/main" id="{FAA0ECC0-01BE-D99A-6816-C126F197E08F}"/>
              </a:ext>
            </a:extLst>
          </p:cNvPr>
          <p:cNvSpPr>
            <a:spLocks noGrp="1"/>
          </p:cNvSpPr>
          <p:nvPr>
            <p:ph type="sldNum" sz="quarter" idx="5"/>
          </p:nvPr>
        </p:nvSpPr>
        <p:spPr/>
        <p:txBody>
          <a:bodyPr/>
          <a:lstStyle/>
          <a:p>
            <a:fld id="{E9E0E377-8416-4A92-9C80-A19D0280DCEC}" type="slidenum">
              <a:t>57</a:t>
            </a:fld>
            <a:endParaRPr lang="en-US"/>
          </a:p>
        </p:txBody>
      </p:sp>
    </p:spTree>
    <p:extLst>
      <p:ext uri="{BB962C8B-B14F-4D97-AF65-F5344CB8AC3E}">
        <p14:creationId xmlns:p14="http://schemas.microsoft.com/office/powerpoint/2010/main" val="22335270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7/15/2026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7/15/2026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7/15/2026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7/15/2026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7/15/2026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5.jpe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5.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7.jpeg"/></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9.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1.jpeg"/></Relationships>
</file>

<file path=ppt/slides/_rels/slide1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3.jpe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25.jpe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28.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8.xml"/><Relationship Id="rId1" Type="http://schemas.openxmlformats.org/officeDocument/2006/relationships/slideLayout" Target="../slideLayouts/slideLayout3.xml"/><Relationship Id="rId5" Type="http://schemas.openxmlformats.org/officeDocument/2006/relationships/image" Target="../media/image39.jpeg"/><Relationship Id="rId4" Type="http://schemas.openxmlformats.org/officeDocument/2006/relationships/image" Target="../media/image10.jpeg"/></Relationships>
</file>

<file path=ppt/slides/_rels/slide40.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image" Target="../media/image10.jpeg"/></Relationships>
</file>

<file path=ppt/slides/_rels/slide41.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40.xml"/><Relationship Id="rId1" Type="http://schemas.openxmlformats.org/officeDocument/2006/relationships/slideLayout" Target="../slideLayouts/slideLayout3.xml"/><Relationship Id="rId5" Type="http://schemas.openxmlformats.org/officeDocument/2006/relationships/image" Target="../media/image39.jpeg"/><Relationship Id="rId4" Type="http://schemas.openxmlformats.org/officeDocument/2006/relationships/image" Target="../media/image10.jpe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hyperlink" Target="https://edtechbooks.org/" TargetMode="External"/><Relationship Id="rId2" Type="http://schemas.openxmlformats.org/officeDocument/2006/relationships/notesSlide" Target="../notesSlides/notesSlide56.xml"/><Relationship Id="rId1" Type="http://schemas.openxmlformats.org/officeDocument/2006/relationships/slideLayout" Target="../slideLayouts/slideLayout3.xml"/><Relationship Id="rId4" Type="http://schemas.openxmlformats.org/officeDocument/2006/relationships/hyperlink" Target="https://oercommons.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atin typeface="Calibri"/>
                <a:ea typeface="Calibri"/>
                <a:cs typeface="Calibri"/>
              </a:rPr>
              <a:t>Introduction to Artificial Intelligence in Education</a:t>
            </a:r>
          </a:p>
        </p:txBody>
      </p:sp>
      <p:sp>
        <p:nvSpPr>
          <p:cNvPr id="3" name="Subtitle 2"/>
          <p:cNvSpPr>
            <a:spLocks noGrp="1"/>
          </p:cNvSpPr>
          <p:nvPr>
            <p:ph type="subTitle" idx="1"/>
          </p:nvPr>
        </p:nvSpPr>
        <p:spPr/>
        <p:txBody>
          <a:bodyPr vert="horz" lIns="91440" tIns="45720" rIns="91440" bIns="45720" rtlCol="0" anchor="t">
            <a:normAutofit/>
          </a:bodyPr>
          <a:lstStyle/>
          <a:p>
            <a:r>
              <a:rPr lang="en-US">
                <a:latin typeface="Calibri"/>
                <a:ea typeface="Calibri"/>
                <a:cs typeface="Calibri"/>
              </a:rPr>
              <a:t>Interactive Lesson for K-12 Teachers</a:t>
            </a:r>
          </a:p>
          <a:p>
            <a:r>
              <a:rPr lang="en-US">
                <a:latin typeface="Calibri"/>
                <a:ea typeface="Calibri"/>
                <a:cs typeface="Calibri"/>
              </a:rPr>
              <a:t>Presented by: Kaylee Stemmer</a:t>
            </a:r>
          </a:p>
        </p:txBody>
      </p:sp>
      <p:pic>
        <p:nvPicPr>
          <p:cNvPr id="4" name="Picture 3">
            <a:extLst>
              <a:ext uri="{FF2B5EF4-FFF2-40B4-BE49-F238E27FC236}">
                <a16:creationId xmlns:a16="http://schemas.microsoft.com/office/drawing/2014/main" id="{84307193-AF2D-21C1-BADA-8B4FC888418E}"/>
              </a:ext>
            </a:extLst>
          </p:cNvPr>
          <p:cNvPicPr>
            <a:picLocks noChangeAspect="1"/>
          </p:cNvPicPr>
          <p:nvPr/>
        </p:nvPicPr>
        <p:blipFill>
          <a:blip r:embed="rId3"/>
          <a:stretch>
            <a:fillRect/>
          </a:stretch>
        </p:blipFill>
        <p:spPr>
          <a:xfrm>
            <a:off x="4395334" y="4526641"/>
            <a:ext cx="3408590" cy="2333173"/>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91DAE-5759-6108-B26C-F1E30E31A774}"/>
              </a:ext>
            </a:extLst>
          </p:cNvPr>
          <p:cNvSpPr>
            <a:spLocks noGrp="1"/>
          </p:cNvSpPr>
          <p:nvPr>
            <p:ph type="ctrTitle"/>
          </p:nvPr>
        </p:nvSpPr>
        <p:spPr/>
        <p:txBody>
          <a:bodyPr/>
          <a:lstStyle/>
          <a:p>
            <a:r>
              <a:rPr lang="en-US">
                <a:solidFill>
                  <a:schemeClr val="bg1"/>
                </a:solidFill>
                <a:latin typeface="Calibri"/>
                <a:ea typeface="Calibri"/>
                <a:cs typeface="Calibri"/>
              </a:rPr>
              <a:t>Introduction</a:t>
            </a:r>
          </a:p>
        </p:txBody>
      </p:sp>
      <p:sp>
        <p:nvSpPr>
          <p:cNvPr id="3" name="Subtitle 2">
            <a:extLst>
              <a:ext uri="{FF2B5EF4-FFF2-40B4-BE49-F238E27FC236}">
                <a16:creationId xmlns:a16="http://schemas.microsoft.com/office/drawing/2014/main" id="{C792F07F-2BE3-BB38-E8C9-26B86B37E8B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80619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184FE-E3D3-2AA4-1D16-2C47DC8CB13B}"/>
              </a:ext>
            </a:extLst>
          </p:cNvPr>
          <p:cNvSpPr>
            <a:spLocks noGrp="1"/>
          </p:cNvSpPr>
          <p:nvPr>
            <p:ph type="title"/>
          </p:nvPr>
        </p:nvSpPr>
        <p:spPr>
          <a:xfrm>
            <a:off x="527050" y="-1425348"/>
            <a:ext cx="10515600" cy="2852737"/>
          </a:xfrm>
        </p:spPr>
        <p:txBody>
          <a:bodyPr/>
          <a:lstStyle/>
          <a:p>
            <a:r>
              <a:rPr lang="en-US">
                <a:latin typeface="Calibri"/>
                <a:ea typeface="Calibri"/>
                <a:cs typeface="Calibri"/>
              </a:rPr>
              <a:t>Welcome </a:t>
            </a:r>
          </a:p>
        </p:txBody>
      </p:sp>
      <p:sp>
        <p:nvSpPr>
          <p:cNvPr id="3" name="Content Placeholder 2">
            <a:extLst>
              <a:ext uri="{FF2B5EF4-FFF2-40B4-BE49-F238E27FC236}">
                <a16:creationId xmlns:a16="http://schemas.microsoft.com/office/drawing/2014/main" id="{1BD7E98A-BA88-65BF-B8EF-4716A51853A1}"/>
              </a:ext>
            </a:extLst>
          </p:cNvPr>
          <p:cNvSpPr>
            <a:spLocks noGrp="1"/>
          </p:cNvSpPr>
          <p:nvPr>
            <p:ph type="body" idx="1"/>
          </p:nvPr>
        </p:nvSpPr>
        <p:spPr>
          <a:xfrm>
            <a:off x="527050" y="1715634"/>
            <a:ext cx="10515600" cy="1500187"/>
          </a:xfrm>
        </p:spPr>
        <p:txBody>
          <a:bodyPr vert="horz" lIns="91440" tIns="45720" rIns="91440" bIns="45720" rtlCol="0" anchor="t">
            <a:normAutofit/>
          </a:bodyPr>
          <a:lstStyle/>
          <a:p>
            <a:r>
              <a:rPr lang="en-US" sz="2800">
                <a:solidFill>
                  <a:schemeClr val="tx1"/>
                </a:solidFill>
                <a:latin typeface="Calibri"/>
                <a:ea typeface="Calibri"/>
                <a:cs typeface="Calibri"/>
              </a:rPr>
              <a:t>Welcome to your interactive learning experience. </a:t>
            </a:r>
          </a:p>
          <a:p>
            <a:r>
              <a:rPr lang="en-US" sz="2800">
                <a:solidFill>
                  <a:schemeClr val="tx1"/>
                </a:solidFill>
                <a:latin typeface="Calibri"/>
                <a:ea typeface="Calibri"/>
                <a:cs typeface="Calibri"/>
              </a:rPr>
              <a:t>Let's explore AI together. </a:t>
            </a:r>
            <a:endParaRPr lang="en-US" sz="2800" dirty="0">
              <a:solidFill>
                <a:schemeClr val="tx1"/>
              </a:solidFill>
              <a:latin typeface="Calibri"/>
              <a:ea typeface="Calibri"/>
              <a:cs typeface="Calibri"/>
            </a:endParaRPr>
          </a:p>
        </p:txBody>
      </p:sp>
      <p:pic>
        <p:nvPicPr>
          <p:cNvPr id="4" name="Picture 3">
            <a:extLst>
              <a:ext uri="{FF2B5EF4-FFF2-40B4-BE49-F238E27FC236}">
                <a16:creationId xmlns:a16="http://schemas.microsoft.com/office/drawing/2014/main" id="{FAC337FE-ED72-1034-77D1-DD3D18AE8491}"/>
              </a:ext>
            </a:extLst>
          </p:cNvPr>
          <p:cNvPicPr>
            <a:picLocks noChangeAspect="1"/>
          </p:cNvPicPr>
          <p:nvPr/>
        </p:nvPicPr>
        <p:blipFill>
          <a:blip r:embed="rId3"/>
          <a:stretch>
            <a:fillRect/>
          </a:stretch>
        </p:blipFill>
        <p:spPr>
          <a:xfrm>
            <a:off x="6945086" y="2767692"/>
            <a:ext cx="3824515" cy="3884387"/>
          </a:xfrm>
          <a:prstGeom prst="rect">
            <a:avLst/>
          </a:prstGeom>
        </p:spPr>
      </p:pic>
    </p:spTree>
    <p:extLst>
      <p:ext uri="{BB962C8B-B14F-4D97-AF65-F5344CB8AC3E}">
        <p14:creationId xmlns:p14="http://schemas.microsoft.com/office/powerpoint/2010/main" val="2114395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00AFF-D152-9E0A-5EAF-4D2066C20D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C63102-93BD-1CB2-145E-F555E07BE49E}"/>
              </a:ext>
            </a:extLst>
          </p:cNvPr>
          <p:cNvSpPr>
            <a:spLocks noGrp="1"/>
          </p:cNvSpPr>
          <p:nvPr>
            <p:ph type="title"/>
          </p:nvPr>
        </p:nvSpPr>
        <p:spPr>
          <a:xfrm>
            <a:off x="437712" y="-1141193"/>
            <a:ext cx="10515600" cy="2852737"/>
          </a:xfrm>
        </p:spPr>
        <p:txBody>
          <a:bodyPr/>
          <a:lstStyle/>
          <a:p>
            <a:r>
              <a:rPr lang="en-US">
                <a:latin typeface="Calibri"/>
                <a:ea typeface="Calibri"/>
                <a:cs typeface="Calibri"/>
              </a:rPr>
              <a:t>Navigation</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FE35EA5A-A98B-D122-667D-6DA8169DD1F9}"/>
              </a:ext>
            </a:extLst>
          </p:cNvPr>
          <p:cNvSpPr>
            <a:spLocks noGrp="1"/>
          </p:cNvSpPr>
          <p:nvPr>
            <p:ph type="body" idx="1"/>
          </p:nvPr>
        </p:nvSpPr>
        <p:spPr>
          <a:xfrm>
            <a:off x="194660" y="1745101"/>
            <a:ext cx="10515600" cy="1500187"/>
          </a:xfrm>
        </p:spPr>
        <p:txBody>
          <a:bodyPr vert="horz" lIns="91440" tIns="45720" rIns="91440" bIns="45720" rtlCol="0" anchor="t">
            <a:normAutofit/>
          </a:bodyPr>
          <a:lstStyle/>
          <a:p>
            <a:r>
              <a:rPr lang="en-US" sz="2800">
                <a:solidFill>
                  <a:schemeClr val="tx1"/>
                </a:solidFill>
                <a:latin typeface="Calibri"/>
                <a:ea typeface="Calibri"/>
                <a:cs typeface="Calibri"/>
              </a:rPr>
              <a:t>Learn how to move through this lesson.</a:t>
            </a:r>
            <a:endParaRPr lang="en-US" sz="2800" dirty="0">
              <a:solidFill>
                <a:schemeClr val="tx1"/>
              </a:solidFill>
              <a:latin typeface="Calibri"/>
              <a:ea typeface="Calibri"/>
              <a:cs typeface="Calibri"/>
            </a:endParaRPr>
          </a:p>
          <a:p>
            <a:r>
              <a:rPr lang="en-US" sz="2800" dirty="0">
                <a:solidFill>
                  <a:schemeClr val="tx1"/>
                </a:solidFill>
                <a:latin typeface="Calibri"/>
                <a:ea typeface="Calibri"/>
                <a:cs typeface="Calibri"/>
              </a:rPr>
              <a:t>Complete each activity before </a:t>
            </a:r>
            <a:r>
              <a:rPr lang="en-US" sz="2800">
                <a:solidFill>
                  <a:schemeClr val="tx1"/>
                </a:solidFill>
                <a:latin typeface="Calibri"/>
                <a:ea typeface="Calibri"/>
                <a:cs typeface="Calibri"/>
              </a:rPr>
              <a:t>continuing.</a:t>
            </a:r>
            <a:endParaRPr lang="en-US" sz="2800" dirty="0">
              <a:solidFill>
                <a:schemeClr val="tx1"/>
              </a:solidFill>
              <a:latin typeface="Calibri"/>
              <a:ea typeface="Calibri"/>
              <a:cs typeface="Calibri"/>
            </a:endParaRPr>
          </a:p>
        </p:txBody>
      </p:sp>
      <p:sp>
        <p:nvSpPr>
          <p:cNvPr id="7" name="TextBox 6">
            <a:extLst>
              <a:ext uri="{FF2B5EF4-FFF2-40B4-BE49-F238E27FC236}">
                <a16:creationId xmlns:a16="http://schemas.microsoft.com/office/drawing/2014/main" id="{9C924140-5554-064C-56EB-6463A7C37F79}"/>
              </a:ext>
            </a:extLst>
          </p:cNvPr>
          <p:cNvSpPr txBox="1"/>
          <p:nvPr/>
        </p:nvSpPr>
        <p:spPr>
          <a:xfrm>
            <a:off x="322515" y="5948727"/>
            <a:ext cx="508819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Calibri"/>
                <a:ea typeface="Calibri"/>
                <a:cs typeface="Calibri"/>
              </a:rPr>
              <a:t>Closed captions are available </a:t>
            </a:r>
          </a:p>
        </p:txBody>
      </p:sp>
      <p:pic>
        <p:nvPicPr>
          <p:cNvPr id="8" name="Picture 7">
            <a:extLst>
              <a:ext uri="{FF2B5EF4-FFF2-40B4-BE49-F238E27FC236}">
                <a16:creationId xmlns:a16="http://schemas.microsoft.com/office/drawing/2014/main" id="{58DF3D87-1894-35FF-81DE-814364A85031}"/>
              </a:ext>
            </a:extLst>
          </p:cNvPr>
          <p:cNvPicPr>
            <a:picLocks noChangeAspect="1"/>
          </p:cNvPicPr>
          <p:nvPr/>
        </p:nvPicPr>
        <p:blipFill>
          <a:blip r:embed="rId3"/>
          <a:srcRect l="18453" t="16458" r="18629" b="13094"/>
          <a:stretch>
            <a:fillRect/>
          </a:stretch>
        </p:blipFill>
        <p:spPr>
          <a:xfrm>
            <a:off x="319744" y="3429948"/>
            <a:ext cx="3972783" cy="2354968"/>
          </a:xfrm>
          <a:prstGeom prst="rect">
            <a:avLst/>
          </a:prstGeom>
        </p:spPr>
      </p:pic>
      <p:pic>
        <p:nvPicPr>
          <p:cNvPr id="9" name="Picture 8">
            <a:extLst>
              <a:ext uri="{FF2B5EF4-FFF2-40B4-BE49-F238E27FC236}">
                <a16:creationId xmlns:a16="http://schemas.microsoft.com/office/drawing/2014/main" id="{2EDFA0D1-A8AE-A4D0-896A-F1D9839CBAEC}"/>
              </a:ext>
            </a:extLst>
          </p:cNvPr>
          <p:cNvPicPr>
            <a:picLocks noChangeAspect="1"/>
          </p:cNvPicPr>
          <p:nvPr/>
        </p:nvPicPr>
        <p:blipFill>
          <a:blip r:embed="rId4"/>
          <a:srcRect r="-220" b="7609"/>
          <a:stretch>
            <a:fillRect/>
          </a:stretch>
        </p:blipFill>
        <p:spPr>
          <a:xfrm>
            <a:off x="4869902" y="3243919"/>
            <a:ext cx="2997424" cy="2490471"/>
          </a:xfrm>
          <a:prstGeom prst="rect">
            <a:avLst/>
          </a:prstGeom>
        </p:spPr>
      </p:pic>
      <p:sp>
        <p:nvSpPr>
          <p:cNvPr id="11" name="TextBox 10">
            <a:extLst>
              <a:ext uri="{FF2B5EF4-FFF2-40B4-BE49-F238E27FC236}">
                <a16:creationId xmlns:a16="http://schemas.microsoft.com/office/drawing/2014/main" id="{8929600C-E1FA-F96C-D0C0-129554111A46}"/>
              </a:ext>
            </a:extLst>
          </p:cNvPr>
          <p:cNvSpPr txBox="1"/>
          <p:nvPr/>
        </p:nvSpPr>
        <p:spPr>
          <a:xfrm>
            <a:off x="4871417" y="5948304"/>
            <a:ext cx="380999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Calibri"/>
                <a:ea typeface="Calibri"/>
                <a:cs typeface="Calibri"/>
              </a:rPr>
              <a:t>Use Next and Previous to move between slides </a:t>
            </a:r>
            <a:endParaRPr lang="en-US" sz="2400" dirty="0">
              <a:latin typeface="Calibri"/>
              <a:ea typeface="Calibri"/>
              <a:cs typeface="Calibri"/>
            </a:endParaRPr>
          </a:p>
        </p:txBody>
      </p:sp>
      <p:pic>
        <p:nvPicPr>
          <p:cNvPr id="12" name="Picture 11">
            <a:extLst>
              <a:ext uri="{FF2B5EF4-FFF2-40B4-BE49-F238E27FC236}">
                <a16:creationId xmlns:a16="http://schemas.microsoft.com/office/drawing/2014/main" id="{494B9D05-E54D-E0EB-EB02-58BCE17A04EB}"/>
              </a:ext>
            </a:extLst>
          </p:cNvPr>
          <p:cNvPicPr>
            <a:picLocks noChangeAspect="1"/>
          </p:cNvPicPr>
          <p:nvPr/>
        </p:nvPicPr>
        <p:blipFill>
          <a:blip r:embed="rId5"/>
          <a:stretch>
            <a:fillRect/>
          </a:stretch>
        </p:blipFill>
        <p:spPr>
          <a:xfrm>
            <a:off x="8679903" y="2951765"/>
            <a:ext cx="2990850" cy="2990850"/>
          </a:xfrm>
          <a:prstGeom prst="rect">
            <a:avLst/>
          </a:prstGeom>
        </p:spPr>
      </p:pic>
      <p:sp>
        <p:nvSpPr>
          <p:cNvPr id="13" name="TextBox 12">
            <a:extLst>
              <a:ext uri="{FF2B5EF4-FFF2-40B4-BE49-F238E27FC236}">
                <a16:creationId xmlns:a16="http://schemas.microsoft.com/office/drawing/2014/main" id="{A95EE234-EAE5-710F-9E38-240EB37FF542}"/>
              </a:ext>
            </a:extLst>
          </p:cNvPr>
          <p:cNvSpPr txBox="1"/>
          <p:nvPr/>
        </p:nvSpPr>
        <p:spPr>
          <a:xfrm>
            <a:off x="8678662" y="5948304"/>
            <a:ext cx="3342967"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Calibri"/>
                <a:ea typeface="Calibri"/>
                <a:cs typeface="Calibri"/>
              </a:rPr>
              <a:t>Complete each activity before </a:t>
            </a:r>
            <a:r>
              <a:rPr lang="en-US" sz="2400">
                <a:latin typeface="Calibri"/>
                <a:ea typeface="Calibri"/>
                <a:cs typeface="Calibri"/>
              </a:rPr>
              <a:t>moving on</a:t>
            </a:r>
            <a:endParaRPr lang="en-US" sz="2400" dirty="0">
              <a:latin typeface="Calibri"/>
              <a:ea typeface="Calibri"/>
              <a:cs typeface="Calibri"/>
            </a:endParaRPr>
          </a:p>
        </p:txBody>
      </p:sp>
    </p:spTree>
    <p:extLst>
      <p:ext uri="{BB962C8B-B14F-4D97-AF65-F5344CB8AC3E}">
        <p14:creationId xmlns:p14="http://schemas.microsoft.com/office/powerpoint/2010/main" val="2660089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96B88-2B22-07FA-E363-D3FD129438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56C336-AEAB-C69B-2B82-21BFA9B273A2}"/>
              </a:ext>
            </a:extLst>
          </p:cNvPr>
          <p:cNvSpPr>
            <a:spLocks noGrp="1"/>
          </p:cNvSpPr>
          <p:nvPr>
            <p:ph type="title"/>
          </p:nvPr>
        </p:nvSpPr>
        <p:spPr>
          <a:xfrm>
            <a:off x="437712" y="-1141193"/>
            <a:ext cx="10515600" cy="2852737"/>
          </a:xfrm>
        </p:spPr>
        <p:txBody>
          <a:bodyPr/>
          <a:lstStyle/>
          <a:p>
            <a:r>
              <a:rPr lang="en-US">
                <a:latin typeface="Calibri"/>
                <a:ea typeface="Calibri"/>
                <a:cs typeface="Calibri"/>
              </a:rPr>
              <a:t>Purpose</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B02077FE-8F26-B406-F8F4-9DE66E417020}"/>
              </a:ext>
            </a:extLst>
          </p:cNvPr>
          <p:cNvSpPr>
            <a:spLocks noGrp="1"/>
          </p:cNvSpPr>
          <p:nvPr>
            <p:ph type="body" idx="1"/>
          </p:nvPr>
        </p:nvSpPr>
        <p:spPr>
          <a:xfrm>
            <a:off x="365453" y="1929032"/>
            <a:ext cx="10515600" cy="1500187"/>
          </a:xfrm>
        </p:spPr>
        <p:txBody>
          <a:bodyPr vert="horz" lIns="91440" tIns="45720" rIns="91440" bIns="45720" rtlCol="0" anchor="t">
            <a:normAutofit/>
          </a:bodyPr>
          <a:lstStyle/>
          <a:p>
            <a:r>
              <a:rPr lang="en-US" sz="2800">
                <a:solidFill>
                  <a:schemeClr val="tx1"/>
                </a:solidFill>
                <a:latin typeface="Calibri"/>
                <a:ea typeface="Calibri"/>
                <a:cs typeface="Calibri"/>
              </a:rPr>
              <a:t>AI can support teachers and students.</a:t>
            </a:r>
            <a:endParaRPr lang="en-US" sz="2800" dirty="0">
              <a:solidFill>
                <a:schemeClr val="tx1"/>
              </a:solidFill>
              <a:latin typeface="Calibri"/>
              <a:ea typeface="Calibri"/>
              <a:cs typeface="Calibri"/>
            </a:endParaRPr>
          </a:p>
          <a:p>
            <a:r>
              <a:rPr lang="en-US" sz="2800">
                <a:solidFill>
                  <a:schemeClr val="tx1"/>
                </a:solidFill>
                <a:latin typeface="Calibri"/>
                <a:ea typeface="Calibri"/>
                <a:cs typeface="Calibri"/>
              </a:rPr>
              <a:t>Responsible use improves </a:t>
            </a:r>
            <a:r>
              <a:rPr lang="en-US" sz="2800" dirty="0">
                <a:solidFill>
                  <a:schemeClr val="tx1"/>
                </a:solidFill>
                <a:latin typeface="Calibri"/>
                <a:ea typeface="Calibri"/>
                <a:cs typeface="Calibri"/>
              </a:rPr>
              <a:t>learning. </a:t>
            </a:r>
          </a:p>
        </p:txBody>
      </p:sp>
      <p:pic>
        <p:nvPicPr>
          <p:cNvPr id="4" name="Picture 3">
            <a:extLst>
              <a:ext uri="{FF2B5EF4-FFF2-40B4-BE49-F238E27FC236}">
                <a16:creationId xmlns:a16="http://schemas.microsoft.com/office/drawing/2014/main" id="{93D0EFE4-8025-8761-9BAF-CE1FFCD34E4D}"/>
              </a:ext>
            </a:extLst>
          </p:cNvPr>
          <p:cNvPicPr>
            <a:picLocks noChangeAspect="1"/>
          </p:cNvPicPr>
          <p:nvPr/>
        </p:nvPicPr>
        <p:blipFill>
          <a:blip r:embed="rId3"/>
          <a:stretch>
            <a:fillRect/>
          </a:stretch>
        </p:blipFill>
        <p:spPr>
          <a:xfrm>
            <a:off x="366712" y="3240635"/>
            <a:ext cx="5730438" cy="3332765"/>
          </a:xfrm>
          <a:prstGeom prst="rect">
            <a:avLst/>
          </a:prstGeom>
        </p:spPr>
      </p:pic>
      <p:pic>
        <p:nvPicPr>
          <p:cNvPr id="5" name="Picture 4">
            <a:extLst>
              <a:ext uri="{FF2B5EF4-FFF2-40B4-BE49-F238E27FC236}">
                <a16:creationId xmlns:a16="http://schemas.microsoft.com/office/drawing/2014/main" id="{55D0E618-3CB7-CB81-A3C8-DE64C47982ED}"/>
              </a:ext>
            </a:extLst>
          </p:cNvPr>
          <p:cNvPicPr>
            <a:picLocks noChangeAspect="1"/>
          </p:cNvPicPr>
          <p:nvPr/>
        </p:nvPicPr>
        <p:blipFill>
          <a:blip r:embed="rId4"/>
          <a:stretch>
            <a:fillRect/>
          </a:stretch>
        </p:blipFill>
        <p:spPr>
          <a:xfrm>
            <a:off x="6911975" y="1581604"/>
            <a:ext cx="5276850" cy="5276850"/>
          </a:xfrm>
          <a:prstGeom prst="rect">
            <a:avLst/>
          </a:prstGeom>
        </p:spPr>
      </p:pic>
    </p:spTree>
    <p:extLst>
      <p:ext uri="{BB962C8B-B14F-4D97-AF65-F5344CB8AC3E}">
        <p14:creationId xmlns:p14="http://schemas.microsoft.com/office/powerpoint/2010/main" val="3894508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76299-0078-21D9-6C17-D6222F5BE2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E0FBBE-7A07-2F13-92B4-D9857184D4F6}"/>
              </a:ext>
            </a:extLst>
          </p:cNvPr>
          <p:cNvSpPr>
            <a:spLocks noGrp="1"/>
          </p:cNvSpPr>
          <p:nvPr>
            <p:ph type="title"/>
          </p:nvPr>
        </p:nvSpPr>
        <p:spPr>
          <a:xfrm>
            <a:off x="437712" y="-1141193"/>
            <a:ext cx="10515600" cy="2852737"/>
          </a:xfrm>
        </p:spPr>
        <p:txBody>
          <a:bodyPr/>
          <a:lstStyle/>
          <a:p>
            <a:r>
              <a:rPr lang="en-US" dirty="0">
                <a:latin typeface="Calibri"/>
                <a:ea typeface="Calibri"/>
                <a:cs typeface="Calibri"/>
              </a:rPr>
              <a:t>Expecta</a:t>
            </a:r>
            <a:r>
              <a:rPr lang="en-US">
                <a:latin typeface="Calibri"/>
                <a:ea typeface="Calibri"/>
                <a:cs typeface="Calibri"/>
              </a:rPr>
              <a:t>tions </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A1B3A67D-CE6E-9D10-5E92-FE6D6BB5DE64}"/>
              </a:ext>
            </a:extLst>
          </p:cNvPr>
          <p:cNvSpPr>
            <a:spLocks noGrp="1"/>
          </p:cNvSpPr>
          <p:nvPr>
            <p:ph type="body" idx="1"/>
          </p:nvPr>
        </p:nvSpPr>
        <p:spPr>
          <a:xfrm>
            <a:off x="365453" y="1929032"/>
            <a:ext cx="10515600" cy="1500187"/>
          </a:xfrm>
        </p:spPr>
        <p:txBody>
          <a:bodyPr vert="horz" lIns="91440" tIns="45720" rIns="91440" bIns="45720" rtlCol="0" anchor="t">
            <a:normAutofit/>
          </a:bodyPr>
          <a:lstStyle/>
          <a:p>
            <a:r>
              <a:rPr lang="en-US" sz="2800" dirty="0">
                <a:solidFill>
                  <a:schemeClr val="tx1"/>
                </a:solidFill>
                <a:latin typeface="Calibri"/>
                <a:ea typeface="Calibri"/>
                <a:cs typeface="Calibri"/>
              </a:rPr>
              <a:t>Complete every activity indepen</a:t>
            </a:r>
            <a:r>
              <a:rPr lang="en-US" sz="2800">
                <a:solidFill>
                  <a:schemeClr val="tx1"/>
                </a:solidFill>
                <a:latin typeface="Calibri"/>
                <a:ea typeface="Calibri"/>
                <a:cs typeface="Calibri"/>
              </a:rPr>
              <a:t>dently. </a:t>
            </a:r>
            <a:endParaRPr lang="en-US" sz="2800" dirty="0">
              <a:solidFill>
                <a:schemeClr val="tx1"/>
              </a:solidFill>
              <a:latin typeface="Calibri"/>
              <a:ea typeface="Calibri"/>
              <a:cs typeface="Calibri"/>
            </a:endParaRPr>
          </a:p>
          <a:p>
            <a:r>
              <a:rPr lang="en-US" sz="2800">
                <a:solidFill>
                  <a:schemeClr val="tx1"/>
                </a:solidFill>
                <a:latin typeface="Calibri"/>
                <a:ea typeface="Calibri"/>
                <a:cs typeface="Calibri"/>
              </a:rPr>
              <a:t>Finish the lesson and final assessment.</a:t>
            </a:r>
            <a:endParaRPr lang="en-US" sz="2800" dirty="0">
              <a:solidFill>
                <a:schemeClr val="tx1"/>
              </a:solidFill>
              <a:latin typeface="Calibri"/>
              <a:ea typeface="Calibri"/>
              <a:cs typeface="Calibri"/>
            </a:endParaRPr>
          </a:p>
        </p:txBody>
      </p:sp>
      <p:pic>
        <p:nvPicPr>
          <p:cNvPr id="6" name="Picture 5">
            <a:extLst>
              <a:ext uri="{FF2B5EF4-FFF2-40B4-BE49-F238E27FC236}">
                <a16:creationId xmlns:a16="http://schemas.microsoft.com/office/drawing/2014/main" id="{06A02F09-A4DF-535B-5F9C-8FA65A50134F}"/>
              </a:ext>
            </a:extLst>
          </p:cNvPr>
          <p:cNvPicPr>
            <a:picLocks noChangeAspect="1"/>
          </p:cNvPicPr>
          <p:nvPr/>
        </p:nvPicPr>
        <p:blipFill>
          <a:blip r:embed="rId3"/>
          <a:stretch>
            <a:fillRect/>
          </a:stretch>
        </p:blipFill>
        <p:spPr>
          <a:xfrm>
            <a:off x="436336" y="3428093"/>
            <a:ext cx="3728357" cy="2752271"/>
          </a:xfrm>
          <a:prstGeom prst="rect">
            <a:avLst/>
          </a:prstGeom>
        </p:spPr>
      </p:pic>
      <p:sp>
        <p:nvSpPr>
          <p:cNvPr id="7" name="TextBox 6">
            <a:extLst>
              <a:ext uri="{FF2B5EF4-FFF2-40B4-BE49-F238E27FC236}">
                <a16:creationId xmlns:a16="http://schemas.microsoft.com/office/drawing/2014/main" id="{DF5EE612-1AF1-B7AE-B950-03493731DC8C}"/>
              </a:ext>
            </a:extLst>
          </p:cNvPr>
          <p:cNvSpPr txBox="1"/>
          <p:nvPr/>
        </p:nvSpPr>
        <p:spPr>
          <a:xfrm>
            <a:off x="4800196" y="3840371"/>
            <a:ext cx="6152444"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Calibri"/>
                <a:ea typeface="Calibri"/>
                <a:cs typeface="Calibri"/>
              </a:rPr>
              <a:t>✅ Complete every activity </a:t>
            </a:r>
          </a:p>
          <a:p>
            <a:endParaRPr lang="en-US" sz="2400" dirty="0">
              <a:latin typeface="Calibri"/>
              <a:ea typeface="Calibri"/>
              <a:cs typeface="Calibri"/>
            </a:endParaRPr>
          </a:p>
          <a:p>
            <a:r>
              <a:rPr lang="en-US" sz="2400">
                <a:latin typeface="Calibri"/>
                <a:ea typeface="Calibri"/>
                <a:cs typeface="Calibri"/>
              </a:rPr>
              <a:t>✅ Participate honestly </a:t>
            </a:r>
          </a:p>
          <a:p>
            <a:endParaRPr lang="en-US" sz="2400" dirty="0">
              <a:latin typeface="Calibri"/>
              <a:ea typeface="Calibri"/>
              <a:cs typeface="Calibri"/>
            </a:endParaRPr>
          </a:p>
          <a:p>
            <a:r>
              <a:rPr lang="en-US" sz="2400">
                <a:latin typeface="Calibri"/>
                <a:ea typeface="Calibri"/>
                <a:cs typeface="Calibri"/>
              </a:rPr>
              <a:t>✅ Finish the lesson </a:t>
            </a:r>
            <a:endParaRPr lang="en-US">
              <a:latin typeface="Calibri"/>
              <a:ea typeface="Calibri"/>
              <a:cs typeface="Calibri"/>
            </a:endParaRPr>
          </a:p>
        </p:txBody>
      </p:sp>
    </p:spTree>
    <p:extLst>
      <p:ext uri="{BB962C8B-B14F-4D97-AF65-F5344CB8AC3E}">
        <p14:creationId xmlns:p14="http://schemas.microsoft.com/office/powerpoint/2010/main" val="1997476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64525-8098-C998-8C82-14D2BF24FE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2D2018-097D-1F4A-A84D-55C3AD629772}"/>
              </a:ext>
            </a:extLst>
          </p:cNvPr>
          <p:cNvSpPr>
            <a:spLocks noGrp="1"/>
          </p:cNvSpPr>
          <p:nvPr>
            <p:ph type="title"/>
          </p:nvPr>
        </p:nvSpPr>
        <p:spPr>
          <a:xfrm>
            <a:off x="437712" y="-1141193"/>
            <a:ext cx="10515600" cy="2852737"/>
          </a:xfrm>
        </p:spPr>
        <p:txBody>
          <a:bodyPr/>
          <a:lstStyle/>
          <a:p>
            <a:r>
              <a:rPr lang="en-US" dirty="0">
                <a:latin typeface="Calibri"/>
                <a:ea typeface="Calibri"/>
                <a:cs typeface="Calibri"/>
              </a:rPr>
              <a:t>Technolo</a:t>
            </a:r>
            <a:r>
              <a:rPr lang="en-US">
                <a:latin typeface="Calibri"/>
                <a:ea typeface="Calibri"/>
                <a:cs typeface="Calibri"/>
              </a:rPr>
              <a:t>gy  </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B3554D11-16CF-8CBA-7BB9-3C64B1947C68}"/>
              </a:ext>
            </a:extLst>
          </p:cNvPr>
          <p:cNvSpPr>
            <a:spLocks noGrp="1"/>
          </p:cNvSpPr>
          <p:nvPr>
            <p:ph type="body" idx="1"/>
          </p:nvPr>
        </p:nvSpPr>
        <p:spPr>
          <a:xfrm>
            <a:off x="365453" y="1929032"/>
            <a:ext cx="10515600" cy="1500187"/>
          </a:xfrm>
        </p:spPr>
        <p:txBody>
          <a:bodyPr vert="horz" lIns="91440" tIns="45720" rIns="91440" bIns="45720" rtlCol="0" anchor="t">
            <a:normAutofit/>
          </a:bodyPr>
          <a:lstStyle/>
          <a:p>
            <a:r>
              <a:rPr lang="en-US" sz="2800">
                <a:solidFill>
                  <a:schemeClr val="tx1"/>
                </a:solidFill>
                <a:latin typeface="Calibri"/>
                <a:ea typeface="Calibri"/>
                <a:cs typeface="Calibri"/>
              </a:rPr>
              <a:t>A computer and internet connection are required. </a:t>
            </a:r>
            <a:endParaRPr lang="en-US" sz="2800" dirty="0">
              <a:solidFill>
                <a:schemeClr val="tx1"/>
              </a:solidFill>
              <a:latin typeface="Calibri"/>
              <a:ea typeface="Calibri"/>
              <a:cs typeface="Calibri"/>
            </a:endParaRPr>
          </a:p>
          <a:p>
            <a:r>
              <a:rPr lang="en-US" sz="2800">
                <a:solidFill>
                  <a:schemeClr val="tx1"/>
                </a:solidFill>
                <a:latin typeface="Calibri"/>
                <a:ea typeface="Calibri"/>
                <a:cs typeface="Calibri"/>
              </a:rPr>
              <a:t>Speakers or headphones are recommended. </a:t>
            </a:r>
            <a:endParaRPr lang="en-US" sz="2800" dirty="0">
              <a:solidFill>
                <a:schemeClr val="tx1"/>
              </a:solidFill>
              <a:latin typeface="Calibri"/>
              <a:ea typeface="Calibri"/>
              <a:cs typeface="Calibri"/>
            </a:endParaRPr>
          </a:p>
        </p:txBody>
      </p:sp>
      <p:sp>
        <p:nvSpPr>
          <p:cNvPr id="7" name="TextBox 6">
            <a:extLst>
              <a:ext uri="{FF2B5EF4-FFF2-40B4-BE49-F238E27FC236}">
                <a16:creationId xmlns:a16="http://schemas.microsoft.com/office/drawing/2014/main" id="{3D56ED40-D117-0665-CA4B-BCB2034EF624}"/>
              </a:ext>
            </a:extLst>
          </p:cNvPr>
          <p:cNvSpPr txBox="1"/>
          <p:nvPr/>
        </p:nvSpPr>
        <p:spPr>
          <a:xfrm>
            <a:off x="5460596" y="3426715"/>
            <a:ext cx="6130673"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800">
                <a:latin typeface="Calibri"/>
                <a:ea typeface="Calibri"/>
                <a:cs typeface="Calibri"/>
              </a:rPr>
              <a:t>Required:</a:t>
            </a:r>
            <a:endParaRPr lang="en-US" sz="2800" dirty="0">
              <a:latin typeface="Calibri"/>
              <a:ea typeface="Calibri"/>
              <a:cs typeface="Calibri"/>
            </a:endParaRPr>
          </a:p>
          <a:p>
            <a:pPr marL="342900" indent="-342900">
              <a:lnSpc>
                <a:spcPct val="150000"/>
              </a:lnSpc>
              <a:buFont typeface="Calibri"/>
              <a:buChar char="-"/>
            </a:pPr>
            <a:r>
              <a:rPr lang="en-US" sz="2800">
                <a:latin typeface="Calibri"/>
                <a:ea typeface="Calibri"/>
                <a:cs typeface="Calibri"/>
              </a:rPr>
              <a:t>Computer </a:t>
            </a:r>
            <a:endParaRPr lang="en-US" sz="2800" dirty="0">
              <a:latin typeface="Calibri"/>
              <a:ea typeface="Calibri"/>
              <a:cs typeface="Calibri"/>
            </a:endParaRPr>
          </a:p>
          <a:p>
            <a:pPr marL="342900" indent="-342900">
              <a:lnSpc>
                <a:spcPct val="150000"/>
              </a:lnSpc>
              <a:buFont typeface="Calibri"/>
              <a:buChar char="-"/>
            </a:pPr>
            <a:r>
              <a:rPr lang="en-US" sz="2800">
                <a:latin typeface="Calibri"/>
                <a:ea typeface="Calibri"/>
                <a:cs typeface="Calibri"/>
              </a:rPr>
              <a:t>Internet </a:t>
            </a:r>
            <a:endParaRPr lang="en-US" sz="2800" dirty="0">
              <a:latin typeface="Calibri"/>
              <a:ea typeface="Calibri"/>
              <a:cs typeface="Calibri"/>
            </a:endParaRPr>
          </a:p>
          <a:p>
            <a:pPr marL="342900" indent="-342900">
              <a:lnSpc>
                <a:spcPct val="150000"/>
              </a:lnSpc>
              <a:buFont typeface="Calibri"/>
              <a:buChar char="-"/>
            </a:pPr>
            <a:r>
              <a:rPr lang="en-US" sz="2800">
                <a:latin typeface="Calibri"/>
                <a:ea typeface="Calibri"/>
                <a:cs typeface="Calibri"/>
              </a:rPr>
              <a:t>Audio</a:t>
            </a:r>
            <a:endParaRPr lang="en-US" sz="2800" dirty="0">
              <a:latin typeface="Calibri"/>
              <a:ea typeface="Calibri"/>
              <a:cs typeface="Calibri"/>
            </a:endParaRPr>
          </a:p>
          <a:p>
            <a:endParaRPr lang="en-US" sz="2400" dirty="0">
              <a:latin typeface="Calibri"/>
              <a:ea typeface="Calibri"/>
              <a:cs typeface="Calibri"/>
            </a:endParaRPr>
          </a:p>
        </p:txBody>
      </p:sp>
      <p:pic>
        <p:nvPicPr>
          <p:cNvPr id="4" name="Picture 3">
            <a:extLst>
              <a:ext uri="{FF2B5EF4-FFF2-40B4-BE49-F238E27FC236}">
                <a16:creationId xmlns:a16="http://schemas.microsoft.com/office/drawing/2014/main" id="{51072722-F36B-D5BD-A6E4-0C759E21690B}"/>
              </a:ext>
            </a:extLst>
          </p:cNvPr>
          <p:cNvPicPr>
            <a:picLocks noChangeAspect="1"/>
          </p:cNvPicPr>
          <p:nvPr/>
        </p:nvPicPr>
        <p:blipFill>
          <a:blip r:embed="rId3"/>
          <a:stretch>
            <a:fillRect/>
          </a:stretch>
        </p:blipFill>
        <p:spPr>
          <a:xfrm>
            <a:off x="670833" y="3062062"/>
            <a:ext cx="3455307" cy="3498849"/>
          </a:xfrm>
          <a:prstGeom prst="rect">
            <a:avLst/>
          </a:prstGeom>
        </p:spPr>
      </p:pic>
    </p:spTree>
    <p:extLst>
      <p:ext uri="{BB962C8B-B14F-4D97-AF65-F5344CB8AC3E}">
        <p14:creationId xmlns:p14="http://schemas.microsoft.com/office/powerpoint/2010/main" val="1781866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17C7E-3F09-58A6-023A-625D8238CA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98596D-8415-D213-EEEA-1636366F9CF7}"/>
              </a:ext>
            </a:extLst>
          </p:cNvPr>
          <p:cNvSpPr>
            <a:spLocks noGrp="1"/>
          </p:cNvSpPr>
          <p:nvPr>
            <p:ph type="title"/>
          </p:nvPr>
        </p:nvSpPr>
        <p:spPr>
          <a:xfrm>
            <a:off x="437712" y="-1141193"/>
            <a:ext cx="10515600" cy="2852737"/>
          </a:xfrm>
        </p:spPr>
        <p:txBody>
          <a:bodyPr/>
          <a:lstStyle/>
          <a:p>
            <a:r>
              <a:rPr lang="en-US">
                <a:latin typeface="Calibri"/>
                <a:ea typeface="Calibri"/>
                <a:cs typeface="Calibri"/>
              </a:rPr>
              <a:t>Meet Alex</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5B84A91E-1909-B9E6-F841-46D1109CD71A}"/>
              </a:ext>
            </a:extLst>
          </p:cNvPr>
          <p:cNvSpPr>
            <a:spLocks noGrp="1"/>
          </p:cNvSpPr>
          <p:nvPr>
            <p:ph type="body" idx="1"/>
          </p:nvPr>
        </p:nvSpPr>
        <p:spPr>
          <a:xfrm>
            <a:off x="365453" y="1929032"/>
            <a:ext cx="10515600" cy="1500187"/>
          </a:xfrm>
        </p:spPr>
        <p:txBody>
          <a:bodyPr vert="horz" lIns="91440" tIns="45720" rIns="91440" bIns="45720" rtlCol="0" anchor="t">
            <a:normAutofit/>
          </a:bodyPr>
          <a:lstStyle/>
          <a:p>
            <a:r>
              <a:rPr lang="en-US" sz="2800">
                <a:solidFill>
                  <a:schemeClr val="tx1"/>
                </a:solidFill>
                <a:latin typeface="Calibri"/>
                <a:ea typeface="Calibri"/>
                <a:cs typeface="Calibri"/>
              </a:rPr>
              <a:t>Alex will guide you through this lesson. </a:t>
            </a:r>
            <a:endParaRPr lang="en-US" sz="2800" dirty="0">
              <a:solidFill>
                <a:schemeClr val="tx1"/>
              </a:solidFill>
              <a:latin typeface="Calibri"/>
              <a:ea typeface="Calibri"/>
              <a:cs typeface="Calibri"/>
            </a:endParaRPr>
          </a:p>
          <a:p>
            <a:r>
              <a:rPr lang="en-US" sz="2800" dirty="0">
                <a:solidFill>
                  <a:schemeClr val="tx1"/>
                </a:solidFill>
                <a:latin typeface="Calibri"/>
                <a:ea typeface="Calibri"/>
                <a:cs typeface="Calibri"/>
              </a:rPr>
              <a:t>Let’s learn </a:t>
            </a:r>
            <a:r>
              <a:rPr lang="en-US" sz="2800">
                <a:solidFill>
                  <a:schemeClr val="tx1"/>
                </a:solidFill>
                <a:latin typeface="Calibri"/>
                <a:ea typeface="Calibri"/>
                <a:cs typeface="Calibri"/>
              </a:rPr>
              <a:t>together. </a:t>
            </a:r>
            <a:endParaRPr lang="en-US" sz="2800" dirty="0">
              <a:solidFill>
                <a:schemeClr val="tx1"/>
              </a:solidFill>
              <a:latin typeface="Calibri"/>
              <a:ea typeface="Calibri"/>
              <a:cs typeface="Calibri"/>
            </a:endParaRPr>
          </a:p>
        </p:txBody>
      </p:sp>
      <p:sp>
        <p:nvSpPr>
          <p:cNvPr id="7" name="TextBox 6">
            <a:extLst>
              <a:ext uri="{FF2B5EF4-FFF2-40B4-BE49-F238E27FC236}">
                <a16:creationId xmlns:a16="http://schemas.microsoft.com/office/drawing/2014/main" id="{AADBD3FB-99B2-F1BE-276B-A7C1733D4257}"/>
              </a:ext>
            </a:extLst>
          </p:cNvPr>
          <p:cNvSpPr txBox="1"/>
          <p:nvPr/>
        </p:nvSpPr>
        <p:spPr>
          <a:xfrm>
            <a:off x="3689853" y="4007285"/>
            <a:ext cx="615244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Calibri"/>
                <a:ea typeface="Calibri"/>
                <a:cs typeface="Calibri"/>
              </a:rPr>
              <a:t>Meet Alex </a:t>
            </a:r>
          </a:p>
          <a:p>
            <a:endParaRPr lang="en-US" sz="2400" dirty="0">
              <a:latin typeface="Calibri"/>
              <a:ea typeface="Calibri"/>
              <a:cs typeface="Calibri"/>
            </a:endParaRPr>
          </a:p>
          <a:p>
            <a:r>
              <a:rPr lang="en-US" sz="2400">
                <a:latin typeface="Calibri"/>
                <a:ea typeface="Calibri"/>
                <a:cs typeface="Calibri"/>
              </a:rPr>
              <a:t>Your AI Learning Guide </a:t>
            </a:r>
            <a:endParaRPr lang="en-US" sz="2400" dirty="0">
              <a:latin typeface="Calibri"/>
              <a:ea typeface="Calibri"/>
              <a:cs typeface="Calibri"/>
            </a:endParaRPr>
          </a:p>
        </p:txBody>
      </p:sp>
      <p:pic>
        <p:nvPicPr>
          <p:cNvPr id="4" name="Picture 3">
            <a:extLst>
              <a:ext uri="{FF2B5EF4-FFF2-40B4-BE49-F238E27FC236}">
                <a16:creationId xmlns:a16="http://schemas.microsoft.com/office/drawing/2014/main" id="{81E19A1A-FC73-E379-4514-9CEAB504A40F}"/>
              </a:ext>
            </a:extLst>
          </p:cNvPr>
          <p:cNvPicPr>
            <a:picLocks noChangeAspect="1"/>
          </p:cNvPicPr>
          <p:nvPr/>
        </p:nvPicPr>
        <p:blipFill>
          <a:blip r:embed="rId3"/>
          <a:stretch>
            <a:fillRect/>
          </a:stretch>
        </p:blipFill>
        <p:spPr>
          <a:xfrm>
            <a:off x="877207" y="3391808"/>
            <a:ext cx="2817585" cy="2824842"/>
          </a:xfrm>
          <a:prstGeom prst="rect">
            <a:avLst/>
          </a:prstGeom>
        </p:spPr>
      </p:pic>
    </p:spTree>
    <p:extLst>
      <p:ext uri="{BB962C8B-B14F-4D97-AF65-F5344CB8AC3E}">
        <p14:creationId xmlns:p14="http://schemas.microsoft.com/office/powerpoint/2010/main" val="4165255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4F095-CBA4-217D-24DB-E9EDADC2DCE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5FBE94-E0FB-5094-263A-224FDD243807}"/>
              </a:ext>
            </a:extLst>
          </p:cNvPr>
          <p:cNvSpPr>
            <a:spLocks noGrp="1"/>
          </p:cNvSpPr>
          <p:nvPr>
            <p:ph type="body" idx="1"/>
          </p:nvPr>
        </p:nvSpPr>
        <p:spPr>
          <a:xfrm>
            <a:off x="365453" y="775146"/>
            <a:ext cx="10508343" cy="2494415"/>
          </a:xfrm>
        </p:spPr>
        <p:txBody>
          <a:bodyPr vert="horz" lIns="91440" tIns="45720" rIns="91440" bIns="45720" rtlCol="0" anchor="t">
            <a:normAutofit/>
          </a:bodyPr>
          <a:lstStyle/>
          <a:p>
            <a:r>
              <a:rPr lang="en-US" sz="4000" b="1">
                <a:solidFill>
                  <a:srgbClr val="FF0000"/>
                </a:solidFill>
                <a:latin typeface="Calibri"/>
                <a:ea typeface="Calibri"/>
                <a:cs typeface="Calibri"/>
              </a:rPr>
              <a:t>Experience</a:t>
            </a:r>
          </a:p>
          <a:p>
            <a:endParaRPr lang="en-US" sz="2800" b="1" dirty="0">
              <a:solidFill>
                <a:schemeClr val="tx1"/>
              </a:solidFill>
              <a:latin typeface="Calibri"/>
              <a:ea typeface="Calibri"/>
              <a:cs typeface="Calibri"/>
            </a:endParaRPr>
          </a:p>
          <a:p>
            <a:r>
              <a:rPr lang="en-US" sz="2800" b="1">
                <a:solidFill>
                  <a:schemeClr val="tx1"/>
                </a:solidFill>
                <a:latin typeface="Calibri"/>
                <a:ea typeface="Calibri"/>
                <a:cs typeface="Calibri"/>
              </a:rPr>
              <a:t>Question: How familiar are you with AI in education? </a:t>
            </a:r>
            <a:endParaRPr lang="en-US" sz="2800" b="1" dirty="0">
              <a:solidFill>
                <a:schemeClr val="tx1"/>
              </a:solidFill>
              <a:latin typeface="Calibri"/>
              <a:ea typeface="Calibri"/>
              <a:cs typeface="Calibri"/>
            </a:endParaRPr>
          </a:p>
        </p:txBody>
      </p:sp>
      <p:sp>
        <p:nvSpPr>
          <p:cNvPr id="7" name="TextBox 6">
            <a:extLst>
              <a:ext uri="{FF2B5EF4-FFF2-40B4-BE49-F238E27FC236}">
                <a16:creationId xmlns:a16="http://schemas.microsoft.com/office/drawing/2014/main" id="{2DB17A0E-6AE7-89E7-66CC-E6DCB5CAE0C5}"/>
              </a:ext>
            </a:extLst>
          </p:cNvPr>
          <p:cNvSpPr txBox="1"/>
          <p:nvPr/>
        </p:nvSpPr>
        <p:spPr>
          <a:xfrm>
            <a:off x="366082" y="2744541"/>
            <a:ext cx="6820102" cy="40472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u="sng">
                <a:latin typeface="Calibri"/>
                <a:ea typeface="Calibri"/>
                <a:cs typeface="Calibri"/>
              </a:rPr>
              <a:t>Directions</a:t>
            </a:r>
            <a:endParaRPr lang="en-US" sz="2400" b="1" dirty="0">
              <a:latin typeface="Calibri"/>
              <a:ea typeface="Calibri"/>
              <a:cs typeface="Calibri"/>
            </a:endParaRPr>
          </a:p>
          <a:p>
            <a:r>
              <a:rPr lang="en-US" sz="2200" dirty="0">
                <a:latin typeface="Calibri"/>
                <a:ea typeface="Calibri"/>
                <a:cs typeface="Calibri"/>
              </a:rPr>
              <a:t>Turn the dial to choose your </a:t>
            </a:r>
            <a:r>
              <a:rPr lang="en-US" sz="2200">
                <a:latin typeface="Calibri"/>
                <a:ea typeface="Calibri"/>
                <a:cs typeface="Calibri"/>
              </a:rPr>
              <a:t>experience level. </a:t>
            </a:r>
            <a:endParaRPr lang="en-US" sz="2200" dirty="0">
              <a:latin typeface="Calibri"/>
              <a:ea typeface="Calibri"/>
              <a:cs typeface="Calibri"/>
            </a:endParaRPr>
          </a:p>
          <a:p>
            <a:endParaRPr lang="en-US" sz="2200" dirty="0">
              <a:latin typeface="Calibri"/>
              <a:ea typeface="Calibri"/>
              <a:cs typeface="Calibri"/>
            </a:endParaRPr>
          </a:p>
          <a:p>
            <a:pPr>
              <a:lnSpc>
                <a:spcPct val="150000"/>
              </a:lnSpc>
            </a:pPr>
            <a:r>
              <a:rPr lang="en-US" sz="2200">
                <a:latin typeface="Calibri"/>
                <a:ea typeface="Calibri"/>
                <a:cs typeface="Calibri"/>
              </a:rPr>
              <a:t>1- Never Used AI</a:t>
            </a:r>
            <a:endParaRPr lang="en-US" sz="2200" dirty="0">
              <a:latin typeface="Calibri"/>
              <a:ea typeface="Calibri"/>
              <a:cs typeface="Calibri"/>
            </a:endParaRPr>
          </a:p>
          <a:p>
            <a:pPr>
              <a:lnSpc>
                <a:spcPct val="150000"/>
              </a:lnSpc>
            </a:pPr>
            <a:r>
              <a:rPr lang="en-US" sz="2200">
                <a:latin typeface="Calibri"/>
                <a:ea typeface="Calibri"/>
                <a:cs typeface="Calibri"/>
              </a:rPr>
              <a:t>2- Heard of AI</a:t>
            </a:r>
            <a:endParaRPr lang="en-US" sz="2200" dirty="0">
              <a:latin typeface="Calibri"/>
              <a:ea typeface="Calibri"/>
              <a:cs typeface="Calibri"/>
            </a:endParaRPr>
          </a:p>
          <a:p>
            <a:pPr>
              <a:lnSpc>
                <a:spcPct val="150000"/>
              </a:lnSpc>
            </a:pPr>
            <a:r>
              <a:rPr lang="en-US" sz="2200">
                <a:latin typeface="Calibri"/>
                <a:ea typeface="Calibri"/>
                <a:cs typeface="Calibri"/>
              </a:rPr>
              <a:t>3- Used AI Sometimes </a:t>
            </a:r>
            <a:endParaRPr lang="en-US" sz="2200" dirty="0">
              <a:latin typeface="Calibri"/>
              <a:ea typeface="Calibri"/>
              <a:cs typeface="Calibri"/>
            </a:endParaRPr>
          </a:p>
          <a:p>
            <a:pPr>
              <a:lnSpc>
                <a:spcPct val="150000"/>
              </a:lnSpc>
            </a:pPr>
            <a:r>
              <a:rPr lang="en-US" sz="2200" dirty="0">
                <a:latin typeface="Calibri"/>
                <a:ea typeface="Calibri"/>
                <a:cs typeface="Calibri"/>
              </a:rPr>
              <a:t>4- </a:t>
            </a:r>
            <a:r>
              <a:rPr lang="en-US" sz="2200">
                <a:latin typeface="Calibri"/>
                <a:ea typeface="Calibri"/>
                <a:cs typeface="Calibri"/>
              </a:rPr>
              <a:t>Comfortable </a:t>
            </a:r>
            <a:endParaRPr lang="en-US" sz="2200" dirty="0">
              <a:latin typeface="Calibri"/>
              <a:ea typeface="Calibri"/>
              <a:cs typeface="Calibri"/>
            </a:endParaRPr>
          </a:p>
          <a:p>
            <a:pPr>
              <a:lnSpc>
                <a:spcPct val="150000"/>
              </a:lnSpc>
            </a:pPr>
            <a:r>
              <a:rPr lang="en-US" sz="2200" dirty="0">
                <a:latin typeface="Calibri"/>
                <a:ea typeface="Calibri"/>
                <a:cs typeface="Calibri"/>
              </a:rPr>
              <a:t>5- Very Expe</a:t>
            </a:r>
            <a:r>
              <a:rPr lang="en-US" sz="2200">
                <a:latin typeface="Calibri"/>
                <a:ea typeface="Calibri"/>
                <a:cs typeface="Calibri"/>
              </a:rPr>
              <a:t>rienced </a:t>
            </a:r>
            <a:endParaRPr lang="en-US" sz="2200" dirty="0">
              <a:latin typeface="Calibri"/>
              <a:ea typeface="Calibri"/>
              <a:cs typeface="Calibri"/>
            </a:endParaRPr>
          </a:p>
          <a:p>
            <a:endParaRPr lang="en-US" sz="2400" dirty="0">
              <a:latin typeface="Calibri"/>
              <a:ea typeface="Calibri"/>
              <a:cs typeface="Calibri"/>
            </a:endParaRPr>
          </a:p>
        </p:txBody>
      </p:sp>
      <p:pic>
        <p:nvPicPr>
          <p:cNvPr id="4" name="Picture 3">
            <a:extLst>
              <a:ext uri="{FF2B5EF4-FFF2-40B4-BE49-F238E27FC236}">
                <a16:creationId xmlns:a16="http://schemas.microsoft.com/office/drawing/2014/main" id="{578A2573-4B50-7DE2-54FC-4B9801319EA2}"/>
              </a:ext>
            </a:extLst>
          </p:cNvPr>
          <p:cNvPicPr>
            <a:picLocks noChangeAspect="1"/>
          </p:cNvPicPr>
          <p:nvPr/>
        </p:nvPicPr>
        <p:blipFill>
          <a:blip r:embed="rId3"/>
          <a:stretch>
            <a:fillRect/>
          </a:stretch>
        </p:blipFill>
        <p:spPr>
          <a:xfrm>
            <a:off x="9301843" y="408214"/>
            <a:ext cx="1904999" cy="2035628"/>
          </a:xfrm>
          <a:prstGeom prst="rect">
            <a:avLst/>
          </a:prstGeom>
        </p:spPr>
      </p:pic>
      <p:sp>
        <p:nvSpPr>
          <p:cNvPr id="9" name="TextBox 8">
            <a:extLst>
              <a:ext uri="{FF2B5EF4-FFF2-40B4-BE49-F238E27FC236}">
                <a16:creationId xmlns:a16="http://schemas.microsoft.com/office/drawing/2014/main" id="{B26861C4-A37E-7615-B48D-B4ED6C63EC86}"/>
              </a:ext>
            </a:extLst>
          </p:cNvPr>
          <p:cNvSpPr txBox="1"/>
          <p:nvPr/>
        </p:nvSpPr>
        <p:spPr>
          <a:xfrm>
            <a:off x="7185378" y="2744274"/>
            <a:ext cx="3668888" cy="33595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400">
                <a:latin typeface="Calibri"/>
                <a:ea typeface="Calibri"/>
                <a:cs typeface="Calibri"/>
              </a:rPr>
              <a:t>Character State Changes </a:t>
            </a:r>
            <a:endParaRPr lang="en-US">
              <a:latin typeface="Calibri"/>
              <a:ea typeface="Calibri"/>
              <a:cs typeface="Calibri"/>
            </a:endParaRPr>
          </a:p>
          <a:p>
            <a:pPr>
              <a:lnSpc>
                <a:spcPct val="150000"/>
              </a:lnSpc>
            </a:pPr>
            <a:r>
              <a:rPr lang="en-US" sz="2400">
                <a:latin typeface="Calibri"/>
                <a:ea typeface="Calibri"/>
                <a:cs typeface="Calibri"/>
              </a:rPr>
              <a:t>1 😟 Concerned</a:t>
            </a:r>
          </a:p>
          <a:p>
            <a:pPr>
              <a:lnSpc>
                <a:spcPct val="150000"/>
              </a:lnSpc>
            </a:pPr>
            <a:r>
              <a:rPr lang="en-US" sz="2400">
                <a:latin typeface="Calibri"/>
                <a:ea typeface="Calibri"/>
                <a:cs typeface="Calibri"/>
              </a:rPr>
              <a:t>2 😐 Neutral </a:t>
            </a:r>
            <a:endParaRPr lang="en-US" sz="2400" dirty="0">
              <a:latin typeface="Calibri"/>
              <a:ea typeface="Calibri"/>
              <a:cs typeface="Calibri"/>
            </a:endParaRPr>
          </a:p>
          <a:p>
            <a:pPr>
              <a:lnSpc>
                <a:spcPct val="150000"/>
              </a:lnSpc>
            </a:pPr>
            <a:r>
              <a:rPr lang="en-US" sz="2400">
                <a:latin typeface="Calibri"/>
                <a:ea typeface="Calibri"/>
                <a:cs typeface="Calibri"/>
              </a:rPr>
              <a:t>3 🙂 Smiling </a:t>
            </a:r>
          </a:p>
          <a:p>
            <a:pPr>
              <a:lnSpc>
                <a:spcPct val="150000"/>
              </a:lnSpc>
            </a:pPr>
            <a:r>
              <a:rPr lang="en-US" sz="2400">
                <a:latin typeface="Calibri"/>
                <a:ea typeface="Calibri"/>
                <a:cs typeface="Calibri"/>
              </a:rPr>
              <a:t>4 </a:t>
            </a:r>
            <a:r>
              <a:rPr lang="en-US" sz="2400" dirty="0">
                <a:latin typeface="Calibri"/>
                <a:ea typeface="Calibri"/>
                <a:cs typeface="Calibri"/>
              </a:rPr>
              <a:t>😄 Happy </a:t>
            </a:r>
          </a:p>
          <a:p>
            <a:pPr>
              <a:lnSpc>
                <a:spcPct val="150000"/>
              </a:lnSpc>
            </a:pPr>
            <a:r>
              <a:rPr lang="en-US" sz="2400">
                <a:latin typeface="Calibri"/>
                <a:ea typeface="Calibri"/>
                <a:cs typeface="Calibri"/>
              </a:rPr>
              <a:t>5 🤩 </a:t>
            </a:r>
            <a:r>
              <a:rPr lang="en-US" sz="2400" dirty="0">
                <a:latin typeface="Calibri"/>
                <a:ea typeface="Calibri"/>
                <a:cs typeface="Calibri"/>
              </a:rPr>
              <a:t>Excited </a:t>
            </a:r>
          </a:p>
        </p:txBody>
      </p:sp>
    </p:spTree>
    <p:extLst>
      <p:ext uri="{BB962C8B-B14F-4D97-AF65-F5344CB8AC3E}">
        <p14:creationId xmlns:p14="http://schemas.microsoft.com/office/powerpoint/2010/main" val="16975843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22C31-BA77-9F6F-2C5D-FBAD66ABA3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B68570-F298-DF5F-81F6-19FA382D558D}"/>
              </a:ext>
            </a:extLst>
          </p:cNvPr>
          <p:cNvSpPr>
            <a:spLocks noGrp="1"/>
          </p:cNvSpPr>
          <p:nvPr>
            <p:ph type="title"/>
          </p:nvPr>
        </p:nvSpPr>
        <p:spPr>
          <a:xfrm>
            <a:off x="437712" y="-1141193"/>
            <a:ext cx="10515600" cy="2852737"/>
          </a:xfrm>
        </p:spPr>
        <p:txBody>
          <a:bodyPr/>
          <a:lstStyle/>
          <a:p>
            <a:r>
              <a:rPr lang="en-US">
                <a:latin typeface="Calibri"/>
                <a:ea typeface="Calibri"/>
                <a:cs typeface="Calibri"/>
              </a:rPr>
              <a:t>Reflection</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5FC09BCE-AF37-1852-623B-B3F4E2A41747}"/>
              </a:ext>
            </a:extLst>
          </p:cNvPr>
          <p:cNvSpPr>
            <a:spLocks noGrp="1"/>
          </p:cNvSpPr>
          <p:nvPr>
            <p:ph type="body" idx="1"/>
          </p:nvPr>
        </p:nvSpPr>
        <p:spPr>
          <a:xfrm>
            <a:off x="365453" y="1929032"/>
            <a:ext cx="10515600" cy="1500187"/>
          </a:xfrm>
        </p:spPr>
        <p:txBody>
          <a:bodyPr vert="horz" lIns="91440" tIns="45720" rIns="91440" bIns="45720" rtlCol="0" anchor="t">
            <a:normAutofit/>
          </a:bodyPr>
          <a:lstStyle/>
          <a:p>
            <a:r>
              <a:rPr lang="en-US" sz="2800">
                <a:solidFill>
                  <a:schemeClr val="tx1"/>
                </a:solidFill>
                <a:latin typeface="Calibri"/>
                <a:ea typeface="Calibri"/>
                <a:cs typeface="Calibri"/>
              </a:rPr>
              <a:t>Everyone begins somewhere. </a:t>
            </a:r>
          </a:p>
          <a:p>
            <a:r>
              <a:rPr lang="en-US" sz="2800">
                <a:solidFill>
                  <a:schemeClr val="tx1"/>
                </a:solidFill>
                <a:latin typeface="Calibri"/>
                <a:ea typeface="Calibri"/>
                <a:cs typeface="Calibri"/>
              </a:rPr>
              <a:t>This lesson is for every experience level. </a:t>
            </a:r>
          </a:p>
        </p:txBody>
      </p:sp>
      <p:pic>
        <p:nvPicPr>
          <p:cNvPr id="4" name="Picture 3">
            <a:extLst>
              <a:ext uri="{FF2B5EF4-FFF2-40B4-BE49-F238E27FC236}">
                <a16:creationId xmlns:a16="http://schemas.microsoft.com/office/drawing/2014/main" id="{D37CA1F3-842B-1BEE-369C-8562B9022372}"/>
              </a:ext>
            </a:extLst>
          </p:cNvPr>
          <p:cNvPicPr>
            <a:picLocks noChangeAspect="1"/>
          </p:cNvPicPr>
          <p:nvPr/>
        </p:nvPicPr>
        <p:blipFill>
          <a:blip r:embed="rId3"/>
          <a:stretch>
            <a:fillRect/>
          </a:stretch>
        </p:blipFill>
        <p:spPr>
          <a:xfrm>
            <a:off x="3464833" y="3112859"/>
            <a:ext cx="3941537" cy="3331938"/>
          </a:xfrm>
          <a:prstGeom prst="rect">
            <a:avLst/>
          </a:prstGeom>
        </p:spPr>
      </p:pic>
    </p:spTree>
    <p:extLst>
      <p:ext uri="{BB962C8B-B14F-4D97-AF65-F5344CB8AC3E}">
        <p14:creationId xmlns:p14="http://schemas.microsoft.com/office/powerpoint/2010/main" val="20882128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F5933-EF49-7BC9-D413-89A6BA7507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7173D5-9E7A-D4CC-F97E-45BFB10E275D}"/>
              </a:ext>
            </a:extLst>
          </p:cNvPr>
          <p:cNvSpPr>
            <a:spLocks noGrp="1"/>
          </p:cNvSpPr>
          <p:nvPr>
            <p:ph type="title"/>
          </p:nvPr>
        </p:nvSpPr>
        <p:spPr>
          <a:xfrm>
            <a:off x="437712" y="-1141193"/>
            <a:ext cx="10515600" cy="2852737"/>
          </a:xfrm>
        </p:spPr>
        <p:txBody>
          <a:bodyPr/>
          <a:lstStyle/>
          <a:p>
            <a:r>
              <a:rPr lang="en-US">
                <a:latin typeface="Calibri"/>
                <a:ea typeface="Calibri"/>
                <a:cs typeface="Calibri"/>
              </a:rPr>
              <a:t>Confidence</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10633A82-46B9-63B3-DDB9-B6F4C5A64B1F}"/>
              </a:ext>
            </a:extLst>
          </p:cNvPr>
          <p:cNvSpPr>
            <a:spLocks noGrp="1"/>
          </p:cNvSpPr>
          <p:nvPr>
            <p:ph type="body" idx="1"/>
          </p:nvPr>
        </p:nvSpPr>
        <p:spPr>
          <a:xfrm>
            <a:off x="365453" y="1929032"/>
            <a:ext cx="10515600" cy="1500187"/>
          </a:xfrm>
        </p:spPr>
        <p:txBody>
          <a:bodyPr vert="horz" lIns="91440" tIns="45720" rIns="91440" bIns="45720" rtlCol="0" anchor="t">
            <a:normAutofit fontScale="77500" lnSpcReduction="20000"/>
          </a:bodyPr>
          <a:lstStyle/>
          <a:p>
            <a:r>
              <a:rPr lang="en-US" sz="2800" dirty="0">
                <a:solidFill>
                  <a:schemeClr val="tx1"/>
                </a:solidFill>
                <a:latin typeface="Calibri"/>
                <a:ea typeface="Calibri"/>
                <a:cs typeface="Calibri"/>
              </a:rPr>
              <a:t>Question: How confiden</a:t>
            </a:r>
            <a:r>
              <a:rPr lang="en-US" sz="2800">
                <a:solidFill>
                  <a:schemeClr val="tx1"/>
                </a:solidFill>
                <a:latin typeface="Calibri"/>
                <a:ea typeface="Calibri"/>
                <a:cs typeface="Calibri"/>
              </a:rPr>
              <a:t>t are you using AI in your classroom?</a:t>
            </a:r>
          </a:p>
          <a:p>
            <a:endParaRPr lang="en-US" sz="2800" dirty="0">
              <a:solidFill>
                <a:schemeClr val="tx1"/>
              </a:solidFill>
              <a:latin typeface="Calibri"/>
              <a:ea typeface="Calibri"/>
              <a:cs typeface="Calibri"/>
            </a:endParaRPr>
          </a:p>
          <a:p>
            <a:r>
              <a:rPr lang="en-US" sz="2800">
                <a:solidFill>
                  <a:schemeClr val="tx1"/>
                </a:solidFill>
                <a:latin typeface="Calibri"/>
                <a:ea typeface="Calibri"/>
                <a:cs typeface="Calibri"/>
              </a:rPr>
              <a:t>Directions</a:t>
            </a:r>
          </a:p>
          <a:p>
            <a:r>
              <a:rPr lang="en-US" sz="2800" dirty="0">
                <a:solidFill>
                  <a:schemeClr val="tx1"/>
                </a:solidFill>
                <a:latin typeface="Calibri"/>
                <a:ea typeface="Calibri"/>
                <a:cs typeface="Calibri"/>
              </a:rPr>
              <a:t>Move the slider to the number that best </a:t>
            </a:r>
            <a:r>
              <a:rPr lang="en-US" sz="2800">
                <a:solidFill>
                  <a:schemeClr val="tx1"/>
                </a:solidFill>
                <a:latin typeface="Calibri"/>
                <a:ea typeface="Calibri"/>
                <a:cs typeface="Calibri"/>
              </a:rPr>
              <a:t>describes your confidence. </a:t>
            </a:r>
            <a:endParaRPr lang="en-US" sz="2800" dirty="0">
              <a:solidFill>
                <a:schemeClr val="tx1"/>
              </a:solidFill>
              <a:latin typeface="Calibri"/>
              <a:ea typeface="Calibri"/>
              <a:cs typeface="Calibri"/>
            </a:endParaRPr>
          </a:p>
        </p:txBody>
      </p:sp>
      <p:sp>
        <p:nvSpPr>
          <p:cNvPr id="5" name="TextBox 4">
            <a:extLst>
              <a:ext uri="{FF2B5EF4-FFF2-40B4-BE49-F238E27FC236}">
                <a16:creationId xmlns:a16="http://schemas.microsoft.com/office/drawing/2014/main" id="{ED3FCEB1-4740-AB20-DE05-B2EF7D7B746E}"/>
              </a:ext>
            </a:extLst>
          </p:cNvPr>
          <p:cNvSpPr txBox="1"/>
          <p:nvPr/>
        </p:nvSpPr>
        <p:spPr>
          <a:xfrm>
            <a:off x="957673" y="3780702"/>
            <a:ext cx="4741333" cy="21298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a:latin typeface="Calibri"/>
                <a:ea typeface="Calibri"/>
                <a:cs typeface="Calibri"/>
              </a:rPr>
              <a:t>1 Not Confident </a:t>
            </a:r>
          </a:p>
          <a:p>
            <a:pPr>
              <a:lnSpc>
                <a:spcPct val="150000"/>
              </a:lnSpc>
            </a:pPr>
            <a:r>
              <a:rPr lang="en-US">
                <a:latin typeface="Calibri"/>
                <a:ea typeface="Calibri"/>
                <a:cs typeface="Calibri"/>
              </a:rPr>
              <a:t>2 Slightly Confident </a:t>
            </a:r>
          </a:p>
          <a:p>
            <a:pPr>
              <a:lnSpc>
                <a:spcPct val="150000"/>
              </a:lnSpc>
            </a:pPr>
            <a:r>
              <a:rPr lang="en-US" dirty="0">
                <a:latin typeface="Calibri"/>
                <a:ea typeface="Calibri"/>
                <a:cs typeface="Calibri"/>
              </a:rPr>
              <a:t>3 Somewhat </a:t>
            </a:r>
            <a:r>
              <a:rPr lang="en-US">
                <a:latin typeface="Calibri"/>
                <a:ea typeface="Calibri"/>
                <a:cs typeface="Calibri"/>
              </a:rPr>
              <a:t>Confident</a:t>
            </a:r>
          </a:p>
          <a:p>
            <a:pPr>
              <a:lnSpc>
                <a:spcPct val="150000"/>
              </a:lnSpc>
            </a:pPr>
            <a:r>
              <a:rPr lang="en-US">
                <a:latin typeface="Calibri"/>
                <a:ea typeface="Calibri"/>
                <a:cs typeface="Calibri"/>
              </a:rPr>
              <a:t>4 Confident</a:t>
            </a:r>
          </a:p>
          <a:p>
            <a:pPr>
              <a:lnSpc>
                <a:spcPct val="150000"/>
              </a:lnSpc>
            </a:pPr>
            <a:r>
              <a:rPr lang="en-US">
                <a:latin typeface="Calibri"/>
                <a:ea typeface="Calibri"/>
                <a:cs typeface="Calibri"/>
              </a:rPr>
              <a:t>5 Very Confident </a:t>
            </a:r>
            <a:endParaRPr lang="en-US" dirty="0">
              <a:latin typeface="Calibri"/>
              <a:ea typeface="Calibri"/>
              <a:cs typeface="Calibri"/>
            </a:endParaRPr>
          </a:p>
        </p:txBody>
      </p:sp>
      <p:pic>
        <p:nvPicPr>
          <p:cNvPr id="6" name="Picture 5">
            <a:extLst>
              <a:ext uri="{FF2B5EF4-FFF2-40B4-BE49-F238E27FC236}">
                <a16:creationId xmlns:a16="http://schemas.microsoft.com/office/drawing/2014/main" id="{F64AA3AA-C400-C9B2-0B8C-E0382BE83141}"/>
              </a:ext>
            </a:extLst>
          </p:cNvPr>
          <p:cNvPicPr>
            <a:picLocks noChangeAspect="1"/>
          </p:cNvPicPr>
          <p:nvPr/>
        </p:nvPicPr>
        <p:blipFill>
          <a:blip r:embed="rId3"/>
          <a:srcRect l="329" t="30343" r="-128"/>
          <a:stretch>
            <a:fillRect/>
          </a:stretch>
        </p:blipFill>
        <p:spPr>
          <a:xfrm>
            <a:off x="3996862" y="4004586"/>
            <a:ext cx="5646512" cy="2229299"/>
          </a:xfrm>
          <a:prstGeom prst="rect">
            <a:avLst/>
          </a:prstGeom>
        </p:spPr>
      </p:pic>
      <p:sp>
        <p:nvSpPr>
          <p:cNvPr id="7" name="TextBox 6">
            <a:extLst>
              <a:ext uri="{FF2B5EF4-FFF2-40B4-BE49-F238E27FC236}">
                <a16:creationId xmlns:a16="http://schemas.microsoft.com/office/drawing/2014/main" id="{7555BCE4-60DB-8A03-40FE-91F365B7E1DB}"/>
              </a:ext>
            </a:extLst>
          </p:cNvPr>
          <p:cNvSpPr txBox="1"/>
          <p:nvPr/>
        </p:nvSpPr>
        <p:spPr>
          <a:xfrm>
            <a:off x="4198391" y="3594167"/>
            <a:ext cx="544473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Calibri"/>
                <a:ea typeface="Calibri"/>
                <a:cs typeface="Calibri"/>
              </a:rPr>
              <a:t>    1      2      3    4      5</a:t>
            </a:r>
          </a:p>
        </p:txBody>
      </p:sp>
    </p:spTree>
    <p:extLst>
      <p:ext uri="{BB962C8B-B14F-4D97-AF65-F5344CB8AC3E}">
        <p14:creationId xmlns:p14="http://schemas.microsoft.com/office/powerpoint/2010/main" val="3674147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11DA0-BFB9-DE01-A8DB-666DD69AE7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0D3B82-9CCE-82C5-FD91-372F75394162}"/>
              </a:ext>
            </a:extLst>
          </p:cNvPr>
          <p:cNvSpPr>
            <a:spLocks noGrp="1"/>
          </p:cNvSpPr>
          <p:nvPr>
            <p:ph type="title"/>
          </p:nvPr>
        </p:nvSpPr>
        <p:spPr>
          <a:xfrm>
            <a:off x="437712" y="-1141193"/>
            <a:ext cx="10515600" cy="2852737"/>
          </a:xfrm>
        </p:spPr>
        <p:txBody>
          <a:bodyPr/>
          <a:lstStyle/>
          <a:p>
            <a:r>
              <a:rPr lang="en-US">
                <a:latin typeface="Calibri"/>
                <a:ea typeface="Calibri"/>
                <a:cs typeface="Calibri"/>
              </a:rPr>
              <a:t>Ready</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3AF9FF57-430E-5D80-9C0C-A3D5409CC7C4}"/>
              </a:ext>
            </a:extLst>
          </p:cNvPr>
          <p:cNvSpPr>
            <a:spLocks noGrp="1"/>
          </p:cNvSpPr>
          <p:nvPr>
            <p:ph type="body" idx="1"/>
          </p:nvPr>
        </p:nvSpPr>
        <p:spPr>
          <a:xfrm>
            <a:off x="387224" y="1929032"/>
            <a:ext cx="10515600" cy="2175101"/>
          </a:xfrm>
        </p:spPr>
        <p:txBody>
          <a:bodyPr vert="horz" lIns="91440" tIns="45720" rIns="91440" bIns="45720" rtlCol="0" anchor="t">
            <a:normAutofit/>
          </a:bodyPr>
          <a:lstStyle/>
          <a:p>
            <a:r>
              <a:rPr lang="en-US" sz="3200">
                <a:solidFill>
                  <a:schemeClr val="tx1"/>
                </a:solidFill>
                <a:latin typeface="Calibri"/>
                <a:ea typeface="Calibri"/>
                <a:cs typeface="Calibri"/>
              </a:rPr>
              <a:t>Learning builds confidence. </a:t>
            </a:r>
          </a:p>
          <a:p>
            <a:r>
              <a:rPr lang="en-US" sz="3200">
                <a:solidFill>
                  <a:schemeClr val="tx1"/>
                </a:solidFill>
                <a:latin typeface="Calibri"/>
                <a:ea typeface="Calibri"/>
                <a:cs typeface="Calibri"/>
              </a:rPr>
              <a:t>Let's begin exploring AI.</a:t>
            </a:r>
            <a:endParaRPr lang="en-US" sz="3200" dirty="0">
              <a:solidFill>
                <a:schemeClr val="tx1"/>
              </a:solidFill>
              <a:latin typeface="Calibri"/>
              <a:ea typeface="Calibri"/>
              <a:cs typeface="Calibri"/>
            </a:endParaRPr>
          </a:p>
        </p:txBody>
      </p:sp>
      <p:pic>
        <p:nvPicPr>
          <p:cNvPr id="5" name="Picture 4">
            <a:extLst>
              <a:ext uri="{FF2B5EF4-FFF2-40B4-BE49-F238E27FC236}">
                <a16:creationId xmlns:a16="http://schemas.microsoft.com/office/drawing/2014/main" id="{2E6DA05D-499F-D72B-1B7C-5E7E582E95DD}"/>
              </a:ext>
            </a:extLst>
          </p:cNvPr>
          <p:cNvPicPr>
            <a:picLocks noChangeAspect="1"/>
          </p:cNvPicPr>
          <p:nvPr/>
        </p:nvPicPr>
        <p:blipFill>
          <a:blip r:embed="rId3"/>
          <a:stretch>
            <a:fillRect/>
          </a:stretch>
        </p:blipFill>
        <p:spPr>
          <a:xfrm>
            <a:off x="1208314" y="3253923"/>
            <a:ext cx="3672113" cy="3115127"/>
          </a:xfrm>
          <a:prstGeom prst="rect">
            <a:avLst/>
          </a:prstGeom>
        </p:spPr>
      </p:pic>
      <p:pic>
        <p:nvPicPr>
          <p:cNvPr id="6" name="Picture 5">
            <a:extLst>
              <a:ext uri="{FF2B5EF4-FFF2-40B4-BE49-F238E27FC236}">
                <a16:creationId xmlns:a16="http://schemas.microsoft.com/office/drawing/2014/main" id="{81DB71CB-8603-5204-518D-32CEE3BC2863}"/>
              </a:ext>
            </a:extLst>
          </p:cNvPr>
          <p:cNvPicPr>
            <a:picLocks noChangeAspect="1"/>
          </p:cNvPicPr>
          <p:nvPr/>
        </p:nvPicPr>
        <p:blipFill>
          <a:blip r:embed="rId4"/>
          <a:stretch>
            <a:fillRect/>
          </a:stretch>
        </p:blipFill>
        <p:spPr>
          <a:xfrm>
            <a:off x="6095094" y="3428093"/>
            <a:ext cx="3180442" cy="3158671"/>
          </a:xfrm>
          <a:prstGeom prst="rect">
            <a:avLst/>
          </a:prstGeom>
        </p:spPr>
      </p:pic>
    </p:spTree>
    <p:extLst>
      <p:ext uri="{BB962C8B-B14F-4D97-AF65-F5344CB8AC3E}">
        <p14:creationId xmlns:p14="http://schemas.microsoft.com/office/powerpoint/2010/main" val="12972663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F79A149-114E-D40F-0DC0-E734905409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5D69B-8A73-A74F-F028-EF703BD65934}"/>
              </a:ext>
            </a:extLst>
          </p:cNvPr>
          <p:cNvSpPr>
            <a:spLocks noGrp="1"/>
          </p:cNvSpPr>
          <p:nvPr>
            <p:ph type="title"/>
          </p:nvPr>
        </p:nvSpPr>
        <p:spPr>
          <a:xfrm>
            <a:off x="3478454" y="1253664"/>
            <a:ext cx="10515600" cy="2852737"/>
          </a:xfrm>
        </p:spPr>
        <p:txBody>
          <a:bodyPr/>
          <a:lstStyle/>
          <a:p>
            <a:r>
              <a:rPr lang="en-US">
                <a:solidFill>
                  <a:schemeClr val="bg1"/>
                </a:solidFill>
                <a:latin typeface="Calibri"/>
                <a:ea typeface="Calibri"/>
                <a:cs typeface="Calibri"/>
              </a:rPr>
              <a:t>Triggering</a:t>
            </a:r>
            <a:r>
              <a:rPr lang="en-US" dirty="0">
                <a:latin typeface="Calibri"/>
                <a:ea typeface="Calibri"/>
                <a:cs typeface="Calibri"/>
              </a:rPr>
              <a:t> </a:t>
            </a:r>
            <a:r>
              <a:rPr lang="en-US">
                <a:solidFill>
                  <a:schemeClr val="bg1"/>
                </a:solidFill>
                <a:latin typeface="Calibri"/>
                <a:ea typeface="Calibri"/>
                <a:cs typeface="Calibri"/>
              </a:rPr>
              <a:t>Phase</a:t>
            </a:r>
            <a:endParaRPr lang="en-US" dirty="0">
              <a:solidFill>
                <a:schemeClr val="bg1"/>
              </a:solidFill>
              <a:latin typeface="Calibri"/>
              <a:ea typeface="Calibri"/>
              <a:cs typeface="Calibri"/>
            </a:endParaRPr>
          </a:p>
        </p:txBody>
      </p:sp>
      <p:sp>
        <p:nvSpPr>
          <p:cNvPr id="3" name="Content Placeholder 2">
            <a:extLst>
              <a:ext uri="{FF2B5EF4-FFF2-40B4-BE49-F238E27FC236}">
                <a16:creationId xmlns:a16="http://schemas.microsoft.com/office/drawing/2014/main" id="{6947E488-6ADA-1A4B-A980-82ED7AF5CBDE}"/>
              </a:ext>
            </a:extLst>
          </p:cNvPr>
          <p:cNvSpPr>
            <a:spLocks noGrp="1"/>
          </p:cNvSpPr>
          <p:nvPr>
            <p:ph type="body" idx="1"/>
          </p:nvPr>
        </p:nvSpPr>
        <p:spPr>
          <a:xfrm>
            <a:off x="365453" y="1929032"/>
            <a:ext cx="10515600" cy="1500187"/>
          </a:xfrm>
        </p:spPr>
        <p:txBody>
          <a:bodyPr vert="horz" lIns="91440" tIns="45720" rIns="91440" bIns="45720" rtlCol="0" anchor="t">
            <a:normAutofit/>
          </a:bodyPr>
          <a:lstStyle/>
          <a:p>
            <a:r>
              <a:rPr lang="en-US" sz="2800">
                <a:solidFill>
                  <a:schemeClr val="tx1"/>
                </a:solidFill>
              </a:rPr>
              <a:t>T</a:t>
            </a:r>
            <a:endParaRPr lang="en-US" sz="2800" dirty="0">
              <a:solidFill>
                <a:schemeClr val="tx1"/>
              </a:solidFill>
            </a:endParaRPr>
          </a:p>
        </p:txBody>
      </p:sp>
    </p:spTree>
    <p:extLst>
      <p:ext uri="{BB962C8B-B14F-4D97-AF65-F5344CB8AC3E}">
        <p14:creationId xmlns:p14="http://schemas.microsoft.com/office/powerpoint/2010/main" val="1555011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09494-9019-470C-51B3-2B1AA8A171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C1FAF2-168F-731C-59C9-765409EA0676}"/>
              </a:ext>
            </a:extLst>
          </p:cNvPr>
          <p:cNvSpPr>
            <a:spLocks noGrp="1"/>
          </p:cNvSpPr>
          <p:nvPr>
            <p:ph type="title"/>
          </p:nvPr>
        </p:nvSpPr>
        <p:spPr>
          <a:xfrm>
            <a:off x="437712" y="-1141193"/>
            <a:ext cx="10515600" cy="2852737"/>
          </a:xfrm>
        </p:spPr>
        <p:txBody>
          <a:bodyPr/>
          <a:lstStyle/>
          <a:p>
            <a:r>
              <a:rPr lang="en-US">
                <a:latin typeface="Calibri"/>
                <a:ea typeface="Calibri"/>
                <a:cs typeface="Calibri"/>
              </a:rPr>
              <a:t>Why AI?</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A907A591-373C-2881-7304-7183F1CEB5B1}"/>
              </a:ext>
            </a:extLst>
          </p:cNvPr>
          <p:cNvSpPr>
            <a:spLocks noGrp="1"/>
          </p:cNvSpPr>
          <p:nvPr>
            <p:ph type="body" idx="1"/>
          </p:nvPr>
        </p:nvSpPr>
        <p:spPr>
          <a:xfrm>
            <a:off x="365453" y="1929032"/>
            <a:ext cx="10515600" cy="1500187"/>
          </a:xfrm>
        </p:spPr>
        <p:txBody>
          <a:bodyPr vert="horz" lIns="91440" tIns="45720" rIns="91440" bIns="45720" rtlCol="0" anchor="t">
            <a:normAutofit/>
          </a:bodyPr>
          <a:lstStyle/>
          <a:p>
            <a:r>
              <a:rPr lang="en-US" sz="2800">
                <a:solidFill>
                  <a:schemeClr val="tx1"/>
                </a:solidFill>
                <a:latin typeface="Calibri"/>
                <a:ea typeface="Calibri"/>
                <a:cs typeface="Calibri"/>
              </a:rPr>
              <a:t>Artificial intelligence is changing education. </a:t>
            </a:r>
          </a:p>
          <a:p>
            <a:r>
              <a:rPr lang="en-US" sz="2800" dirty="0">
                <a:solidFill>
                  <a:schemeClr val="tx1"/>
                </a:solidFill>
                <a:latin typeface="Calibri"/>
                <a:ea typeface="Calibri"/>
                <a:cs typeface="Calibri"/>
              </a:rPr>
              <a:t>Teachers need to understand how to use it respons</a:t>
            </a:r>
            <a:r>
              <a:rPr lang="en-US" sz="2800">
                <a:solidFill>
                  <a:schemeClr val="tx1"/>
                </a:solidFill>
                <a:latin typeface="Calibri"/>
                <a:ea typeface="Calibri"/>
                <a:cs typeface="Calibri"/>
              </a:rPr>
              <a:t>ibly.</a:t>
            </a:r>
            <a:endParaRPr lang="en-US" sz="2800" dirty="0">
              <a:solidFill>
                <a:schemeClr val="tx1"/>
              </a:solidFill>
              <a:latin typeface="Calibri"/>
              <a:ea typeface="Calibri"/>
              <a:cs typeface="Calibri"/>
            </a:endParaRPr>
          </a:p>
        </p:txBody>
      </p:sp>
      <p:pic>
        <p:nvPicPr>
          <p:cNvPr id="5" name="Picture 4">
            <a:extLst>
              <a:ext uri="{FF2B5EF4-FFF2-40B4-BE49-F238E27FC236}">
                <a16:creationId xmlns:a16="http://schemas.microsoft.com/office/drawing/2014/main" id="{09C22C6B-EBAA-2F13-326F-EAD1CB66B7B8}"/>
              </a:ext>
            </a:extLst>
          </p:cNvPr>
          <p:cNvPicPr>
            <a:picLocks noChangeAspect="1"/>
          </p:cNvPicPr>
          <p:nvPr/>
        </p:nvPicPr>
        <p:blipFill>
          <a:blip r:embed="rId3"/>
          <a:stretch>
            <a:fillRect/>
          </a:stretch>
        </p:blipFill>
        <p:spPr>
          <a:xfrm>
            <a:off x="7208837" y="2916238"/>
            <a:ext cx="3964667" cy="3942896"/>
          </a:xfrm>
          <a:prstGeom prst="rect">
            <a:avLst/>
          </a:prstGeom>
        </p:spPr>
      </p:pic>
      <p:pic>
        <p:nvPicPr>
          <p:cNvPr id="6" name="Picture 5">
            <a:extLst>
              <a:ext uri="{FF2B5EF4-FFF2-40B4-BE49-F238E27FC236}">
                <a16:creationId xmlns:a16="http://schemas.microsoft.com/office/drawing/2014/main" id="{098D962F-A2EA-AC7D-7CAB-21AA0977C55D}"/>
              </a:ext>
            </a:extLst>
          </p:cNvPr>
          <p:cNvPicPr>
            <a:picLocks noChangeAspect="1"/>
          </p:cNvPicPr>
          <p:nvPr/>
        </p:nvPicPr>
        <p:blipFill>
          <a:blip r:embed="rId4"/>
          <a:stretch>
            <a:fillRect/>
          </a:stretch>
        </p:blipFill>
        <p:spPr>
          <a:xfrm>
            <a:off x="2144486" y="3187473"/>
            <a:ext cx="3947886" cy="3393168"/>
          </a:xfrm>
          <a:prstGeom prst="rect">
            <a:avLst/>
          </a:prstGeom>
        </p:spPr>
      </p:pic>
    </p:spTree>
    <p:extLst>
      <p:ext uri="{BB962C8B-B14F-4D97-AF65-F5344CB8AC3E}">
        <p14:creationId xmlns:p14="http://schemas.microsoft.com/office/powerpoint/2010/main" val="14539058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A1F63-69C5-4272-CABE-11F788CEDD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E968E4-6DA1-5951-1CB6-C158CF066A1C}"/>
              </a:ext>
            </a:extLst>
          </p:cNvPr>
          <p:cNvSpPr>
            <a:spLocks noGrp="1"/>
          </p:cNvSpPr>
          <p:nvPr>
            <p:ph type="title"/>
          </p:nvPr>
        </p:nvSpPr>
        <p:spPr>
          <a:xfrm>
            <a:off x="437712" y="-1141193"/>
            <a:ext cx="10515600" cy="2852737"/>
          </a:xfrm>
        </p:spPr>
        <p:txBody>
          <a:bodyPr/>
          <a:lstStyle/>
          <a:p>
            <a:r>
              <a:rPr lang="en-US">
                <a:latin typeface="Calibri"/>
                <a:ea typeface="Calibri"/>
                <a:cs typeface="Calibri"/>
              </a:rPr>
              <a:t>Big Idea</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A9D8C4C0-AB78-CCD2-609E-7D2C9D4D3FE1}"/>
              </a:ext>
            </a:extLst>
          </p:cNvPr>
          <p:cNvSpPr>
            <a:spLocks noGrp="1"/>
          </p:cNvSpPr>
          <p:nvPr>
            <p:ph type="body" idx="1"/>
          </p:nvPr>
        </p:nvSpPr>
        <p:spPr>
          <a:xfrm>
            <a:off x="365453" y="1929032"/>
            <a:ext cx="10515600" cy="1500187"/>
          </a:xfrm>
        </p:spPr>
        <p:txBody>
          <a:bodyPr vert="horz" lIns="91440" tIns="45720" rIns="91440" bIns="45720" rtlCol="0" anchor="t">
            <a:normAutofit/>
          </a:bodyPr>
          <a:lstStyle/>
          <a:p>
            <a:r>
              <a:rPr lang="en-US" sz="2800" dirty="0">
                <a:solidFill>
                  <a:schemeClr val="tx1"/>
                </a:solidFill>
                <a:latin typeface="Calibri"/>
                <a:ea typeface="Calibri"/>
                <a:cs typeface="Calibri"/>
              </a:rPr>
              <a:t>AI su</a:t>
            </a:r>
            <a:r>
              <a:rPr lang="en-US" sz="2800">
                <a:solidFill>
                  <a:schemeClr val="tx1"/>
                </a:solidFill>
                <a:latin typeface="Calibri"/>
                <a:ea typeface="Calibri"/>
                <a:cs typeface="Calibri"/>
              </a:rPr>
              <a:t>pports teaching. </a:t>
            </a:r>
          </a:p>
          <a:p>
            <a:r>
              <a:rPr lang="en-US" sz="2800">
                <a:solidFill>
                  <a:schemeClr val="tx1"/>
                </a:solidFill>
                <a:latin typeface="Calibri"/>
                <a:ea typeface="Calibri"/>
                <a:cs typeface="Calibri"/>
              </a:rPr>
              <a:t>Teachers remain at the center of learning.</a:t>
            </a:r>
            <a:endParaRPr lang="en-US" sz="2800" dirty="0">
              <a:solidFill>
                <a:schemeClr val="tx1"/>
              </a:solidFill>
              <a:latin typeface="Calibri"/>
              <a:ea typeface="Calibri"/>
              <a:cs typeface="Calibri"/>
            </a:endParaRPr>
          </a:p>
        </p:txBody>
      </p:sp>
      <p:pic>
        <p:nvPicPr>
          <p:cNvPr id="5" name="Picture 4">
            <a:extLst>
              <a:ext uri="{FF2B5EF4-FFF2-40B4-BE49-F238E27FC236}">
                <a16:creationId xmlns:a16="http://schemas.microsoft.com/office/drawing/2014/main" id="{F182624C-835F-810D-1AD8-0A8A49B624BA}"/>
              </a:ext>
            </a:extLst>
          </p:cNvPr>
          <p:cNvPicPr>
            <a:picLocks noChangeAspect="1"/>
          </p:cNvPicPr>
          <p:nvPr/>
        </p:nvPicPr>
        <p:blipFill>
          <a:blip r:embed="rId3"/>
          <a:stretch>
            <a:fillRect/>
          </a:stretch>
        </p:blipFill>
        <p:spPr>
          <a:xfrm>
            <a:off x="1948090" y="3047546"/>
            <a:ext cx="3665765" cy="3658508"/>
          </a:xfrm>
          <a:prstGeom prst="rect">
            <a:avLst/>
          </a:prstGeom>
        </p:spPr>
      </p:pic>
      <p:pic>
        <p:nvPicPr>
          <p:cNvPr id="6" name="Picture 5">
            <a:extLst>
              <a:ext uri="{FF2B5EF4-FFF2-40B4-BE49-F238E27FC236}">
                <a16:creationId xmlns:a16="http://schemas.microsoft.com/office/drawing/2014/main" id="{FF354D8D-82F8-C945-B92F-AC54366346C4}"/>
              </a:ext>
            </a:extLst>
          </p:cNvPr>
          <p:cNvPicPr>
            <a:picLocks noChangeAspect="1"/>
          </p:cNvPicPr>
          <p:nvPr/>
        </p:nvPicPr>
        <p:blipFill>
          <a:blip r:embed="rId4"/>
          <a:stretch>
            <a:fillRect/>
          </a:stretch>
        </p:blipFill>
        <p:spPr>
          <a:xfrm>
            <a:off x="6650718" y="2895146"/>
            <a:ext cx="3999593" cy="3963308"/>
          </a:xfrm>
          <a:prstGeom prst="rect">
            <a:avLst/>
          </a:prstGeom>
        </p:spPr>
      </p:pic>
    </p:spTree>
    <p:extLst>
      <p:ext uri="{BB962C8B-B14F-4D97-AF65-F5344CB8AC3E}">
        <p14:creationId xmlns:p14="http://schemas.microsoft.com/office/powerpoint/2010/main" val="23779326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9E436-1A72-C3FF-6D0E-B9CDFA74B4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726C22-CF19-3014-1FEE-646FE4A7550E}"/>
              </a:ext>
            </a:extLst>
          </p:cNvPr>
          <p:cNvSpPr>
            <a:spLocks noGrp="1"/>
          </p:cNvSpPr>
          <p:nvPr>
            <p:ph type="title"/>
          </p:nvPr>
        </p:nvSpPr>
        <p:spPr>
          <a:xfrm>
            <a:off x="437712" y="-1141193"/>
            <a:ext cx="10515600" cy="2852737"/>
          </a:xfrm>
        </p:spPr>
        <p:txBody>
          <a:bodyPr/>
          <a:lstStyle/>
          <a:p>
            <a:r>
              <a:rPr lang="en-US">
                <a:latin typeface="Calibri"/>
                <a:ea typeface="Calibri"/>
                <a:cs typeface="Calibri"/>
              </a:rPr>
              <a:t>Your Thoughts</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E2AF8133-71AD-044C-D88B-DD1A3BBF0DC9}"/>
              </a:ext>
            </a:extLst>
          </p:cNvPr>
          <p:cNvSpPr>
            <a:spLocks noGrp="1"/>
          </p:cNvSpPr>
          <p:nvPr>
            <p:ph type="body" idx="1"/>
          </p:nvPr>
        </p:nvSpPr>
        <p:spPr>
          <a:xfrm>
            <a:off x="438024" y="1711318"/>
            <a:ext cx="10515600" cy="1500187"/>
          </a:xfrm>
        </p:spPr>
        <p:txBody>
          <a:bodyPr vert="horz" lIns="91440" tIns="45720" rIns="91440" bIns="45720" rtlCol="0" anchor="t">
            <a:normAutofit fontScale="85000" lnSpcReduction="20000"/>
          </a:bodyPr>
          <a:lstStyle/>
          <a:p>
            <a:r>
              <a:rPr lang="en-US" sz="2800">
                <a:solidFill>
                  <a:schemeClr val="tx1"/>
                </a:solidFill>
                <a:latin typeface="Calibri"/>
                <a:ea typeface="Calibri"/>
                <a:cs typeface="Calibri"/>
              </a:rPr>
              <a:t>Question</a:t>
            </a:r>
          </a:p>
          <a:p>
            <a:endParaRPr lang="en-US" sz="2800" dirty="0">
              <a:solidFill>
                <a:schemeClr val="tx1"/>
              </a:solidFill>
              <a:latin typeface="Calibri"/>
              <a:ea typeface="Calibri"/>
              <a:cs typeface="Calibri"/>
            </a:endParaRPr>
          </a:p>
          <a:p>
            <a:r>
              <a:rPr lang="en-US" sz="2800">
                <a:solidFill>
                  <a:schemeClr val="tx1"/>
                </a:solidFill>
                <a:latin typeface="Calibri"/>
                <a:ea typeface="Calibri"/>
                <a:cs typeface="Calibri"/>
              </a:rPr>
              <a:t>Which statement best describes your opinion about AI?</a:t>
            </a:r>
            <a:endParaRPr lang="en-US" sz="2800" dirty="0">
              <a:solidFill>
                <a:schemeClr val="tx1"/>
              </a:solidFill>
              <a:latin typeface="Calibri"/>
              <a:ea typeface="Calibri"/>
              <a:cs typeface="Calibri"/>
            </a:endParaRPr>
          </a:p>
          <a:p>
            <a:r>
              <a:rPr lang="en-US" sz="2800">
                <a:solidFill>
                  <a:schemeClr val="tx1"/>
                </a:solidFill>
                <a:latin typeface="Calibri"/>
                <a:ea typeface="Calibri"/>
                <a:cs typeface="Calibri"/>
              </a:rPr>
              <a:t>Choose one answer. </a:t>
            </a:r>
            <a:endParaRPr lang="en-US" sz="2800" dirty="0">
              <a:solidFill>
                <a:schemeClr val="tx1"/>
              </a:solidFill>
              <a:latin typeface="Calibri"/>
              <a:ea typeface="Calibri"/>
              <a:cs typeface="Calibri"/>
            </a:endParaRPr>
          </a:p>
          <a:p>
            <a:endParaRPr lang="en-US" sz="2800" dirty="0">
              <a:solidFill>
                <a:schemeClr val="tx1"/>
              </a:solidFill>
              <a:latin typeface="Calibri"/>
              <a:ea typeface="Calibri"/>
              <a:cs typeface="Calibri"/>
            </a:endParaRPr>
          </a:p>
        </p:txBody>
      </p:sp>
      <p:sp>
        <p:nvSpPr>
          <p:cNvPr id="5" name="Flowchart: Connector 4">
            <a:extLst>
              <a:ext uri="{FF2B5EF4-FFF2-40B4-BE49-F238E27FC236}">
                <a16:creationId xmlns:a16="http://schemas.microsoft.com/office/drawing/2014/main" id="{EFA662D6-9A8E-FE9D-A69F-949EEB9FD31B}"/>
              </a:ext>
            </a:extLst>
          </p:cNvPr>
          <p:cNvSpPr/>
          <p:nvPr/>
        </p:nvSpPr>
        <p:spPr>
          <a:xfrm>
            <a:off x="432740" y="3647117"/>
            <a:ext cx="378984" cy="374683"/>
          </a:xfrm>
          <a:prstGeom prst="flowChartConnector">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latin typeface="Calibri"/>
              <a:ea typeface="Calibri"/>
              <a:cs typeface="Calibri"/>
            </a:endParaRPr>
          </a:p>
        </p:txBody>
      </p:sp>
      <p:sp>
        <p:nvSpPr>
          <p:cNvPr id="6" name="TextBox 5">
            <a:extLst>
              <a:ext uri="{FF2B5EF4-FFF2-40B4-BE49-F238E27FC236}">
                <a16:creationId xmlns:a16="http://schemas.microsoft.com/office/drawing/2014/main" id="{BE9F3FF7-1E78-8A5E-8008-5EDCBFA46626}"/>
              </a:ext>
            </a:extLst>
          </p:cNvPr>
          <p:cNvSpPr txBox="1"/>
          <p:nvPr/>
        </p:nvSpPr>
        <p:spPr>
          <a:xfrm>
            <a:off x="1025945" y="3649804"/>
            <a:ext cx="4666074"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a:latin typeface="Calibri"/>
                <a:ea typeface="Calibri"/>
                <a:cs typeface="Calibri"/>
              </a:rPr>
              <a:t>I'm excited to use AI. </a:t>
            </a:r>
          </a:p>
        </p:txBody>
      </p:sp>
      <p:sp>
        <p:nvSpPr>
          <p:cNvPr id="7" name="Flowchart: Connector 6">
            <a:extLst>
              <a:ext uri="{FF2B5EF4-FFF2-40B4-BE49-F238E27FC236}">
                <a16:creationId xmlns:a16="http://schemas.microsoft.com/office/drawing/2014/main" id="{D4E1F4C8-8F7D-F1B5-E6A2-05DC76D2C247}"/>
              </a:ext>
            </a:extLst>
          </p:cNvPr>
          <p:cNvSpPr/>
          <p:nvPr/>
        </p:nvSpPr>
        <p:spPr>
          <a:xfrm>
            <a:off x="432739" y="4307517"/>
            <a:ext cx="378984" cy="374683"/>
          </a:xfrm>
          <a:prstGeom prst="flowChartConnector">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latin typeface="Calibri"/>
              <a:ea typeface="Calibri"/>
              <a:cs typeface="Calibri"/>
            </a:endParaRPr>
          </a:p>
        </p:txBody>
      </p:sp>
      <p:sp>
        <p:nvSpPr>
          <p:cNvPr id="8" name="TextBox 7">
            <a:extLst>
              <a:ext uri="{FF2B5EF4-FFF2-40B4-BE49-F238E27FC236}">
                <a16:creationId xmlns:a16="http://schemas.microsoft.com/office/drawing/2014/main" id="{A6CB9686-F33D-1AC8-0E40-FB4A6A196BC3}"/>
              </a:ext>
            </a:extLst>
          </p:cNvPr>
          <p:cNvSpPr txBox="1"/>
          <p:nvPr/>
        </p:nvSpPr>
        <p:spPr>
          <a:xfrm>
            <a:off x="1023257" y="4321628"/>
            <a:ext cx="609600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0" i="0" u="none" strike="noStrike" baseline="0" dirty="0">
                <a:solidFill>
                  <a:srgbClr val="000000"/>
                </a:solidFill>
                <a:latin typeface="Calibri"/>
                <a:ea typeface="Calibri"/>
                <a:cs typeface="Calibri"/>
              </a:rPr>
              <a:t>I'm </a:t>
            </a:r>
            <a:r>
              <a:rPr lang="en-US" sz="2200">
                <a:solidFill>
                  <a:srgbClr val="000000"/>
                </a:solidFill>
                <a:latin typeface="Calibri"/>
                <a:ea typeface="Calibri"/>
                <a:cs typeface="Calibri"/>
              </a:rPr>
              <a:t>curious but unsure. </a:t>
            </a:r>
            <a:endParaRPr lang="en-US" sz="2200" dirty="0">
              <a:latin typeface="Calibri"/>
              <a:ea typeface="Calibri"/>
              <a:cs typeface="Calibri"/>
            </a:endParaRPr>
          </a:p>
          <a:p>
            <a:pPr algn="ctr"/>
            <a:endParaRPr lang="en-US">
              <a:latin typeface="Calibri"/>
              <a:ea typeface="Calibri"/>
              <a:cs typeface="Calibri"/>
            </a:endParaRPr>
          </a:p>
        </p:txBody>
      </p:sp>
      <p:sp>
        <p:nvSpPr>
          <p:cNvPr id="9" name="Flowchart: Connector 8">
            <a:extLst>
              <a:ext uri="{FF2B5EF4-FFF2-40B4-BE49-F238E27FC236}">
                <a16:creationId xmlns:a16="http://schemas.microsoft.com/office/drawing/2014/main" id="{11BD4CCE-5BFA-A672-62E2-444A34F30BD5}"/>
              </a:ext>
            </a:extLst>
          </p:cNvPr>
          <p:cNvSpPr/>
          <p:nvPr/>
        </p:nvSpPr>
        <p:spPr>
          <a:xfrm>
            <a:off x="432738" y="4960659"/>
            <a:ext cx="378984" cy="374683"/>
          </a:xfrm>
          <a:prstGeom prst="flowChartConnector">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latin typeface="Calibri"/>
              <a:ea typeface="Calibri"/>
              <a:cs typeface="Calibri"/>
            </a:endParaRPr>
          </a:p>
        </p:txBody>
      </p:sp>
      <p:sp>
        <p:nvSpPr>
          <p:cNvPr id="11" name="Flowchart: Connector 10">
            <a:extLst>
              <a:ext uri="{FF2B5EF4-FFF2-40B4-BE49-F238E27FC236}">
                <a16:creationId xmlns:a16="http://schemas.microsoft.com/office/drawing/2014/main" id="{F969D393-B432-7FA9-4B48-987FCE284F89}"/>
              </a:ext>
            </a:extLst>
          </p:cNvPr>
          <p:cNvSpPr/>
          <p:nvPr/>
        </p:nvSpPr>
        <p:spPr>
          <a:xfrm>
            <a:off x="439996" y="5592031"/>
            <a:ext cx="378984" cy="374683"/>
          </a:xfrm>
          <a:prstGeom prst="flowChartConnector">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latin typeface="Calibri"/>
              <a:ea typeface="Calibri"/>
              <a:cs typeface="Calibri"/>
            </a:endParaRPr>
          </a:p>
        </p:txBody>
      </p:sp>
      <p:sp>
        <p:nvSpPr>
          <p:cNvPr id="12" name="TextBox 11">
            <a:extLst>
              <a:ext uri="{FF2B5EF4-FFF2-40B4-BE49-F238E27FC236}">
                <a16:creationId xmlns:a16="http://schemas.microsoft.com/office/drawing/2014/main" id="{1F53D38C-971C-7267-B449-47E806236DB2}"/>
              </a:ext>
            </a:extLst>
          </p:cNvPr>
          <p:cNvSpPr txBox="1"/>
          <p:nvPr/>
        </p:nvSpPr>
        <p:spPr>
          <a:xfrm>
            <a:off x="1023257" y="4974771"/>
            <a:ext cx="609600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a:solidFill>
                  <a:srgbClr val="000000"/>
                </a:solidFill>
                <a:latin typeface="Calibri"/>
                <a:ea typeface="Calibri"/>
                <a:cs typeface="Calibri"/>
              </a:rPr>
              <a:t>I'm nervous about AI. </a:t>
            </a:r>
            <a:endParaRPr lang="en-US">
              <a:latin typeface="Calibri"/>
              <a:ea typeface="Calibri"/>
              <a:cs typeface="Calibri"/>
            </a:endParaRPr>
          </a:p>
          <a:p>
            <a:pPr algn="ctr"/>
            <a:endParaRPr lang="en-US">
              <a:latin typeface="Calibri"/>
              <a:ea typeface="Calibri"/>
              <a:cs typeface="Calibri"/>
            </a:endParaRPr>
          </a:p>
        </p:txBody>
      </p:sp>
      <p:sp>
        <p:nvSpPr>
          <p:cNvPr id="13" name="TextBox 12">
            <a:extLst>
              <a:ext uri="{FF2B5EF4-FFF2-40B4-BE49-F238E27FC236}">
                <a16:creationId xmlns:a16="http://schemas.microsoft.com/office/drawing/2014/main" id="{EA1F49C0-3A99-9DDC-D48E-BAA10C1135E9}"/>
              </a:ext>
            </a:extLst>
          </p:cNvPr>
          <p:cNvSpPr txBox="1"/>
          <p:nvPr/>
        </p:nvSpPr>
        <p:spPr>
          <a:xfrm>
            <a:off x="1023257" y="5606143"/>
            <a:ext cx="609600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a:latin typeface="Calibri"/>
                <a:ea typeface="Calibri"/>
                <a:cs typeface="Calibri"/>
              </a:rPr>
              <a:t>I know very little about AI. </a:t>
            </a:r>
            <a:endParaRPr lang="en-US" sz="2200" dirty="0">
              <a:latin typeface="Calibri"/>
              <a:ea typeface="Calibri"/>
              <a:cs typeface="Calibri"/>
            </a:endParaRPr>
          </a:p>
          <a:p>
            <a:pPr algn="ctr"/>
            <a:endParaRPr lang="en-US">
              <a:latin typeface="Calibri"/>
              <a:ea typeface="Calibri"/>
              <a:cs typeface="Calibri"/>
            </a:endParaRPr>
          </a:p>
        </p:txBody>
      </p:sp>
    </p:spTree>
    <p:extLst>
      <p:ext uri="{BB962C8B-B14F-4D97-AF65-F5344CB8AC3E}">
        <p14:creationId xmlns:p14="http://schemas.microsoft.com/office/powerpoint/2010/main" val="21732594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DC708-EC05-95D6-15F1-DF788EF014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B99E42-6AC2-7228-268B-3B955225B5BB}"/>
              </a:ext>
            </a:extLst>
          </p:cNvPr>
          <p:cNvSpPr>
            <a:spLocks noGrp="1"/>
          </p:cNvSpPr>
          <p:nvPr>
            <p:ph type="title"/>
          </p:nvPr>
        </p:nvSpPr>
        <p:spPr>
          <a:xfrm>
            <a:off x="437712" y="-1141193"/>
            <a:ext cx="10515600" cy="2852737"/>
          </a:xfrm>
        </p:spPr>
        <p:txBody>
          <a:bodyPr/>
          <a:lstStyle/>
          <a:p>
            <a:r>
              <a:rPr lang="en-US">
                <a:latin typeface="Calibri"/>
                <a:ea typeface="Calibri"/>
                <a:cs typeface="Calibri"/>
              </a:rPr>
              <a:t>Great Start</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6E8A0347-CC02-A783-7EF4-CAFB5C4E87E6}"/>
              </a:ext>
            </a:extLst>
          </p:cNvPr>
          <p:cNvSpPr>
            <a:spLocks noGrp="1"/>
          </p:cNvSpPr>
          <p:nvPr>
            <p:ph type="body" idx="1"/>
          </p:nvPr>
        </p:nvSpPr>
        <p:spPr>
          <a:xfrm>
            <a:off x="365453" y="1929032"/>
            <a:ext cx="10515600" cy="1500187"/>
          </a:xfrm>
        </p:spPr>
        <p:txBody>
          <a:bodyPr vert="horz" lIns="91440" tIns="45720" rIns="91440" bIns="45720" rtlCol="0" anchor="t">
            <a:normAutofit/>
          </a:bodyPr>
          <a:lstStyle/>
          <a:p>
            <a:r>
              <a:rPr lang="en-US" sz="2800">
                <a:solidFill>
                  <a:schemeClr val="tx1"/>
                </a:solidFill>
                <a:latin typeface="Calibri"/>
                <a:ea typeface="Calibri"/>
                <a:cs typeface="Calibri"/>
              </a:rPr>
              <a:t>Everyone has different experiences. </a:t>
            </a:r>
          </a:p>
          <a:p>
            <a:r>
              <a:rPr lang="en-US" sz="2800">
                <a:solidFill>
                  <a:schemeClr val="tx1"/>
                </a:solidFill>
                <a:latin typeface="Calibri"/>
                <a:ea typeface="Calibri"/>
                <a:cs typeface="Calibri"/>
              </a:rPr>
              <a:t>This lesson will build your understanding. </a:t>
            </a:r>
            <a:endParaRPr lang="en-US" sz="2800" dirty="0">
              <a:solidFill>
                <a:schemeClr val="tx1"/>
              </a:solidFill>
              <a:latin typeface="Calibri"/>
              <a:ea typeface="Calibri"/>
              <a:cs typeface="Calibri"/>
            </a:endParaRPr>
          </a:p>
        </p:txBody>
      </p:sp>
      <p:pic>
        <p:nvPicPr>
          <p:cNvPr id="5" name="Picture 4">
            <a:extLst>
              <a:ext uri="{FF2B5EF4-FFF2-40B4-BE49-F238E27FC236}">
                <a16:creationId xmlns:a16="http://schemas.microsoft.com/office/drawing/2014/main" id="{E936EBB0-951A-4A52-2D89-08572F8761BE}"/>
              </a:ext>
            </a:extLst>
          </p:cNvPr>
          <p:cNvPicPr>
            <a:picLocks noChangeAspect="1"/>
          </p:cNvPicPr>
          <p:nvPr/>
        </p:nvPicPr>
        <p:blipFill>
          <a:blip r:embed="rId3"/>
          <a:stretch>
            <a:fillRect/>
          </a:stretch>
        </p:blipFill>
        <p:spPr>
          <a:xfrm>
            <a:off x="358775" y="2967718"/>
            <a:ext cx="4347935" cy="3890736"/>
          </a:xfrm>
          <a:prstGeom prst="rect">
            <a:avLst/>
          </a:prstGeom>
        </p:spPr>
      </p:pic>
      <p:pic>
        <p:nvPicPr>
          <p:cNvPr id="6" name="Picture 5">
            <a:extLst>
              <a:ext uri="{FF2B5EF4-FFF2-40B4-BE49-F238E27FC236}">
                <a16:creationId xmlns:a16="http://schemas.microsoft.com/office/drawing/2014/main" id="{3584DC80-1F5E-CE0E-4BEA-13EBF68020A5}"/>
              </a:ext>
            </a:extLst>
          </p:cNvPr>
          <p:cNvPicPr>
            <a:picLocks noChangeAspect="1"/>
          </p:cNvPicPr>
          <p:nvPr/>
        </p:nvPicPr>
        <p:blipFill>
          <a:blip r:embed="rId4"/>
          <a:stretch>
            <a:fillRect/>
          </a:stretch>
        </p:blipFill>
        <p:spPr>
          <a:xfrm>
            <a:off x="5620431" y="3002416"/>
            <a:ext cx="4695825" cy="3857625"/>
          </a:xfrm>
          <a:prstGeom prst="rect">
            <a:avLst/>
          </a:prstGeom>
        </p:spPr>
      </p:pic>
    </p:spTree>
    <p:extLst>
      <p:ext uri="{BB962C8B-B14F-4D97-AF65-F5344CB8AC3E}">
        <p14:creationId xmlns:p14="http://schemas.microsoft.com/office/powerpoint/2010/main" val="16060077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E88FB-4C77-B870-98CA-41AE44BBD9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C4DF2C-8396-4725-8F4B-5D13ED514652}"/>
              </a:ext>
            </a:extLst>
          </p:cNvPr>
          <p:cNvSpPr>
            <a:spLocks noGrp="1"/>
          </p:cNvSpPr>
          <p:nvPr>
            <p:ph type="title"/>
          </p:nvPr>
        </p:nvSpPr>
        <p:spPr>
          <a:xfrm>
            <a:off x="437712" y="-1141193"/>
            <a:ext cx="10515600" cy="2852737"/>
          </a:xfrm>
        </p:spPr>
        <p:txBody>
          <a:bodyPr/>
          <a:lstStyle/>
          <a:p>
            <a:r>
              <a:rPr lang="en-US">
                <a:latin typeface="Calibri"/>
                <a:ea typeface="Calibri"/>
                <a:cs typeface="Calibri"/>
              </a:rPr>
              <a:t>Definition</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B7C24750-CBA4-93FD-77DA-7672C5299AE0}"/>
              </a:ext>
            </a:extLst>
          </p:cNvPr>
          <p:cNvSpPr>
            <a:spLocks noGrp="1"/>
          </p:cNvSpPr>
          <p:nvPr>
            <p:ph type="body" idx="1"/>
          </p:nvPr>
        </p:nvSpPr>
        <p:spPr>
          <a:xfrm>
            <a:off x="365453" y="1929032"/>
            <a:ext cx="10515600" cy="1500187"/>
          </a:xfrm>
        </p:spPr>
        <p:txBody>
          <a:bodyPr vert="horz" lIns="91440" tIns="45720" rIns="91440" bIns="45720" rtlCol="0" anchor="t">
            <a:normAutofit/>
          </a:bodyPr>
          <a:lstStyle/>
          <a:p>
            <a:r>
              <a:rPr lang="en-US" sz="2800" dirty="0">
                <a:solidFill>
                  <a:schemeClr val="tx1"/>
                </a:solidFill>
                <a:latin typeface="Calibri"/>
                <a:ea typeface="Calibri"/>
                <a:cs typeface="Calibri"/>
              </a:rPr>
              <a:t>Artificial </a:t>
            </a:r>
            <a:r>
              <a:rPr lang="en-US" sz="2800">
                <a:solidFill>
                  <a:schemeClr val="tx1"/>
                </a:solidFill>
                <a:latin typeface="Calibri"/>
                <a:ea typeface="Calibri"/>
                <a:cs typeface="Calibri"/>
              </a:rPr>
              <a:t>intelligence performs tasks that normally require human thinking. </a:t>
            </a:r>
          </a:p>
          <a:p>
            <a:r>
              <a:rPr lang="en-US" sz="2800">
                <a:solidFill>
                  <a:schemeClr val="tx1"/>
                </a:solidFill>
                <a:latin typeface="Calibri"/>
                <a:ea typeface="Calibri"/>
                <a:cs typeface="Calibri"/>
              </a:rPr>
              <a:t>It is designed to support teachers. </a:t>
            </a:r>
            <a:endParaRPr lang="en-US" sz="2800" dirty="0">
              <a:solidFill>
                <a:schemeClr val="tx1"/>
              </a:solidFill>
              <a:latin typeface="Calibri"/>
              <a:ea typeface="Calibri"/>
              <a:cs typeface="Calibri"/>
            </a:endParaRPr>
          </a:p>
        </p:txBody>
      </p:sp>
      <p:pic>
        <p:nvPicPr>
          <p:cNvPr id="5" name="Picture 4">
            <a:extLst>
              <a:ext uri="{FF2B5EF4-FFF2-40B4-BE49-F238E27FC236}">
                <a16:creationId xmlns:a16="http://schemas.microsoft.com/office/drawing/2014/main" id="{CCC94C7C-7ED3-191F-E255-060E8789AA1F}"/>
              </a:ext>
            </a:extLst>
          </p:cNvPr>
          <p:cNvPicPr>
            <a:picLocks noChangeAspect="1"/>
          </p:cNvPicPr>
          <p:nvPr/>
        </p:nvPicPr>
        <p:blipFill>
          <a:blip r:embed="rId3"/>
          <a:stretch>
            <a:fillRect/>
          </a:stretch>
        </p:blipFill>
        <p:spPr>
          <a:xfrm>
            <a:off x="1514248" y="3433762"/>
            <a:ext cx="3074761" cy="3111047"/>
          </a:xfrm>
          <a:prstGeom prst="rect">
            <a:avLst/>
          </a:prstGeom>
        </p:spPr>
      </p:pic>
      <p:pic>
        <p:nvPicPr>
          <p:cNvPr id="6" name="Picture 5">
            <a:extLst>
              <a:ext uri="{FF2B5EF4-FFF2-40B4-BE49-F238E27FC236}">
                <a16:creationId xmlns:a16="http://schemas.microsoft.com/office/drawing/2014/main" id="{F0013C9F-58C8-1B7C-40FD-80B3AEDA0F88}"/>
              </a:ext>
            </a:extLst>
          </p:cNvPr>
          <p:cNvPicPr>
            <a:picLocks noChangeAspect="1"/>
          </p:cNvPicPr>
          <p:nvPr/>
        </p:nvPicPr>
        <p:blipFill>
          <a:blip r:embed="rId4"/>
          <a:stretch>
            <a:fillRect/>
          </a:stretch>
        </p:blipFill>
        <p:spPr>
          <a:xfrm>
            <a:off x="6711042" y="2901270"/>
            <a:ext cx="3806371" cy="3646260"/>
          </a:xfrm>
          <a:prstGeom prst="rect">
            <a:avLst/>
          </a:prstGeom>
        </p:spPr>
      </p:pic>
    </p:spTree>
    <p:extLst>
      <p:ext uri="{BB962C8B-B14F-4D97-AF65-F5344CB8AC3E}">
        <p14:creationId xmlns:p14="http://schemas.microsoft.com/office/powerpoint/2010/main" val="6902163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6F8F2-7D4C-3262-7EC7-DA7CBA2730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1EACA3-D92B-CE66-B702-9CFAEB7C54A9}"/>
              </a:ext>
            </a:extLst>
          </p:cNvPr>
          <p:cNvSpPr>
            <a:spLocks noGrp="1"/>
          </p:cNvSpPr>
          <p:nvPr>
            <p:ph type="title"/>
          </p:nvPr>
        </p:nvSpPr>
        <p:spPr>
          <a:xfrm>
            <a:off x="437712" y="-1141193"/>
            <a:ext cx="10515600" cy="2852737"/>
          </a:xfrm>
        </p:spPr>
        <p:txBody>
          <a:bodyPr/>
          <a:lstStyle/>
          <a:p>
            <a:r>
              <a:rPr lang="en-US">
                <a:latin typeface="Calibri"/>
                <a:ea typeface="Calibri"/>
                <a:cs typeface="Calibri"/>
              </a:rPr>
              <a:t>Opinion</a:t>
            </a:r>
            <a:endParaRPr lang="en-US" dirty="0">
              <a:latin typeface="Calibri"/>
              <a:ea typeface="Calibri"/>
              <a:cs typeface="Calibri"/>
            </a:endParaRPr>
          </a:p>
        </p:txBody>
      </p:sp>
      <p:sp>
        <p:nvSpPr>
          <p:cNvPr id="5" name="Text Placeholder 4">
            <a:extLst>
              <a:ext uri="{FF2B5EF4-FFF2-40B4-BE49-F238E27FC236}">
                <a16:creationId xmlns:a16="http://schemas.microsoft.com/office/drawing/2014/main" id="{BE12D856-FB83-6BBF-9C61-40882779D063}"/>
              </a:ext>
            </a:extLst>
          </p:cNvPr>
          <p:cNvSpPr>
            <a:spLocks noGrp="1"/>
          </p:cNvSpPr>
          <p:nvPr>
            <p:ph type="body" idx="1"/>
          </p:nvPr>
        </p:nvSpPr>
        <p:spPr>
          <a:xfrm>
            <a:off x="439964" y="1715635"/>
            <a:ext cx="10515600" cy="5056187"/>
          </a:xfrm>
        </p:spPr>
        <p:txBody>
          <a:bodyPr vert="horz" lIns="91440" tIns="45720" rIns="91440" bIns="45720" rtlCol="0" anchor="t">
            <a:normAutofit/>
          </a:bodyPr>
          <a:lstStyle/>
          <a:p>
            <a:r>
              <a:rPr lang="en-US">
                <a:solidFill>
                  <a:schemeClr val="tx1"/>
                </a:solidFill>
                <a:latin typeface="Calibri"/>
                <a:ea typeface="Calibri"/>
                <a:cs typeface="Calibri"/>
              </a:rPr>
              <a:t>Question: AI can be valuable tool for teachers. </a:t>
            </a:r>
            <a:endParaRPr lang="en-US" dirty="0">
              <a:solidFill>
                <a:schemeClr val="tx1"/>
              </a:solidFill>
              <a:latin typeface="Calibri"/>
              <a:ea typeface="Calibri"/>
              <a:cs typeface="Calibri"/>
            </a:endParaRPr>
          </a:p>
          <a:p>
            <a:r>
              <a:rPr lang="en-US">
                <a:solidFill>
                  <a:schemeClr val="tx1"/>
                </a:solidFill>
                <a:latin typeface="Calibri"/>
                <a:ea typeface="Calibri"/>
                <a:cs typeface="Calibri"/>
              </a:rPr>
              <a:t>Choose one answer</a:t>
            </a:r>
            <a:endParaRPr lang="en-US" dirty="0">
              <a:solidFill>
                <a:schemeClr val="tx1"/>
              </a:solidFill>
              <a:latin typeface="Calibri"/>
              <a:ea typeface="Calibri"/>
              <a:cs typeface="Calibri"/>
            </a:endParaRPr>
          </a:p>
          <a:p>
            <a:endParaRPr lang="en-US" dirty="0">
              <a:solidFill>
                <a:schemeClr val="tx1"/>
              </a:solidFill>
              <a:latin typeface="Calibri"/>
              <a:ea typeface="Calibri"/>
              <a:cs typeface="Calibri"/>
            </a:endParaRPr>
          </a:p>
          <a:p>
            <a:pPr>
              <a:lnSpc>
                <a:spcPct val="150000"/>
              </a:lnSpc>
            </a:pPr>
            <a:r>
              <a:rPr lang="en-US">
                <a:solidFill>
                  <a:schemeClr val="tx1"/>
                </a:solidFill>
                <a:latin typeface="Calibri"/>
                <a:ea typeface="Calibri"/>
                <a:cs typeface="Calibri"/>
              </a:rPr>
              <a:t>Strongly Disagree</a:t>
            </a:r>
            <a:endParaRPr lang="en-US" dirty="0">
              <a:solidFill>
                <a:schemeClr val="tx1"/>
              </a:solidFill>
              <a:latin typeface="Calibri"/>
              <a:ea typeface="Calibri"/>
              <a:cs typeface="Calibri"/>
            </a:endParaRPr>
          </a:p>
          <a:p>
            <a:pPr>
              <a:lnSpc>
                <a:spcPct val="150000"/>
              </a:lnSpc>
            </a:pPr>
            <a:r>
              <a:rPr lang="en-US">
                <a:solidFill>
                  <a:schemeClr val="tx1"/>
                </a:solidFill>
                <a:latin typeface="Calibri"/>
                <a:ea typeface="Calibri"/>
                <a:cs typeface="Calibri"/>
              </a:rPr>
              <a:t>Disagree</a:t>
            </a:r>
            <a:endParaRPr lang="en-US" dirty="0">
              <a:solidFill>
                <a:schemeClr val="tx1"/>
              </a:solidFill>
              <a:latin typeface="Calibri"/>
              <a:ea typeface="Calibri"/>
              <a:cs typeface="Calibri"/>
            </a:endParaRPr>
          </a:p>
          <a:p>
            <a:pPr>
              <a:lnSpc>
                <a:spcPct val="150000"/>
              </a:lnSpc>
            </a:pPr>
            <a:r>
              <a:rPr lang="en-US">
                <a:solidFill>
                  <a:schemeClr val="tx1"/>
                </a:solidFill>
                <a:latin typeface="Calibri"/>
                <a:ea typeface="Calibri"/>
                <a:cs typeface="Calibri"/>
              </a:rPr>
              <a:t>Neutral</a:t>
            </a:r>
            <a:endParaRPr lang="en-US" dirty="0">
              <a:solidFill>
                <a:schemeClr val="tx1"/>
              </a:solidFill>
              <a:latin typeface="Calibri"/>
              <a:ea typeface="Calibri"/>
              <a:cs typeface="Calibri"/>
            </a:endParaRPr>
          </a:p>
          <a:p>
            <a:pPr>
              <a:lnSpc>
                <a:spcPct val="150000"/>
              </a:lnSpc>
            </a:pPr>
            <a:r>
              <a:rPr lang="en-US">
                <a:solidFill>
                  <a:schemeClr val="tx1"/>
                </a:solidFill>
                <a:latin typeface="Calibri"/>
                <a:ea typeface="Calibri"/>
                <a:cs typeface="Calibri"/>
              </a:rPr>
              <a:t>Agree</a:t>
            </a:r>
            <a:endParaRPr lang="en-US" dirty="0">
              <a:solidFill>
                <a:schemeClr val="tx1"/>
              </a:solidFill>
              <a:latin typeface="Calibri"/>
              <a:ea typeface="Calibri"/>
              <a:cs typeface="Calibri"/>
            </a:endParaRPr>
          </a:p>
          <a:p>
            <a:pPr>
              <a:lnSpc>
                <a:spcPct val="150000"/>
              </a:lnSpc>
            </a:pPr>
            <a:r>
              <a:rPr lang="en-US">
                <a:solidFill>
                  <a:schemeClr val="tx1"/>
                </a:solidFill>
                <a:latin typeface="Calibri"/>
                <a:ea typeface="Calibri"/>
                <a:cs typeface="Calibri"/>
              </a:rPr>
              <a:t>Strongly Agree</a:t>
            </a:r>
            <a:endParaRPr lang="en-US" dirty="0">
              <a:solidFill>
                <a:schemeClr val="tx1"/>
              </a:solidFill>
              <a:latin typeface="Calibri"/>
              <a:ea typeface="Calibri"/>
              <a:cs typeface="Calibri"/>
            </a:endParaRPr>
          </a:p>
        </p:txBody>
      </p:sp>
      <p:pic>
        <p:nvPicPr>
          <p:cNvPr id="3" name="Picture 2">
            <a:extLst>
              <a:ext uri="{FF2B5EF4-FFF2-40B4-BE49-F238E27FC236}">
                <a16:creationId xmlns:a16="http://schemas.microsoft.com/office/drawing/2014/main" id="{74A8B3B4-74BA-9BCB-4679-DEC329340D7F}"/>
              </a:ext>
            </a:extLst>
          </p:cNvPr>
          <p:cNvPicPr>
            <a:picLocks noChangeAspect="1"/>
          </p:cNvPicPr>
          <p:nvPr/>
        </p:nvPicPr>
        <p:blipFill>
          <a:blip r:embed="rId3"/>
          <a:stretch>
            <a:fillRect/>
          </a:stretch>
        </p:blipFill>
        <p:spPr>
          <a:xfrm>
            <a:off x="7031264" y="1715407"/>
            <a:ext cx="4762500" cy="4762500"/>
          </a:xfrm>
          <a:prstGeom prst="rect">
            <a:avLst/>
          </a:prstGeom>
        </p:spPr>
      </p:pic>
    </p:spTree>
    <p:extLst>
      <p:ext uri="{BB962C8B-B14F-4D97-AF65-F5344CB8AC3E}">
        <p14:creationId xmlns:p14="http://schemas.microsoft.com/office/powerpoint/2010/main" val="30886780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D2075-0384-0D17-263A-A210BAB449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FBCA0F-D295-5E82-C796-A0625D1AA542}"/>
              </a:ext>
            </a:extLst>
          </p:cNvPr>
          <p:cNvSpPr>
            <a:spLocks noGrp="1"/>
          </p:cNvSpPr>
          <p:nvPr>
            <p:ph type="title"/>
          </p:nvPr>
        </p:nvSpPr>
        <p:spPr>
          <a:xfrm>
            <a:off x="437712" y="-1141193"/>
            <a:ext cx="10515600" cy="2852737"/>
          </a:xfrm>
        </p:spPr>
        <p:txBody>
          <a:bodyPr/>
          <a:lstStyle/>
          <a:p>
            <a:r>
              <a:rPr lang="en-US">
                <a:latin typeface="Calibri"/>
                <a:ea typeface="Calibri"/>
                <a:cs typeface="Calibri"/>
              </a:rPr>
              <a:t>Keep Learning</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A101B96B-64C1-148F-A8D4-284EB4E937AE}"/>
              </a:ext>
            </a:extLst>
          </p:cNvPr>
          <p:cNvSpPr>
            <a:spLocks noGrp="1"/>
          </p:cNvSpPr>
          <p:nvPr>
            <p:ph type="body" idx="1"/>
          </p:nvPr>
        </p:nvSpPr>
        <p:spPr>
          <a:xfrm>
            <a:off x="365453" y="1929032"/>
            <a:ext cx="10515600" cy="1500187"/>
          </a:xfrm>
        </p:spPr>
        <p:txBody>
          <a:bodyPr vert="horz" lIns="91440" tIns="45720" rIns="91440" bIns="45720" rtlCol="0" anchor="t">
            <a:normAutofit/>
          </a:bodyPr>
          <a:lstStyle/>
          <a:p>
            <a:r>
              <a:rPr lang="en-US" sz="2800">
                <a:solidFill>
                  <a:schemeClr val="tx1"/>
                </a:solidFill>
                <a:latin typeface="Calibri"/>
                <a:ea typeface="Calibri"/>
                <a:cs typeface="Calibri"/>
              </a:rPr>
              <a:t>There are many opinions about AI.</a:t>
            </a:r>
            <a:endParaRPr lang="en-US" sz="2800" dirty="0">
              <a:solidFill>
                <a:schemeClr val="tx1"/>
              </a:solidFill>
              <a:latin typeface="Calibri"/>
              <a:ea typeface="Calibri"/>
              <a:cs typeface="Calibri"/>
            </a:endParaRPr>
          </a:p>
          <a:p>
            <a:r>
              <a:rPr lang="en-US" sz="2800" dirty="0">
                <a:solidFill>
                  <a:schemeClr val="tx1"/>
                </a:solidFill>
                <a:latin typeface="Calibri"/>
                <a:ea typeface="Calibri"/>
                <a:cs typeface="Calibri"/>
              </a:rPr>
              <a:t>Learning helps us make informed decisio</a:t>
            </a:r>
            <a:r>
              <a:rPr lang="en-US" sz="2800">
                <a:solidFill>
                  <a:schemeClr val="tx1"/>
                </a:solidFill>
                <a:latin typeface="Calibri"/>
                <a:ea typeface="Calibri"/>
                <a:cs typeface="Calibri"/>
              </a:rPr>
              <a:t>ns. </a:t>
            </a:r>
            <a:endParaRPr lang="en-US" sz="2800" dirty="0">
              <a:solidFill>
                <a:schemeClr val="tx1"/>
              </a:solidFill>
              <a:latin typeface="Calibri"/>
              <a:ea typeface="Calibri"/>
              <a:cs typeface="Calibri"/>
            </a:endParaRPr>
          </a:p>
        </p:txBody>
      </p:sp>
      <p:pic>
        <p:nvPicPr>
          <p:cNvPr id="6" name="Picture 5" descr="A cartoon robot with a red dot&#10;&#10;AI-generated content may be incorrect.">
            <a:extLst>
              <a:ext uri="{FF2B5EF4-FFF2-40B4-BE49-F238E27FC236}">
                <a16:creationId xmlns:a16="http://schemas.microsoft.com/office/drawing/2014/main" id="{172CE7F0-33B0-820A-2AD9-64AEFB94F84F}"/>
              </a:ext>
            </a:extLst>
          </p:cNvPr>
          <p:cNvPicPr>
            <a:picLocks noChangeAspect="1"/>
          </p:cNvPicPr>
          <p:nvPr/>
        </p:nvPicPr>
        <p:blipFill>
          <a:blip r:embed="rId3"/>
          <a:stretch>
            <a:fillRect/>
          </a:stretch>
        </p:blipFill>
        <p:spPr>
          <a:xfrm>
            <a:off x="1208314" y="3253923"/>
            <a:ext cx="3672113" cy="3115127"/>
          </a:xfrm>
          <a:prstGeom prst="rect">
            <a:avLst/>
          </a:prstGeom>
        </p:spPr>
      </p:pic>
      <p:pic>
        <p:nvPicPr>
          <p:cNvPr id="7" name="Picture 6">
            <a:extLst>
              <a:ext uri="{FF2B5EF4-FFF2-40B4-BE49-F238E27FC236}">
                <a16:creationId xmlns:a16="http://schemas.microsoft.com/office/drawing/2014/main" id="{FA41E9FF-B9C3-7EA4-BB41-DF0CE0471AEC}"/>
              </a:ext>
            </a:extLst>
          </p:cNvPr>
          <p:cNvPicPr>
            <a:picLocks noChangeAspect="1"/>
          </p:cNvPicPr>
          <p:nvPr/>
        </p:nvPicPr>
        <p:blipFill>
          <a:blip r:embed="rId4"/>
          <a:stretch>
            <a:fillRect/>
          </a:stretch>
        </p:blipFill>
        <p:spPr>
          <a:xfrm>
            <a:off x="5411561" y="3053895"/>
            <a:ext cx="6194879" cy="3529693"/>
          </a:xfrm>
          <a:prstGeom prst="rect">
            <a:avLst/>
          </a:prstGeom>
        </p:spPr>
      </p:pic>
    </p:spTree>
    <p:extLst>
      <p:ext uri="{BB962C8B-B14F-4D97-AF65-F5344CB8AC3E}">
        <p14:creationId xmlns:p14="http://schemas.microsoft.com/office/powerpoint/2010/main" val="2542590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E4664-033F-5946-9250-74E338CE9E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D32664-F324-7C71-6ADE-9D08D1E9263C}"/>
              </a:ext>
            </a:extLst>
          </p:cNvPr>
          <p:cNvSpPr>
            <a:spLocks noGrp="1"/>
          </p:cNvSpPr>
          <p:nvPr>
            <p:ph type="title"/>
          </p:nvPr>
        </p:nvSpPr>
        <p:spPr>
          <a:xfrm>
            <a:off x="437712" y="-1141193"/>
            <a:ext cx="10515600" cy="2852737"/>
          </a:xfrm>
        </p:spPr>
        <p:txBody>
          <a:bodyPr/>
          <a:lstStyle/>
          <a:p>
            <a:r>
              <a:rPr lang="en-US">
                <a:latin typeface="Calibri"/>
                <a:ea typeface="Calibri"/>
                <a:cs typeface="Calibri"/>
              </a:rPr>
              <a:t>Benefits</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3F790028-369C-3979-BA3F-155B748C67FB}"/>
              </a:ext>
            </a:extLst>
          </p:cNvPr>
          <p:cNvSpPr>
            <a:spLocks noGrp="1"/>
          </p:cNvSpPr>
          <p:nvPr>
            <p:ph type="body" idx="1"/>
          </p:nvPr>
        </p:nvSpPr>
        <p:spPr>
          <a:xfrm>
            <a:off x="365453" y="1929032"/>
            <a:ext cx="10515600" cy="1500187"/>
          </a:xfrm>
        </p:spPr>
        <p:txBody>
          <a:bodyPr vert="horz" lIns="91440" tIns="45720" rIns="91440" bIns="45720" rtlCol="0" anchor="t">
            <a:normAutofit/>
          </a:bodyPr>
          <a:lstStyle/>
          <a:p>
            <a:r>
              <a:rPr lang="en-US" sz="2800">
                <a:solidFill>
                  <a:schemeClr val="tx1"/>
                </a:solidFill>
                <a:latin typeface="Calibri"/>
                <a:ea typeface="Calibri"/>
                <a:cs typeface="Calibri"/>
              </a:rPr>
              <a:t>AI saves time. </a:t>
            </a:r>
          </a:p>
          <a:p>
            <a:r>
              <a:rPr lang="en-US" sz="2800">
                <a:solidFill>
                  <a:schemeClr val="tx1"/>
                </a:solidFill>
                <a:latin typeface="Calibri"/>
                <a:ea typeface="Calibri"/>
                <a:cs typeface="Calibri"/>
              </a:rPr>
              <a:t>Teachers remain responsible for learning.</a:t>
            </a:r>
            <a:endParaRPr lang="en-US" sz="2800" dirty="0">
              <a:solidFill>
                <a:schemeClr val="tx1"/>
              </a:solidFill>
              <a:latin typeface="Calibri"/>
              <a:ea typeface="Calibri"/>
              <a:cs typeface="Calibri"/>
            </a:endParaRPr>
          </a:p>
        </p:txBody>
      </p:sp>
      <p:pic>
        <p:nvPicPr>
          <p:cNvPr id="4" name="Picture 3">
            <a:extLst>
              <a:ext uri="{FF2B5EF4-FFF2-40B4-BE49-F238E27FC236}">
                <a16:creationId xmlns:a16="http://schemas.microsoft.com/office/drawing/2014/main" id="{AAD1263B-8027-9854-021B-B4E41A87B85E}"/>
              </a:ext>
            </a:extLst>
          </p:cNvPr>
          <p:cNvPicPr>
            <a:picLocks noChangeAspect="1"/>
          </p:cNvPicPr>
          <p:nvPr/>
        </p:nvPicPr>
        <p:blipFill>
          <a:blip r:embed="rId3"/>
          <a:srcRect t="6651" r="94" b="238"/>
          <a:stretch>
            <a:fillRect/>
          </a:stretch>
        </p:blipFill>
        <p:spPr>
          <a:xfrm>
            <a:off x="1478189" y="3167970"/>
            <a:ext cx="8444597" cy="3105637"/>
          </a:xfrm>
          <a:prstGeom prst="rect">
            <a:avLst/>
          </a:prstGeom>
        </p:spPr>
      </p:pic>
    </p:spTree>
    <p:extLst>
      <p:ext uri="{BB962C8B-B14F-4D97-AF65-F5344CB8AC3E}">
        <p14:creationId xmlns:p14="http://schemas.microsoft.com/office/powerpoint/2010/main" val="2365756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4A2BC-7803-9E9A-BCE7-7A1E78B3F2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8E3AE3-0AA7-55C8-153C-C14519CFCD06}"/>
              </a:ext>
            </a:extLst>
          </p:cNvPr>
          <p:cNvSpPr>
            <a:spLocks noGrp="1"/>
          </p:cNvSpPr>
          <p:nvPr>
            <p:ph type="title"/>
          </p:nvPr>
        </p:nvSpPr>
        <p:spPr>
          <a:xfrm>
            <a:off x="437712" y="-1141193"/>
            <a:ext cx="10515600" cy="2852737"/>
          </a:xfrm>
        </p:spPr>
        <p:txBody>
          <a:bodyPr/>
          <a:lstStyle/>
          <a:p>
            <a:r>
              <a:rPr lang="en-US">
                <a:latin typeface="Calibri"/>
                <a:ea typeface="Calibri"/>
                <a:cs typeface="Calibri"/>
              </a:rPr>
              <a:t>Reflection</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8CADD5CE-F190-5A75-BB43-8990FCDED5C0}"/>
              </a:ext>
            </a:extLst>
          </p:cNvPr>
          <p:cNvSpPr>
            <a:spLocks noGrp="1"/>
          </p:cNvSpPr>
          <p:nvPr>
            <p:ph type="body" idx="1"/>
          </p:nvPr>
        </p:nvSpPr>
        <p:spPr>
          <a:xfrm>
            <a:off x="365453" y="1929032"/>
            <a:ext cx="10515600" cy="1500187"/>
          </a:xfrm>
        </p:spPr>
        <p:txBody>
          <a:bodyPr vert="horz" lIns="91440" tIns="45720" rIns="91440" bIns="45720" rtlCol="0" anchor="t">
            <a:normAutofit/>
          </a:bodyPr>
          <a:lstStyle/>
          <a:p>
            <a:r>
              <a:rPr lang="en-US" sz="2800">
                <a:solidFill>
                  <a:schemeClr val="tx1"/>
                </a:solidFill>
                <a:latin typeface="Calibri"/>
                <a:ea typeface="Calibri"/>
                <a:cs typeface="Calibri"/>
              </a:rPr>
              <a:t>Question:</a:t>
            </a:r>
            <a:endParaRPr lang="en-US" sz="2800" dirty="0">
              <a:solidFill>
                <a:schemeClr val="tx1"/>
              </a:solidFill>
              <a:latin typeface="Calibri"/>
              <a:ea typeface="Calibri"/>
              <a:cs typeface="Calibri"/>
            </a:endParaRPr>
          </a:p>
          <a:p>
            <a:endParaRPr lang="en-US" sz="2800" dirty="0">
              <a:solidFill>
                <a:schemeClr val="tx1"/>
              </a:solidFill>
              <a:latin typeface="Calibri"/>
              <a:ea typeface="Calibri"/>
              <a:cs typeface="Calibri"/>
            </a:endParaRPr>
          </a:p>
          <a:p>
            <a:r>
              <a:rPr lang="en-US" sz="2800" dirty="0">
                <a:solidFill>
                  <a:schemeClr val="tx1"/>
                </a:solidFill>
                <a:latin typeface="Calibri"/>
                <a:ea typeface="Calibri"/>
                <a:cs typeface="Calibri"/>
              </a:rPr>
              <a:t>What is </a:t>
            </a:r>
            <a:r>
              <a:rPr lang="en-US" sz="2800">
                <a:solidFill>
                  <a:schemeClr val="tx1"/>
                </a:solidFill>
                <a:latin typeface="Calibri"/>
                <a:ea typeface="Calibri"/>
                <a:cs typeface="Calibri"/>
              </a:rPr>
              <a:t>one way AI could help you in your classroom? </a:t>
            </a:r>
            <a:endParaRPr lang="en-US" sz="2800" dirty="0">
              <a:solidFill>
                <a:schemeClr val="tx1"/>
              </a:solidFill>
              <a:latin typeface="Calibri"/>
              <a:ea typeface="Calibri"/>
              <a:cs typeface="Calibri"/>
            </a:endParaRPr>
          </a:p>
        </p:txBody>
      </p:sp>
      <p:sp>
        <p:nvSpPr>
          <p:cNvPr id="4" name="TextBox 3">
            <a:extLst>
              <a:ext uri="{FF2B5EF4-FFF2-40B4-BE49-F238E27FC236}">
                <a16:creationId xmlns:a16="http://schemas.microsoft.com/office/drawing/2014/main" id="{C01E8860-3FAA-55B1-AB67-5EAFD4D3FC7B}"/>
              </a:ext>
            </a:extLst>
          </p:cNvPr>
          <p:cNvSpPr txBox="1"/>
          <p:nvPr/>
        </p:nvSpPr>
        <p:spPr>
          <a:xfrm>
            <a:off x="362857" y="3831771"/>
            <a:ext cx="8164285"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Calibri"/>
                <a:ea typeface="Calibri"/>
                <a:cs typeface="Calibri"/>
              </a:rPr>
              <a:t>Answer in text box: </a:t>
            </a:r>
            <a:endParaRPr lang="en-US" sz="2400" dirty="0">
              <a:latin typeface="Calibri"/>
              <a:ea typeface="Calibri"/>
              <a:cs typeface="Calibri"/>
            </a:endParaRPr>
          </a:p>
          <a:p>
            <a:endParaRPr lang="en-US" sz="2400" dirty="0">
              <a:latin typeface="Calibri"/>
              <a:ea typeface="Calibri"/>
              <a:cs typeface="Calibri"/>
            </a:endParaRPr>
          </a:p>
          <a:p>
            <a:endParaRPr lang="en-US" dirty="0">
              <a:latin typeface="Calibri"/>
              <a:ea typeface="Calibri"/>
              <a:cs typeface="Calibri"/>
            </a:endParaRPr>
          </a:p>
          <a:p>
            <a:endParaRPr lang="en-US" dirty="0">
              <a:latin typeface="Calibri"/>
              <a:ea typeface="Calibri"/>
              <a:cs typeface="Calibri"/>
            </a:endParaRPr>
          </a:p>
          <a:p>
            <a:endParaRPr lang="en-US" dirty="0">
              <a:latin typeface="Calibri"/>
              <a:ea typeface="Calibri"/>
              <a:cs typeface="Calibri"/>
            </a:endParaRPr>
          </a:p>
          <a:p>
            <a:endParaRPr lang="en-US" dirty="0">
              <a:latin typeface="Calibri"/>
              <a:ea typeface="Calibri"/>
              <a:cs typeface="Calibri"/>
            </a:endParaRPr>
          </a:p>
          <a:p>
            <a:endParaRPr lang="en-US" dirty="0">
              <a:latin typeface="Calibri"/>
              <a:ea typeface="Calibri"/>
              <a:cs typeface="Calibri"/>
            </a:endParaRPr>
          </a:p>
          <a:p>
            <a:endParaRPr lang="en-US" dirty="0">
              <a:latin typeface="Calibri"/>
              <a:ea typeface="Calibri"/>
              <a:cs typeface="Calibri"/>
            </a:endParaRPr>
          </a:p>
          <a:p>
            <a:endParaRPr lang="en-US" dirty="0">
              <a:latin typeface="Calibri"/>
              <a:ea typeface="Calibri"/>
              <a:cs typeface="Calibri"/>
            </a:endParaRPr>
          </a:p>
          <a:p>
            <a:endParaRPr lang="en-US" dirty="0">
              <a:latin typeface="Calibri"/>
              <a:ea typeface="Calibri"/>
              <a:cs typeface="Calibri"/>
            </a:endParaRPr>
          </a:p>
        </p:txBody>
      </p:sp>
      <p:sp>
        <p:nvSpPr>
          <p:cNvPr id="5" name="Rectangle 4">
            <a:extLst>
              <a:ext uri="{FF2B5EF4-FFF2-40B4-BE49-F238E27FC236}">
                <a16:creationId xmlns:a16="http://schemas.microsoft.com/office/drawing/2014/main" id="{EEEE109C-518C-F7A3-B95D-CB47314CB900}"/>
              </a:ext>
            </a:extLst>
          </p:cNvPr>
          <p:cNvSpPr/>
          <p:nvPr/>
        </p:nvSpPr>
        <p:spPr>
          <a:xfrm>
            <a:off x="362856" y="4376057"/>
            <a:ext cx="7053942" cy="230777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latin typeface="Calibri"/>
              <a:ea typeface="Calibri"/>
              <a:cs typeface="Calibri"/>
            </a:endParaRPr>
          </a:p>
        </p:txBody>
      </p:sp>
    </p:spTree>
    <p:extLst>
      <p:ext uri="{BB962C8B-B14F-4D97-AF65-F5344CB8AC3E}">
        <p14:creationId xmlns:p14="http://schemas.microsoft.com/office/powerpoint/2010/main" val="28373184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BCA8F-2F90-A505-6B2C-4922A4867B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F98B86-34C0-B09E-6D0B-EBDB93E4B764}"/>
              </a:ext>
            </a:extLst>
          </p:cNvPr>
          <p:cNvSpPr>
            <a:spLocks noGrp="1"/>
          </p:cNvSpPr>
          <p:nvPr>
            <p:ph type="title"/>
          </p:nvPr>
        </p:nvSpPr>
        <p:spPr>
          <a:xfrm>
            <a:off x="437712" y="-1141193"/>
            <a:ext cx="10515600" cy="2852737"/>
          </a:xfrm>
        </p:spPr>
        <p:txBody>
          <a:bodyPr/>
          <a:lstStyle/>
          <a:p>
            <a:r>
              <a:rPr lang="en-US">
                <a:latin typeface="Calibri"/>
                <a:ea typeface="Calibri"/>
                <a:cs typeface="Calibri"/>
              </a:rPr>
              <a:t>Looking Ahead</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0A3C550C-263D-CCD6-B28C-072055F28B12}"/>
              </a:ext>
            </a:extLst>
          </p:cNvPr>
          <p:cNvSpPr>
            <a:spLocks noGrp="1"/>
          </p:cNvSpPr>
          <p:nvPr>
            <p:ph type="body" idx="1"/>
          </p:nvPr>
        </p:nvSpPr>
        <p:spPr>
          <a:xfrm>
            <a:off x="365453" y="1929032"/>
            <a:ext cx="10515600" cy="1500187"/>
          </a:xfrm>
        </p:spPr>
        <p:txBody>
          <a:bodyPr vert="horz" lIns="91440" tIns="45720" rIns="91440" bIns="45720" rtlCol="0" anchor="t">
            <a:normAutofit/>
          </a:bodyPr>
          <a:lstStyle/>
          <a:p>
            <a:r>
              <a:rPr lang="en-US" sz="2800">
                <a:solidFill>
                  <a:schemeClr val="tx1"/>
                </a:solidFill>
                <a:latin typeface="Calibri"/>
                <a:ea typeface="Calibri"/>
                <a:cs typeface="Calibri"/>
              </a:rPr>
              <a:t>Your ideas matter.</a:t>
            </a:r>
            <a:endParaRPr lang="en-US" sz="2800" dirty="0">
              <a:solidFill>
                <a:schemeClr val="tx1"/>
              </a:solidFill>
              <a:latin typeface="Calibri"/>
              <a:ea typeface="Calibri"/>
              <a:cs typeface="Calibri"/>
            </a:endParaRPr>
          </a:p>
          <a:p>
            <a:r>
              <a:rPr lang="en-US" sz="2800">
                <a:solidFill>
                  <a:schemeClr val="tx1"/>
                </a:solidFill>
                <a:latin typeface="Calibri"/>
                <a:ea typeface="Calibri"/>
                <a:cs typeface="Calibri"/>
              </a:rPr>
              <a:t>Next, you'll explore real classroom examples. </a:t>
            </a:r>
          </a:p>
        </p:txBody>
      </p:sp>
      <p:pic>
        <p:nvPicPr>
          <p:cNvPr id="4" name="Picture 3">
            <a:extLst>
              <a:ext uri="{FF2B5EF4-FFF2-40B4-BE49-F238E27FC236}">
                <a16:creationId xmlns:a16="http://schemas.microsoft.com/office/drawing/2014/main" id="{4FF0DB53-24A4-32AE-432B-4624A74FE696}"/>
              </a:ext>
            </a:extLst>
          </p:cNvPr>
          <p:cNvPicPr>
            <a:picLocks noChangeAspect="1"/>
          </p:cNvPicPr>
          <p:nvPr/>
        </p:nvPicPr>
        <p:blipFill>
          <a:blip r:embed="rId3"/>
          <a:stretch>
            <a:fillRect/>
          </a:stretch>
        </p:blipFill>
        <p:spPr>
          <a:xfrm>
            <a:off x="7722734" y="1928360"/>
            <a:ext cx="3800475" cy="4772025"/>
          </a:xfrm>
          <a:prstGeom prst="rect">
            <a:avLst/>
          </a:prstGeom>
        </p:spPr>
      </p:pic>
      <p:pic>
        <p:nvPicPr>
          <p:cNvPr id="5" name="Picture 4">
            <a:extLst>
              <a:ext uri="{FF2B5EF4-FFF2-40B4-BE49-F238E27FC236}">
                <a16:creationId xmlns:a16="http://schemas.microsoft.com/office/drawing/2014/main" id="{30466417-90FD-0E07-D200-3120AC5A3B1F}"/>
              </a:ext>
            </a:extLst>
          </p:cNvPr>
          <p:cNvPicPr>
            <a:picLocks noChangeAspect="1"/>
          </p:cNvPicPr>
          <p:nvPr/>
        </p:nvPicPr>
        <p:blipFill>
          <a:blip r:embed="rId4"/>
          <a:stretch>
            <a:fillRect/>
          </a:stretch>
        </p:blipFill>
        <p:spPr>
          <a:xfrm>
            <a:off x="2156505" y="3429907"/>
            <a:ext cx="3785961" cy="3278414"/>
          </a:xfrm>
          <a:prstGeom prst="rect">
            <a:avLst/>
          </a:prstGeom>
        </p:spPr>
      </p:pic>
    </p:spTree>
    <p:extLst>
      <p:ext uri="{BB962C8B-B14F-4D97-AF65-F5344CB8AC3E}">
        <p14:creationId xmlns:p14="http://schemas.microsoft.com/office/powerpoint/2010/main" val="10043375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B86AC1B-58C2-081F-A389-D7CF58E61D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417353-4BF7-31AC-13CD-D37D5F13F0BD}"/>
              </a:ext>
            </a:extLst>
          </p:cNvPr>
          <p:cNvSpPr>
            <a:spLocks noGrp="1"/>
          </p:cNvSpPr>
          <p:nvPr>
            <p:ph type="title"/>
          </p:nvPr>
        </p:nvSpPr>
        <p:spPr>
          <a:xfrm>
            <a:off x="3050282" y="1057721"/>
            <a:ext cx="10515600" cy="2852737"/>
          </a:xfrm>
        </p:spPr>
        <p:txBody>
          <a:bodyPr/>
          <a:lstStyle/>
          <a:p>
            <a:r>
              <a:rPr lang="en-US">
                <a:solidFill>
                  <a:schemeClr val="bg1"/>
                </a:solidFill>
                <a:latin typeface="Calibri"/>
                <a:ea typeface="Calibri"/>
                <a:cs typeface="Calibri"/>
              </a:rPr>
              <a:t>Exploration Phase </a:t>
            </a:r>
            <a:endParaRPr lang="en-US" dirty="0">
              <a:solidFill>
                <a:schemeClr val="bg1"/>
              </a:solidFill>
              <a:latin typeface="Calibri"/>
              <a:ea typeface="Calibri"/>
              <a:cs typeface="Calibri"/>
            </a:endParaRPr>
          </a:p>
        </p:txBody>
      </p:sp>
      <p:sp>
        <p:nvSpPr>
          <p:cNvPr id="3" name="Content Placeholder 2">
            <a:extLst>
              <a:ext uri="{FF2B5EF4-FFF2-40B4-BE49-F238E27FC236}">
                <a16:creationId xmlns:a16="http://schemas.microsoft.com/office/drawing/2014/main" id="{E7239EF5-D520-99D4-D7A0-44C2845801B2}"/>
              </a:ext>
            </a:extLst>
          </p:cNvPr>
          <p:cNvSpPr>
            <a:spLocks noGrp="1"/>
          </p:cNvSpPr>
          <p:nvPr>
            <p:ph type="body" idx="1"/>
          </p:nvPr>
        </p:nvSpPr>
        <p:spPr>
          <a:xfrm>
            <a:off x="365453" y="1929032"/>
            <a:ext cx="10515600" cy="1500187"/>
          </a:xfrm>
        </p:spPr>
        <p:txBody>
          <a:bodyPr vert="horz" lIns="91440" tIns="45720" rIns="91440" bIns="45720" rtlCol="0" anchor="t">
            <a:normAutofit/>
          </a:bodyPr>
          <a:lstStyle/>
          <a:p>
            <a:r>
              <a:rPr lang="en-US" sz="2800">
                <a:solidFill>
                  <a:schemeClr val="tx1"/>
                </a:solidFill>
              </a:rPr>
              <a:t>T</a:t>
            </a:r>
            <a:endParaRPr lang="en-US" sz="2800" dirty="0">
              <a:solidFill>
                <a:schemeClr val="tx1"/>
              </a:solidFill>
            </a:endParaRPr>
          </a:p>
        </p:txBody>
      </p:sp>
    </p:spTree>
    <p:extLst>
      <p:ext uri="{BB962C8B-B14F-4D97-AF65-F5344CB8AC3E}">
        <p14:creationId xmlns:p14="http://schemas.microsoft.com/office/powerpoint/2010/main" val="19832251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C970B-65FD-C2D3-CFCE-AEAA1322C8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E8E4F0-CE63-D67A-80EB-72929E7818D8}"/>
              </a:ext>
            </a:extLst>
          </p:cNvPr>
          <p:cNvSpPr>
            <a:spLocks noGrp="1"/>
          </p:cNvSpPr>
          <p:nvPr>
            <p:ph type="title"/>
          </p:nvPr>
        </p:nvSpPr>
        <p:spPr>
          <a:xfrm>
            <a:off x="437712" y="-1141193"/>
            <a:ext cx="10515600" cy="2852737"/>
          </a:xfrm>
        </p:spPr>
        <p:txBody>
          <a:bodyPr/>
          <a:lstStyle/>
          <a:p>
            <a:r>
              <a:rPr lang="en-US">
                <a:latin typeface="Calibri"/>
                <a:ea typeface="Calibri"/>
                <a:cs typeface="Calibri"/>
              </a:rPr>
              <a:t>AI Basics</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29B0D7FE-67C4-1F09-B32E-F06483B97B46}"/>
              </a:ext>
            </a:extLst>
          </p:cNvPr>
          <p:cNvSpPr>
            <a:spLocks noGrp="1"/>
          </p:cNvSpPr>
          <p:nvPr>
            <p:ph type="body" idx="1"/>
          </p:nvPr>
        </p:nvSpPr>
        <p:spPr>
          <a:xfrm>
            <a:off x="365453" y="1929032"/>
            <a:ext cx="10515600" cy="1500187"/>
          </a:xfrm>
        </p:spPr>
        <p:txBody>
          <a:bodyPr vert="horz" lIns="91440" tIns="45720" rIns="91440" bIns="45720" rtlCol="0" anchor="t">
            <a:normAutofit/>
          </a:bodyPr>
          <a:lstStyle/>
          <a:p>
            <a:r>
              <a:rPr lang="en-US" sz="2800" dirty="0">
                <a:solidFill>
                  <a:schemeClr val="tx1"/>
                </a:solidFill>
                <a:latin typeface="Calibri"/>
                <a:ea typeface="Calibri"/>
                <a:cs typeface="Calibri"/>
              </a:rPr>
              <a:t>Artificial Intelligence uses technology </a:t>
            </a:r>
            <a:r>
              <a:rPr lang="en-US" sz="2800">
                <a:solidFill>
                  <a:schemeClr val="tx1"/>
                </a:solidFill>
                <a:latin typeface="Calibri"/>
                <a:ea typeface="Calibri"/>
                <a:cs typeface="Calibri"/>
              </a:rPr>
              <a:t>to complete tasks. </a:t>
            </a:r>
            <a:endParaRPr lang="en-US" sz="2800" dirty="0">
              <a:solidFill>
                <a:schemeClr val="tx1"/>
              </a:solidFill>
              <a:latin typeface="Calibri"/>
              <a:ea typeface="Calibri"/>
              <a:cs typeface="Calibri"/>
            </a:endParaRPr>
          </a:p>
          <a:p>
            <a:r>
              <a:rPr lang="en-US" sz="2800">
                <a:solidFill>
                  <a:schemeClr val="tx1"/>
                </a:solidFill>
                <a:latin typeface="Calibri"/>
                <a:ea typeface="Calibri"/>
                <a:cs typeface="Calibri"/>
              </a:rPr>
              <a:t>AI can support teaching and learning. </a:t>
            </a:r>
            <a:endParaRPr lang="en-US" sz="2800" dirty="0">
              <a:solidFill>
                <a:schemeClr val="tx1"/>
              </a:solidFill>
              <a:latin typeface="Calibri"/>
              <a:ea typeface="Calibri"/>
              <a:cs typeface="Calibri"/>
            </a:endParaRPr>
          </a:p>
        </p:txBody>
      </p:sp>
      <p:pic>
        <p:nvPicPr>
          <p:cNvPr id="5" name="Picture 4">
            <a:extLst>
              <a:ext uri="{FF2B5EF4-FFF2-40B4-BE49-F238E27FC236}">
                <a16:creationId xmlns:a16="http://schemas.microsoft.com/office/drawing/2014/main" id="{34E68058-E705-2E68-8863-FC7216D50733}"/>
              </a:ext>
            </a:extLst>
          </p:cNvPr>
          <p:cNvPicPr>
            <a:picLocks noChangeAspect="1"/>
          </p:cNvPicPr>
          <p:nvPr/>
        </p:nvPicPr>
        <p:blipFill>
          <a:blip r:embed="rId3"/>
          <a:stretch>
            <a:fillRect/>
          </a:stretch>
        </p:blipFill>
        <p:spPr>
          <a:xfrm>
            <a:off x="3433536" y="3126014"/>
            <a:ext cx="4323442" cy="3327400"/>
          </a:xfrm>
          <a:prstGeom prst="rect">
            <a:avLst/>
          </a:prstGeom>
        </p:spPr>
      </p:pic>
    </p:spTree>
    <p:extLst>
      <p:ext uri="{BB962C8B-B14F-4D97-AF65-F5344CB8AC3E}">
        <p14:creationId xmlns:p14="http://schemas.microsoft.com/office/powerpoint/2010/main" val="42557372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270EA-90E5-434C-CB56-9BF64BECAA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A90EE1-0A48-BC7C-2E41-25FE6AB5B993}"/>
              </a:ext>
            </a:extLst>
          </p:cNvPr>
          <p:cNvSpPr>
            <a:spLocks noGrp="1"/>
          </p:cNvSpPr>
          <p:nvPr>
            <p:ph type="title"/>
          </p:nvPr>
        </p:nvSpPr>
        <p:spPr>
          <a:xfrm>
            <a:off x="437712" y="-1141193"/>
            <a:ext cx="10515600" cy="2852737"/>
          </a:xfrm>
        </p:spPr>
        <p:txBody>
          <a:bodyPr/>
          <a:lstStyle/>
          <a:p>
            <a:r>
              <a:rPr lang="en-US">
                <a:latin typeface="Calibri"/>
                <a:ea typeface="Calibri"/>
                <a:cs typeface="Calibri"/>
              </a:rPr>
              <a:t>AI Tools </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D7B663C7-86F4-F084-F1E5-0670BF1D27D9}"/>
              </a:ext>
            </a:extLst>
          </p:cNvPr>
          <p:cNvSpPr>
            <a:spLocks noGrp="1"/>
          </p:cNvSpPr>
          <p:nvPr>
            <p:ph type="body" idx="1"/>
          </p:nvPr>
        </p:nvSpPr>
        <p:spPr>
          <a:xfrm>
            <a:off x="365453" y="1929032"/>
            <a:ext cx="10515600" cy="1500187"/>
          </a:xfrm>
        </p:spPr>
        <p:txBody>
          <a:bodyPr vert="horz" lIns="91440" tIns="45720" rIns="91440" bIns="45720" rtlCol="0" anchor="t">
            <a:normAutofit/>
          </a:bodyPr>
          <a:lstStyle/>
          <a:p>
            <a:r>
              <a:rPr lang="en-US" sz="2800">
                <a:solidFill>
                  <a:schemeClr val="tx1"/>
                </a:solidFill>
                <a:latin typeface="Calibri"/>
                <a:ea typeface="Calibri"/>
                <a:cs typeface="Calibri"/>
              </a:rPr>
              <a:t>Teachers can use AI tools for classroom support.</a:t>
            </a:r>
            <a:endParaRPr lang="en-US" sz="2800" dirty="0">
              <a:solidFill>
                <a:schemeClr val="tx1"/>
              </a:solidFill>
              <a:latin typeface="Calibri"/>
              <a:ea typeface="Calibri"/>
              <a:cs typeface="Calibri"/>
            </a:endParaRPr>
          </a:p>
          <a:p>
            <a:r>
              <a:rPr lang="en-US" sz="2800" dirty="0">
                <a:solidFill>
                  <a:schemeClr val="tx1"/>
                </a:solidFill>
                <a:latin typeface="Calibri"/>
                <a:ea typeface="Calibri"/>
                <a:cs typeface="Calibri"/>
              </a:rPr>
              <a:t>AI helps save time while improving </a:t>
            </a:r>
            <a:r>
              <a:rPr lang="en-US" sz="2800">
                <a:solidFill>
                  <a:schemeClr val="tx1"/>
                </a:solidFill>
                <a:latin typeface="Calibri"/>
                <a:ea typeface="Calibri"/>
                <a:cs typeface="Calibri"/>
              </a:rPr>
              <a:t>instruction. </a:t>
            </a:r>
            <a:endParaRPr lang="en-US" sz="2800" dirty="0">
              <a:solidFill>
                <a:schemeClr val="tx1"/>
              </a:solidFill>
              <a:latin typeface="Calibri"/>
              <a:ea typeface="Calibri"/>
              <a:cs typeface="Calibri"/>
            </a:endParaRPr>
          </a:p>
        </p:txBody>
      </p:sp>
      <p:pic>
        <p:nvPicPr>
          <p:cNvPr id="4" name="Picture 3">
            <a:extLst>
              <a:ext uri="{FF2B5EF4-FFF2-40B4-BE49-F238E27FC236}">
                <a16:creationId xmlns:a16="http://schemas.microsoft.com/office/drawing/2014/main" id="{A360D836-BE84-B0B1-6F33-291A612CBFA3}"/>
              </a:ext>
            </a:extLst>
          </p:cNvPr>
          <p:cNvPicPr>
            <a:picLocks noChangeAspect="1"/>
          </p:cNvPicPr>
          <p:nvPr/>
        </p:nvPicPr>
        <p:blipFill>
          <a:blip r:embed="rId3"/>
          <a:stretch>
            <a:fillRect/>
          </a:stretch>
        </p:blipFill>
        <p:spPr>
          <a:xfrm>
            <a:off x="4436836" y="2995386"/>
            <a:ext cx="3311071" cy="3559628"/>
          </a:xfrm>
          <a:prstGeom prst="rect">
            <a:avLst/>
          </a:prstGeom>
        </p:spPr>
      </p:pic>
    </p:spTree>
    <p:extLst>
      <p:ext uri="{BB962C8B-B14F-4D97-AF65-F5344CB8AC3E}">
        <p14:creationId xmlns:p14="http://schemas.microsoft.com/office/powerpoint/2010/main" val="19938443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01D0C-4B14-B87C-5928-4CCDF66E81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31319B-7671-E0D9-CE18-66BC148815A3}"/>
              </a:ext>
            </a:extLst>
          </p:cNvPr>
          <p:cNvSpPr>
            <a:spLocks noGrp="1"/>
          </p:cNvSpPr>
          <p:nvPr>
            <p:ph type="title"/>
          </p:nvPr>
        </p:nvSpPr>
        <p:spPr>
          <a:xfrm>
            <a:off x="437712" y="-1141193"/>
            <a:ext cx="10515600" cy="2852737"/>
          </a:xfrm>
        </p:spPr>
        <p:txBody>
          <a:bodyPr/>
          <a:lstStyle/>
          <a:p>
            <a:r>
              <a:rPr lang="en-US">
                <a:latin typeface="Calibri"/>
                <a:ea typeface="Calibri"/>
                <a:cs typeface="Calibri"/>
              </a:rPr>
              <a:t>AI Sorting </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BD64BDBD-F27B-ACA5-5DC5-7FEC05DA6614}"/>
              </a:ext>
            </a:extLst>
          </p:cNvPr>
          <p:cNvSpPr>
            <a:spLocks noGrp="1"/>
          </p:cNvSpPr>
          <p:nvPr>
            <p:ph type="body" idx="1"/>
          </p:nvPr>
        </p:nvSpPr>
        <p:spPr>
          <a:xfrm>
            <a:off x="387224" y="1929032"/>
            <a:ext cx="11582400" cy="1500187"/>
          </a:xfrm>
        </p:spPr>
        <p:txBody>
          <a:bodyPr vert="horz" lIns="91440" tIns="45720" rIns="91440" bIns="45720" rtlCol="0" anchor="t">
            <a:normAutofit/>
          </a:bodyPr>
          <a:lstStyle/>
          <a:p>
            <a:r>
              <a:rPr lang="en-US" sz="2800">
                <a:solidFill>
                  <a:schemeClr val="tx1"/>
                </a:solidFill>
                <a:latin typeface="Calibri"/>
                <a:ea typeface="Calibri"/>
                <a:cs typeface="Calibri"/>
              </a:rPr>
              <a:t>Drag each time into the correct category.</a:t>
            </a:r>
            <a:endParaRPr lang="en-US" sz="2800" dirty="0">
              <a:solidFill>
                <a:schemeClr val="tx1"/>
              </a:solidFill>
              <a:latin typeface="Calibri"/>
              <a:ea typeface="Calibri"/>
              <a:cs typeface="Calibri"/>
            </a:endParaRPr>
          </a:p>
          <a:p>
            <a:r>
              <a:rPr lang="en-US" sz="2800" dirty="0">
                <a:solidFill>
                  <a:schemeClr val="tx1"/>
                </a:solidFill>
                <a:latin typeface="Calibri"/>
                <a:ea typeface="Calibri"/>
                <a:cs typeface="Calibri"/>
              </a:rPr>
              <a:t>Move each example into either "AI Support" or "Teacher </a:t>
            </a:r>
            <a:r>
              <a:rPr lang="en-US" sz="2800">
                <a:solidFill>
                  <a:schemeClr val="tx1"/>
                </a:solidFill>
                <a:latin typeface="Calibri"/>
                <a:ea typeface="Calibri"/>
                <a:cs typeface="Calibri"/>
              </a:rPr>
              <a:t>Responsibility."</a:t>
            </a:r>
            <a:endParaRPr lang="en-US" sz="2800" dirty="0">
              <a:solidFill>
                <a:schemeClr val="tx1"/>
              </a:solidFill>
              <a:latin typeface="Calibri"/>
              <a:ea typeface="Calibri"/>
              <a:cs typeface="Calibri"/>
            </a:endParaRPr>
          </a:p>
          <a:p>
            <a:endParaRPr lang="en-US" sz="2800" dirty="0">
              <a:solidFill>
                <a:schemeClr val="tx1"/>
              </a:solidFill>
              <a:latin typeface="Calibri"/>
              <a:ea typeface="Calibri"/>
              <a:cs typeface="Calibri"/>
            </a:endParaRPr>
          </a:p>
        </p:txBody>
      </p:sp>
      <p:sp>
        <p:nvSpPr>
          <p:cNvPr id="4" name="Rectangle 3">
            <a:extLst>
              <a:ext uri="{FF2B5EF4-FFF2-40B4-BE49-F238E27FC236}">
                <a16:creationId xmlns:a16="http://schemas.microsoft.com/office/drawing/2014/main" id="{3A34BB7B-B726-02CA-04ED-EB2DEBD08D07}"/>
              </a:ext>
            </a:extLst>
          </p:cNvPr>
          <p:cNvSpPr/>
          <p:nvPr/>
        </p:nvSpPr>
        <p:spPr>
          <a:xfrm>
            <a:off x="4064397" y="3430144"/>
            <a:ext cx="3925020" cy="31796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a:ea typeface="Calibri"/>
              <a:cs typeface="Calibri"/>
            </a:endParaRPr>
          </a:p>
        </p:txBody>
      </p:sp>
      <p:sp>
        <p:nvSpPr>
          <p:cNvPr id="6" name="Rectangle 5">
            <a:extLst>
              <a:ext uri="{FF2B5EF4-FFF2-40B4-BE49-F238E27FC236}">
                <a16:creationId xmlns:a16="http://schemas.microsoft.com/office/drawing/2014/main" id="{31E18BEC-A6EC-14E1-9407-3A056F9B9078}"/>
              </a:ext>
            </a:extLst>
          </p:cNvPr>
          <p:cNvSpPr/>
          <p:nvPr/>
        </p:nvSpPr>
        <p:spPr>
          <a:xfrm>
            <a:off x="8222739" y="3422886"/>
            <a:ext cx="3837935" cy="31868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solidFill>
                <a:srgbClr val="000000"/>
              </a:solidFill>
              <a:latin typeface="Calibri"/>
              <a:ea typeface="Calibri"/>
              <a:cs typeface="Calibri"/>
            </a:endParaRPr>
          </a:p>
        </p:txBody>
      </p:sp>
      <p:sp>
        <p:nvSpPr>
          <p:cNvPr id="7" name="TextBox 6">
            <a:extLst>
              <a:ext uri="{FF2B5EF4-FFF2-40B4-BE49-F238E27FC236}">
                <a16:creationId xmlns:a16="http://schemas.microsoft.com/office/drawing/2014/main" id="{5CD244F8-365D-700C-D9C3-59F3C3CE998C}"/>
              </a:ext>
            </a:extLst>
          </p:cNvPr>
          <p:cNvSpPr txBox="1"/>
          <p:nvPr/>
        </p:nvSpPr>
        <p:spPr>
          <a:xfrm>
            <a:off x="208766" y="3451019"/>
            <a:ext cx="379886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u="sng">
                <a:latin typeface="Calibri"/>
                <a:ea typeface="Calibri"/>
                <a:cs typeface="Calibri"/>
              </a:rPr>
              <a:t>Drag Items:</a:t>
            </a:r>
            <a:endParaRPr lang="en-US" sz="2800" b="1" u="sng" dirty="0">
              <a:latin typeface="Calibri"/>
              <a:ea typeface="Calibri"/>
              <a:cs typeface="Calibri"/>
            </a:endParaRPr>
          </a:p>
        </p:txBody>
      </p:sp>
      <p:sp>
        <p:nvSpPr>
          <p:cNvPr id="8" name="TextBox 7">
            <a:extLst>
              <a:ext uri="{FF2B5EF4-FFF2-40B4-BE49-F238E27FC236}">
                <a16:creationId xmlns:a16="http://schemas.microsoft.com/office/drawing/2014/main" id="{1475FDE1-0FB3-C444-0077-FFACB701FB56}"/>
              </a:ext>
            </a:extLst>
          </p:cNvPr>
          <p:cNvSpPr txBox="1"/>
          <p:nvPr/>
        </p:nvSpPr>
        <p:spPr>
          <a:xfrm>
            <a:off x="5196014" y="3448037"/>
            <a:ext cx="2797479"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u="sng" dirty="0">
                <a:solidFill>
                  <a:schemeClr val="bg1"/>
                </a:solidFill>
                <a:latin typeface="Calibri"/>
                <a:ea typeface="Calibri"/>
                <a:cs typeface="Calibri"/>
              </a:rPr>
              <a:t>AI </a:t>
            </a:r>
            <a:r>
              <a:rPr lang="en-US" sz="2800" b="1" u="sng">
                <a:solidFill>
                  <a:schemeClr val="bg1"/>
                </a:solidFill>
                <a:latin typeface="Calibri"/>
                <a:ea typeface="Calibri"/>
                <a:cs typeface="Calibri"/>
              </a:rPr>
              <a:t>Support</a:t>
            </a:r>
          </a:p>
          <a:p>
            <a:endParaRPr lang="en-US" dirty="0">
              <a:latin typeface="Calibri"/>
              <a:ea typeface="Calibri"/>
              <a:cs typeface="Calibri"/>
            </a:endParaRPr>
          </a:p>
        </p:txBody>
      </p:sp>
      <p:sp>
        <p:nvSpPr>
          <p:cNvPr id="9" name="TextBox 8">
            <a:extLst>
              <a:ext uri="{FF2B5EF4-FFF2-40B4-BE49-F238E27FC236}">
                <a16:creationId xmlns:a16="http://schemas.microsoft.com/office/drawing/2014/main" id="{6E22E60B-73E0-5C39-F33C-FE9834ECAFC4}"/>
              </a:ext>
            </a:extLst>
          </p:cNvPr>
          <p:cNvSpPr txBox="1"/>
          <p:nvPr/>
        </p:nvSpPr>
        <p:spPr>
          <a:xfrm>
            <a:off x="8185858" y="3449230"/>
            <a:ext cx="387869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u="sng">
                <a:solidFill>
                  <a:schemeClr val="bg1"/>
                </a:solidFill>
                <a:latin typeface="Calibri"/>
                <a:ea typeface="Calibri"/>
                <a:cs typeface="Calibri"/>
              </a:rPr>
              <a:t>Teacher Responsibility</a:t>
            </a:r>
          </a:p>
        </p:txBody>
      </p:sp>
      <p:sp>
        <p:nvSpPr>
          <p:cNvPr id="10" name="TextBox 9">
            <a:extLst>
              <a:ext uri="{FF2B5EF4-FFF2-40B4-BE49-F238E27FC236}">
                <a16:creationId xmlns:a16="http://schemas.microsoft.com/office/drawing/2014/main" id="{526C28D0-9B07-CC07-1221-AE145B4CF4CB}"/>
              </a:ext>
            </a:extLst>
          </p:cNvPr>
          <p:cNvSpPr txBox="1"/>
          <p:nvPr/>
        </p:nvSpPr>
        <p:spPr>
          <a:xfrm>
            <a:off x="4563152" y="4243341"/>
            <a:ext cx="3068876"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a:solidFill>
                  <a:schemeClr val="bg1"/>
                </a:solidFill>
                <a:latin typeface="Calibri"/>
                <a:ea typeface="Calibri"/>
                <a:cs typeface="Calibri"/>
              </a:rPr>
              <a:t>Lesson idea generation</a:t>
            </a:r>
          </a:p>
        </p:txBody>
      </p:sp>
      <p:sp>
        <p:nvSpPr>
          <p:cNvPr id="12" name="TextBox 11">
            <a:extLst>
              <a:ext uri="{FF2B5EF4-FFF2-40B4-BE49-F238E27FC236}">
                <a16:creationId xmlns:a16="http://schemas.microsoft.com/office/drawing/2014/main" id="{E1FA32DA-74E2-2C38-E06E-2A231E81267D}"/>
              </a:ext>
            </a:extLst>
          </p:cNvPr>
          <p:cNvSpPr txBox="1"/>
          <p:nvPr/>
        </p:nvSpPr>
        <p:spPr>
          <a:xfrm>
            <a:off x="329553" y="4780767"/>
            <a:ext cx="3089753"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a:latin typeface="Calibri"/>
                <a:ea typeface="Calibri"/>
                <a:cs typeface="Calibri"/>
              </a:rPr>
              <a:t>Student relationships</a:t>
            </a:r>
            <a:endParaRPr lang="en-US" sz="2200" dirty="0">
              <a:latin typeface="Calibri"/>
              <a:ea typeface="Calibri"/>
              <a:cs typeface="Calibri"/>
            </a:endParaRPr>
          </a:p>
          <a:p>
            <a:endParaRPr lang="en-US" sz="2200" dirty="0">
              <a:latin typeface="Calibri"/>
              <a:ea typeface="Calibri"/>
              <a:cs typeface="Calibri"/>
            </a:endParaRPr>
          </a:p>
          <a:p>
            <a:endParaRPr lang="en-US" sz="2200" dirty="0">
              <a:latin typeface="Calibri"/>
              <a:ea typeface="Calibri"/>
              <a:cs typeface="Calibri"/>
            </a:endParaRPr>
          </a:p>
        </p:txBody>
      </p:sp>
      <p:sp>
        <p:nvSpPr>
          <p:cNvPr id="13" name="TextBox 12">
            <a:extLst>
              <a:ext uri="{FF2B5EF4-FFF2-40B4-BE49-F238E27FC236}">
                <a16:creationId xmlns:a16="http://schemas.microsoft.com/office/drawing/2014/main" id="{8D68DDBA-0BF0-CC79-DBB8-347F5B1B261C}"/>
              </a:ext>
            </a:extLst>
          </p:cNvPr>
          <p:cNvSpPr txBox="1"/>
          <p:nvPr/>
        </p:nvSpPr>
        <p:spPr>
          <a:xfrm>
            <a:off x="332337" y="5501411"/>
            <a:ext cx="3068876"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a:latin typeface="Calibri"/>
                <a:ea typeface="Calibri"/>
                <a:cs typeface="Calibri"/>
              </a:rPr>
              <a:t>Checking accuracy</a:t>
            </a:r>
            <a:endParaRPr lang="en-US" sz="2200" dirty="0">
              <a:latin typeface="Calibri"/>
              <a:ea typeface="Calibri"/>
              <a:cs typeface="Calibri"/>
            </a:endParaRPr>
          </a:p>
          <a:p>
            <a:endParaRPr lang="en-US" sz="2200" dirty="0">
              <a:latin typeface="Calibri"/>
              <a:ea typeface="Calibri"/>
              <a:cs typeface="Calibri"/>
            </a:endParaRPr>
          </a:p>
          <a:p>
            <a:endParaRPr lang="en-US" sz="2200" dirty="0">
              <a:latin typeface="Calibri"/>
              <a:ea typeface="Calibri"/>
              <a:cs typeface="Calibri"/>
            </a:endParaRPr>
          </a:p>
        </p:txBody>
      </p:sp>
      <p:sp>
        <p:nvSpPr>
          <p:cNvPr id="14" name="TextBox 13">
            <a:extLst>
              <a:ext uri="{FF2B5EF4-FFF2-40B4-BE49-F238E27FC236}">
                <a16:creationId xmlns:a16="http://schemas.microsoft.com/office/drawing/2014/main" id="{E6EC5F71-3439-A792-01FF-93B1AA2C6A88}"/>
              </a:ext>
            </a:extLst>
          </p:cNvPr>
          <p:cNvSpPr txBox="1"/>
          <p:nvPr/>
        </p:nvSpPr>
        <p:spPr>
          <a:xfrm>
            <a:off x="329653" y="6186765"/>
            <a:ext cx="3716253"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a:latin typeface="Calibri"/>
                <a:ea typeface="Calibri"/>
                <a:cs typeface="Calibri"/>
              </a:rPr>
              <a:t>Creating practice activities </a:t>
            </a:r>
            <a:endParaRPr lang="en-US">
              <a:latin typeface="Calibri"/>
              <a:ea typeface="Calibri"/>
              <a:cs typeface="Calibri"/>
            </a:endParaRPr>
          </a:p>
        </p:txBody>
      </p:sp>
      <p:sp>
        <p:nvSpPr>
          <p:cNvPr id="15" name="TextBox 14">
            <a:extLst>
              <a:ext uri="{FF2B5EF4-FFF2-40B4-BE49-F238E27FC236}">
                <a16:creationId xmlns:a16="http://schemas.microsoft.com/office/drawing/2014/main" id="{47BA0821-1136-E01F-DF0A-331F3559B48F}"/>
              </a:ext>
            </a:extLst>
          </p:cNvPr>
          <p:cNvSpPr txBox="1"/>
          <p:nvPr/>
        </p:nvSpPr>
        <p:spPr>
          <a:xfrm>
            <a:off x="390294" y="4032883"/>
            <a:ext cx="3068876"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a:latin typeface="Calibri"/>
                <a:ea typeface="Calibri"/>
                <a:cs typeface="Calibri"/>
              </a:rPr>
              <a:t>Lesson idea generation</a:t>
            </a:r>
          </a:p>
        </p:txBody>
      </p:sp>
      <p:sp>
        <p:nvSpPr>
          <p:cNvPr id="16" name="TextBox 15">
            <a:extLst>
              <a:ext uri="{FF2B5EF4-FFF2-40B4-BE49-F238E27FC236}">
                <a16:creationId xmlns:a16="http://schemas.microsoft.com/office/drawing/2014/main" id="{8F5B54C6-710F-3A99-4DBE-3AF33FC5EC2D}"/>
              </a:ext>
            </a:extLst>
          </p:cNvPr>
          <p:cNvSpPr txBox="1"/>
          <p:nvPr/>
        </p:nvSpPr>
        <p:spPr>
          <a:xfrm>
            <a:off x="8563429" y="4328886"/>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i="0" u="none" strike="noStrike" baseline="0">
                <a:solidFill>
                  <a:schemeClr val="bg1"/>
                </a:solidFill>
                <a:latin typeface="Calibri"/>
                <a:ea typeface="Calibri"/>
                <a:cs typeface="Calibri"/>
              </a:rPr>
              <a:t>Student relationships</a:t>
            </a:r>
            <a:endParaRPr lang="en-US" sz="2000" b="1">
              <a:solidFill>
                <a:schemeClr val="bg1"/>
              </a:solidFill>
              <a:latin typeface="Calibri"/>
              <a:ea typeface="Calibri"/>
              <a:cs typeface="Calibri"/>
            </a:endParaRPr>
          </a:p>
          <a:p>
            <a:pPr algn="ctr"/>
            <a:endParaRPr lang="en-US">
              <a:latin typeface="Calibri"/>
              <a:ea typeface="Calibri"/>
              <a:cs typeface="Calibri"/>
            </a:endParaRPr>
          </a:p>
        </p:txBody>
      </p:sp>
      <p:sp>
        <p:nvSpPr>
          <p:cNvPr id="17" name="TextBox 16">
            <a:extLst>
              <a:ext uri="{FF2B5EF4-FFF2-40B4-BE49-F238E27FC236}">
                <a16:creationId xmlns:a16="http://schemas.microsoft.com/office/drawing/2014/main" id="{F118F98B-986A-3317-D640-20E0895ECFB1}"/>
              </a:ext>
            </a:extLst>
          </p:cNvPr>
          <p:cNvSpPr txBox="1"/>
          <p:nvPr/>
        </p:nvSpPr>
        <p:spPr>
          <a:xfrm>
            <a:off x="8563429" y="5011057"/>
            <a:ext cx="609600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0" i="0" u="none" strike="noStrike" baseline="0">
                <a:solidFill>
                  <a:schemeClr val="bg1"/>
                </a:solidFill>
                <a:latin typeface="Calibri"/>
                <a:ea typeface="Calibri"/>
                <a:cs typeface="Calibri"/>
              </a:rPr>
              <a:t>Checking accuracy</a:t>
            </a:r>
            <a:endParaRPr lang="en-US">
              <a:solidFill>
                <a:schemeClr val="bg1"/>
              </a:solidFill>
              <a:latin typeface="Calibri"/>
              <a:ea typeface="Calibri"/>
              <a:cs typeface="Calibri"/>
            </a:endParaRPr>
          </a:p>
          <a:p>
            <a:pPr algn="ctr"/>
            <a:endParaRPr lang="en-US">
              <a:latin typeface="Calibri"/>
              <a:ea typeface="Calibri"/>
              <a:cs typeface="Calibri"/>
            </a:endParaRPr>
          </a:p>
        </p:txBody>
      </p:sp>
      <p:sp>
        <p:nvSpPr>
          <p:cNvPr id="18" name="TextBox 17">
            <a:extLst>
              <a:ext uri="{FF2B5EF4-FFF2-40B4-BE49-F238E27FC236}">
                <a16:creationId xmlns:a16="http://schemas.microsoft.com/office/drawing/2014/main" id="{8DB561B0-5AAF-3AAB-7BDC-CDBEECBC6FEE}"/>
              </a:ext>
            </a:extLst>
          </p:cNvPr>
          <p:cNvSpPr txBox="1"/>
          <p:nvPr/>
        </p:nvSpPr>
        <p:spPr>
          <a:xfrm>
            <a:off x="4339771" y="5018315"/>
            <a:ext cx="609600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0" i="0" u="none" strike="noStrike" baseline="0">
                <a:solidFill>
                  <a:schemeClr val="bg1"/>
                </a:solidFill>
                <a:latin typeface="Calibri"/>
                <a:ea typeface="Calibri"/>
                <a:cs typeface="Calibri"/>
              </a:rPr>
              <a:t>Creating practice activities </a:t>
            </a:r>
            <a:endParaRPr lang="en-US">
              <a:solidFill>
                <a:schemeClr val="bg1"/>
              </a:solidFill>
              <a:latin typeface="Calibri"/>
              <a:ea typeface="Calibri"/>
              <a:cs typeface="Calibri"/>
            </a:endParaRPr>
          </a:p>
          <a:p>
            <a:pPr algn="ctr"/>
            <a:endParaRPr lang="en-US">
              <a:latin typeface="Calibri"/>
              <a:ea typeface="Calibri"/>
              <a:cs typeface="Calibri"/>
            </a:endParaRPr>
          </a:p>
        </p:txBody>
      </p:sp>
    </p:spTree>
    <p:extLst>
      <p:ext uri="{BB962C8B-B14F-4D97-AF65-F5344CB8AC3E}">
        <p14:creationId xmlns:p14="http://schemas.microsoft.com/office/powerpoint/2010/main" val="34858683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04E65-38D3-EE00-8943-9C882E199E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9183D5-5540-B664-5D87-BE1886168527}"/>
              </a:ext>
            </a:extLst>
          </p:cNvPr>
          <p:cNvSpPr>
            <a:spLocks noGrp="1"/>
          </p:cNvSpPr>
          <p:nvPr>
            <p:ph type="title"/>
          </p:nvPr>
        </p:nvSpPr>
        <p:spPr>
          <a:xfrm>
            <a:off x="437712" y="-1141193"/>
            <a:ext cx="10515600" cy="2852737"/>
          </a:xfrm>
        </p:spPr>
        <p:txBody>
          <a:bodyPr/>
          <a:lstStyle/>
          <a:p>
            <a:r>
              <a:rPr lang="en-US">
                <a:latin typeface="Calibri"/>
                <a:ea typeface="Calibri"/>
                <a:cs typeface="Calibri"/>
              </a:rPr>
              <a:t>Balance</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2CA6B257-A209-B9BD-B3B4-612539EFE8DA}"/>
              </a:ext>
            </a:extLst>
          </p:cNvPr>
          <p:cNvSpPr>
            <a:spLocks noGrp="1"/>
          </p:cNvSpPr>
          <p:nvPr>
            <p:ph type="body" idx="1"/>
          </p:nvPr>
        </p:nvSpPr>
        <p:spPr>
          <a:xfrm>
            <a:off x="365453" y="1929032"/>
            <a:ext cx="10515600" cy="1500187"/>
          </a:xfrm>
        </p:spPr>
        <p:txBody>
          <a:bodyPr vert="horz" lIns="91440" tIns="45720" rIns="91440" bIns="45720" rtlCol="0" anchor="t">
            <a:normAutofit/>
          </a:bodyPr>
          <a:lstStyle/>
          <a:p>
            <a:r>
              <a:rPr lang="en-US" sz="2800">
                <a:solidFill>
                  <a:schemeClr val="tx1"/>
                </a:solidFill>
                <a:latin typeface="Calibri"/>
                <a:ea typeface="Calibri"/>
                <a:cs typeface="Calibri"/>
              </a:rPr>
              <a:t>AI assists teachers.</a:t>
            </a:r>
            <a:endParaRPr lang="en-US">
              <a:solidFill>
                <a:schemeClr val="tx1"/>
              </a:solidFill>
              <a:latin typeface="Calibri"/>
              <a:ea typeface="Calibri"/>
              <a:cs typeface="Calibri"/>
            </a:endParaRPr>
          </a:p>
          <a:p>
            <a:r>
              <a:rPr lang="en-US" sz="2800">
                <a:solidFill>
                  <a:schemeClr val="tx1"/>
                </a:solidFill>
                <a:latin typeface="Calibri"/>
                <a:ea typeface="Calibri"/>
                <a:cs typeface="Calibri"/>
              </a:rPr>
              <a:t>Teachers guide meaningful learning. </a:t>
            </a:r>
            <a:endParaRPr lang="en-US" sz="2800" dirty="0">
              <a:solidFill>
                <a:schemeClr val="tx1"/>
              </a:solidFill>
              <a:latin typeface="Calibri"/>
              <a:ea typeface="Calibri"/>
              <a:cs typeface="Calibri"/>
            </a:endParaRPr>
          </a:p>
        </p:txBody>
      </p:sp>
      <p:pic>
        <p:nvPicPr>
          <p:cNvPr id="5" name="Picture 4">
            <a:extLst>
              <a:ext uri="{FF2B5EF4-FFF2-40B4-BE49-F238E27FC236}">
                <a16:creationId xmlns:a16="http://schemas.microsoft.com/office/drawing/2014/main" id="{7D98A607-7635-4D75-0E53-D519EB643E8C}"/>
              </a:ext>
            </a:extLst>
          </p:cNvPr>
          <p:cNvPicPr>
            <a:picLocks noChangeAspect="1"/>
          </p:cNvPicPr>
          <p:nvPr/>
        </p:nvPicPr>
        <p:blipFill>
          <a:blip r:embed="rId3"/>
          <a:stretch>
            <a:fillRect/>
          </a:stretch>
        </p:blipFill>
        <p:spPr>
          <a:xfrm>
            <a:off x="4029982" y="2828926"/>
            <a:ext cx="3936092" cy="3972377"/>
          </a:xfrm>
          <a:prstGeom prst="rect">
            <a:avLst/>
          </a:prstGeom>
        </p:spPr>
      </p:pic>
    </p:spTree>
    <p:extLst>
      <p:ext uri="{BB962C8B-B14F-4D97-AF65-F5344CB8AC3E}">
        <p14:creationId xmlns:p14="http://schemas.microsoft.com/office/powerpoint/2010/main" val="41726823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5144B-44F2-3BD2-ECD8-B2EE93570F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1D3E66-49F1-1DAD-7C8E-F4C46C3ADEA1}"/>
              </a:ext>
            </a:extLst>
          </p:cNvPr>
          <p:cNvSpPr>
            <a:spLocks noGrp="1"/>
          </p:cNvSpPr>
          <p:nvPr>
            <p:ph type="title"/>
          </p:nvPr>
        </p:nvSpPr>
        <p:spPr>
          <a:xfrm>
            <a:off x="437712" y="-1141193"/>
            <a:ext cx="10515600" cy="2852737"/>
          </a:xfrm>
        </p:spPr>
        <p:txBody>
          <a:bodyPr/>
          <a:lstStyle/>
          <a:p>
            <a:r>
              <a:rPr lang="en-US">
                <a:latin typeface="Calibri"/>
                <a:ea typeface="Calibri"/>
                <a:cs typeface="Calibri"/>
              </a:rPr>
              <a:t>Benefits</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309D8ACE-A579-7A21-3D48-6A18559B0BA1}"/>
              </a:ext>
            </a:extLst>
          </p:cNvPr>
          <p:cNvSpPr>
            <a:spLocks noGrp="1"/>
          </p:cNvSpPr>
          <p:nvPr>
            <p:ph type="body" idx="1"/>
          </p:nvPr>
        </p:nvSpPr>
        <p:spPr>
          <a:xfrm>
            <a:off x="365453" y="1929032"/>
            <a:ext cx="10515600" cy="1500187"/>
          </a:xfrm>
        </p:spPr>
        <p:txBody>
          <a:bodyPr vert="horz" lIns="91440" tIns="45720" rIns="91440" bIns="45720" rtlCol="0" anchor="t">
            <a:normAutofit/>
          </a:bodyPr>
          <a:lstStyle/>
          <a:p>
            <a:r>
              <a:rPr lang="en-US" sz="2800">
                <a:solidFill>
                  <a:schemeClr val="tx1"/>
                </a:solidFill>
                <a:latin typeface="Calibri"/>
                <a:ea typeface="Calibri"/>
                <a:cs typeface="Calibri"/>
              </a:rPr>
              <a:t>AI creates opportunities for personalized learning. </a:t>
            </a:r>
            <a:endParaRPr lang="en-US" sz="2800" dirty="0">
              <a:solidFill>
                <a:schemeClr val="tx1"/>
              </a:solidFill>
              <a:latin typeface="Calibri"/>
              <a:ea typeface="Calibri"/>
              <a:cs typeface="Calibri"/>
            </a:endParaRPr>
          </a:p>
          <a:p>
            <a:r>
              <a:rPr lang="en-US" sz="2800" dirty="0">
                <a:solidFill>
                  <a:schemeClr val="tx1"/>
                </a:solidFill>
                <a:latin typeface="Calibri"/>
                <a:ea typeface="Calibri"/>
                <a:cs typeface="Calibri"/>
              </a:rPr>
              <a:t>Teachers can adjust </a:t>
            </a:r>
            <a:r>
              <a:rPr lang="en-US" sz="2800">
                <a:solidFill>
                  <a:schemeClr val="tx1"/>
                </a:solidFill>
                <a:latin typeface="Calibri"/>
                <a:ea typeface="Calibri"/>
                <a:cs typeface="Calibri"/>
              </a:rPr>
              <a:t>instruction</a:t>
            </a:r>
            <a:r>
              <a:rPr lang="en-US" sz="2800" dirty="0">
                <a:solidFill>
                  <a:schemeClr val="tx1"/>
                </a:solidFill>
                <a:latin typeface="Calibri"/>
                <a:ea typeface="Calibri"/>
                <a:cs typeface="Calibri"/>
              </a:rPr>
              <a:t> based on student needs. </a:t>
            </a:r>
          </a:p>
        </p:txBody>
      </p:sp>
      <p:pic>
        <p:nvPicPr>
          <p:cNvPr id="4" name="Picture 3">
            <a:extLst>
              <a:ext uri="{FF2B5EF4-FFF2-40B4-BE49-F238E27FC236}">
                <a16:creationId xmlns:a16="http://schemas.microsoft.com/office/drawing/2014/main" id="{2540B9B9-83E7-0660-0ECF-B01D1997387B}"/>
              </a:ext>
            </a:extLst>
          </p:cNvPr>
          <p:cNvPicPr>
            <a:picLocks noChangeAspect="1"/>
          </p:cNvPicPr>
          <p:nvPr/>
        </p:nvPicPr>
        <p:blipFill>
          <a:blip r:embed="rId3"/>
          <a:stretch>
            <a:fillRect/>
          </a:stretch>
        </p:blipFill>
        <p:spPr>
          <a:xfrm>
            <a:off x="2967717" y="2994478"/>
            <a:ext cx="5545366" cy="3866243"/>
          </a:xfrm>
          <a:prstGeom prst="rect">
            <a:avLst/>
          </a:prstGeom>
        </p:spPr>
      </p:pic>
    </p:spTree>
    <p:extLst>
      <p:ext uri="{BB962C8B-B14F-4D97-AF65-F5344CB8AC3E}">
        <p14:creationId xmlns:p14="http://schemas.microsoft.com/office/powerpoint/2010/main" val="12893134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5ED95-2A99-7537-F5BC-30B225EDDE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CED2A0-EB28-9D1C-FC44-291C984989F1}"/>
              </a:ext>
            </a:extLst>
          </p:cNvPr>
          <p:cNvSpPr>
            <a:spLocks noGrp="1"/>
          </p:cNvSpPr>
          <p:nvPr>
            <p:ph type="title"/>
          </p:nvPr>
        </p:nvSpPr>
        <p:spPr>
          <a:xfrm>
            <a:off x="437712" y="-1141193"/>
            <a:ext cx="10515600" cy="2852737"/>
          </a:xfrm>
        </p:spPr>
        <p:txBody>
          <a:bodyPr/>
          <a:lstStyle/>
          <a:p>
            <a:r>
              <a:rPr lang="en-US">
                <a:latin typeface="Calibri"/>
                <a:ea typeface="Calibri"/>
                <a:cs typeface="Calibri"/>
              </a:rPr>
              <a:t>Examples</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2370375E-B71C-229C-F914-F58D47BC17B6}"/>
              </a:ext>
            </a:extLst>
          </p:cNvPr>
          <p:cNvSpPr>
            <a:spLocks noGrp="1"/>
          </p:cNvSpPr>
          <p:nvPr>
            <p:ph type="body" idx="1"/>
          </p:nvPr>
        </p:nvSpPr>
        <p:spPr>
          <a:xfrm>
            <a:off x="365453" y="1929032"/>
            <a:ext cx="10515600" cy="1500187"/>
          </a:xfrm>
        </p:spPr>
        <p:txBody>
          <a:bodyPr vert="horz" lIns="91440" tIns="45720" rIns="91440" bIns="45720" rtlCol="0" anchor="t">
            <a:normAutofit/>
          </a:bodyPr>
          <a:lstStyle/>
          <a:p>
            <a:r>
              <a:rPr lang="en-US" sz="2800">
                <a:solidFill>
                  <a:schemeClr val="tx1"/>
                </a:solidFill>
                <a:latin typeface="Calibri"/>
                <a:ea typeface="Calibri"/>
                <a:cs typeface="Calibri"/>
              </a:rPr>
              <a:t>AI has many classroom applications. </a:t>
            </a:r>
          </a:p>
          <a:p>
            <a:r>
              <a:rPr lang="en-US" sz="2800" dirty="0">
                <a:solidFill>
                  <a:schemeClr val="tx1"/>
                </a:solidFill>
                <a:latin typeface="Calibri"/>
                <a:ea typeface="Calibri"/>
                <a:cs typeface="Calibri"/>
              </a:rPr>
              <a:t>Responsible use improves learning </a:t>
            </a:r>
            <a:r>
              <a:rPr lang="en-US" sz="2800">
                <a:solidFill>
                  <a:schemeClr val="tx1"/>
                </a:solidFill>
                <a:latin typeface="Calibri"/>
                <a:ea typeface="Calibri"/>
                <a:cs typeface="Calibri"/>
              </a:rPr>
              <a:t>experiences. </a:t>
            </a:r>
            <a:endParaRPr lang="en-US" sz="2800" dirty="0">
              <a:solidFill>
                <a:schemeClr val="tx1"/>
              </a:solidFill>
              <a:latin typeface="Calibri"/>
              <a:ea typeface="Calibri"/>
              <a:cs typeface="Calibri"/>
            </a:endParaRPr>
          </a:p>
        </p:txBody>
      </p:sp>
      <p:pic>
        <p:nvPicPr>
          <p:cNvPr id="5" name="Picture 4">
            <a:extLst>
              <a:ext uri="{FF2B5EF4-FFF2-40B4-BE49-F238E27FC236}">
                <a16:creationId xmlns:a16="http://schemas.microsoft.com/office/drawing/2014/main" id="{713CA578-90C2-3B9B-79ED-502B97957378}"/>
              </a:ext>
            </a:extLst>
          </p:cNvPr>
          <p:cNvPicPr>
            <a:picLocks noChangeAspect="1"/>
          </p:cNvPicPr>
          <p:nvPr/>
        </p:nvPicPr>
        <p:blipFill>
          <a:blip r:embed="rId3"/>
          <a:stretch>
            <a:fillRect/>
          </a:stretch>
        </p:blipFill>
        <p:spPr>
          <a:xfrm>
            <a:off x="3048453" y="3199492"/>
            <a:ext cx="5021036" cy="3303816"/>
          </a:xfrm>
          <a:prstGeom prst="rect">
            <a:avLst/>
          </a:prstGeom>
        </p:spPr>
      </p:pic>
    </p:spTree>
    <p:extLst>
      <p:ext uri="{BB962C8B-B14F-4D97-AF65-F5344CB8AC3E}">
        <p14:creationId xmlns:p14="http://schemas.microsoft.com/office/powerpoint/2010/main" val="37396137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E632F-58BB-797A-D714-0A30545768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A371D2-E277-CEE9-0E4F-EC01F3499768}"/>
              </a:ext>
            </a:extLst>
          </p:cNvPr>
          <p:cNvSpPr>
            <a:spLocks noGrp="1"/>
          </p:cNvSpPr>
          <p:nvPr>
            <p:ph type="title"/>
          </p:nvPr>
        </p:nvSpPr>
        <p:spPr>
          <a:xfrm>
            <a:off x="437712" y="-1141193"/>
            <a:ext cx="10515600" cy="2852737"/>
          </a:xfrm>
        </p:spPr>
        <p:txBody>
          <a:bodyPr/>
          <a:lstStyle/>
          <a:p>
            <a:r>
              <a:rPr lang="en-US">
                <a:latin typeface="Calibri"/>
                <a:ea typeface="Calibri"/>
                <a:cs typeface="Calibri"/>
              </a:rPr>
              <a:t>Choose</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2648448F-77D0-9B44-4858-69466C8F9B2C}"/>
              </a:ext>
            </a:extLst>
          </p:cNvPr>
          <p:cNvSpPr>
            <a:spLocks noGrp="1"/>
          </p:cNvSpPr>
          <p:nvPr>
            <p:ph type="body" idx="1"/>
          </p:nvPr>
        </p:nvSpPr>
        <p:spPr>
          <a:xfrm>
            <a:off x="387224" y="1929032"/>
            <a:ext cx="10515600" cy="4112758"/>
          </a:xfrm>
        </p:spPr>
        <p:txBody>
          <a:bodyPr vert="horz" lIns="91440" tIns="45720" rIns="91440" bIns="45720" rtlCol="0" anchor="t">
            <a:normAutofit/>
          </a:bodyPr>
          <a:lstStyle/>
          <a:p>
            <a:r>
              <a:rPr lang="en-US" sz="2800" dirty="0">
                <a:solidFill>
                  <a:schemeClr val="tx1"/>
                </a:solidFill>
                <a:latin typeface="Calibri"/>
                <a:ea typeface="Calibri"/>
                <a:cs typeface="Calibri"/>
              </a:rPr>
              <a:t>Which teacher is using AI </a:t>
            </a:r>
            <a:r>
              <a:rPr lang="en-US" sz="2800">
                <a:solidFill>
                  <a:schemeClr val="tx1"/>
                </a:solidFill>
                <a:latin typeface="Calibri"/>
                <a:ea typeface="Calibri"/>
                <a:cs typeface="Calibri"/>
              </a:rPr>
              <a:t>responsibly?</a:t>
            </a:r>
          </a:p>
          <a:p>
            <a:endParaRPr lang="en-US" sz="2800" dirty="0">
              <a:solidFill>
                <a:schemeClr val="tx1"/>
              </a:solidFill>
              <a:latin typeface="Calibri"/>
              <a:ea typeface="Calibri"/>
              <a:cs typeface="Calibri"/>
            </a:endParaRPr>
          </a:p>
          <a:p>
            <a:pPr marL="514350" indent="-514350">
              <a:buAutoNum type="alphaUcPeriod"/>
            </a:pPr>
            <a:r>
              <a:rPr lang="en-US" sz="2800">
                <a:solidFill>
                  <a:schemeClr val="tx1"/>
                </a:solidFill>
                <a:latin typeface="Calibri"/>
                <a:ea typeface="Calibri"/>
                <a:cs typeface="Calibri"/>
              </a:rPr>
              <a:t>Teacher uses AI answers without checking them.</a:t>
            </a:r>
          </a:p>
          <a:p>
            <a:pPr marL="514350" indent="-514350">
              <a:buAutoNum type="alphaUcPeriod"/>
            </a:pPr>
            <a:r>
              <a:rPr lang="en-US" sz="2800">
                <a:solidFill>
                  <a:schemeClr val="tx1"/>
                </a:solidFill>
                <a:latin typeface="Calibri"/>
                <a:ea typeface="Calibri"/>
                <a:cs typeface="Calibri"/>
              </a:rPr>
              <a:t>Teacher lets AI replace instruction.</a:t>
            </a:r>
          </a:p>
          <a:p>
            <a:pPr marL="514350" indent="-514350">
              <a:buAutoNum type="alphaUcPeriod"/>
            </a:pPr>
            <a:r>
              <a:rPr lang="en-US" sz="2800">
                <a:solidFill>
                  <a:schemeClr val="tx1"/>
                </a:solidFill>
                <a:latin typeface="Calibri"/>
                <a:ea typeface="Calibri"/>
                <a:cs typeface="Calibri"/>
              </a:rPr>
              <a:t>Teacher reviews and edits AI materials before using them. ✅</a:t>
            </a:r>
          </a:p>
          <a:p>
            <a:pPr marL="514350" indent="-514350">
              <a:buAutoNum type="alphaUcPeriod"/>
            </a:pPr>
            <a:r>
              <a:rPr lang="en-US" sz="2800" dirty="0">
                <a:solidFill>
                  <a:schemeClr val="tx1"/>
                </a:solidFill>
                <a:latin typeface="Calibri"/>
                <a:ea typeface="Calibri"/>
                <a:cs typeface="Calibri"/>
              </a:rPr>
              <a:t>Teacher puts private </a:t>
            </a:r>
            <a:r>
              <a:rPr lang="en-US" sz="2800">
                <a:solidFill>
                  <a:schemeClr val="tx1"/>
                </a:solidFill>
                <a:latin typeface="Calibri"/>
                <a:ea typeface="Calibri"/>
                <a:cs typeface="Calibri"/>
              </a:rPr>
              <a:t>student information into AI. </a:t>
            </a:r>
          </a:p>
          <a:p>
            <a:pPr marL="514350" indent="-514350">
              <a:buAutoNum type="alphaUcPeriod"/>
            </a:pPr>
            <a:endParaRPr lang="en-US" sz="2800" dirty="0">
              <a:solidFill>
                <a:schemeClr val="tx1"/>
              </a:solidFill>
              <a:latin typeface="Calibri"/>
              <a:ea typeface="Calibri"/>
              <a:cs typeface="Calibri"/>
            </a:endParaRPr>
          </a:p>
          <a:p>
            <a:r>
              <a:rPr lang="en-US" sz="2800">
                <a:solidFill>
                  <a:schemeClr val="tx1"/>
                </a:solidFill>
                <a:latin typeface="Calibri"/>
                <a:ea typeface="Calibri"/>
                <a:cs typeface="Calibri"/>
              </a:rPr>
              <a:t>Directions: Select the best example. </a:t>
            </a:r>
            <a:endParaRPr lang="en-US" sz="2800" dirty="0">
              <a:solidFill>
                <a:schemeClr val="tx1"/>
              </a:solidFill>
              <a:latin typeface="Calibri"/>
              <a:ea typeface="Calibri"/>
              <a:cs typeface="Calibri"/>
            </a:endParaRPr>
          </a:p>
        </p:txBody>
      </p:sp>
    </p:spTree>
    <p:extLst>
      <p:ext uri="{BB962C8B-B14F-4D97-AF65-F5344CB8AC3E}">
        <p14:creationId xmlns:p14="http://schemas.microsoft.com/office/powerpoint/2010/main" val="16156546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AEE67-0D91-A6F1-81BC-AA4BDD7E3F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8EB168-9F14-996F-D0B4-D31F1B121B6C}"/>
              </a:ext>
            </a:extLst>
          </p:cNvPr>
          <p:cNvSpPr>
            <a:spLocks noGrp="1"/>
          </p:cNvSpPr>
          <p:nvPr>
            <p:ph type="title"/>
          </p:nvPr>
        </p:nvSpPr>
        <p:spPr>
          <a:xfrm>
            <a:off x="437712" y="-1141193"/>
            <a:ext cx="10515600" cy="2852737"/>
          </a:xfrm>
        </p:spPr>
        <p:txBody>
          <a:bodyPr/>
          <a:lstStyle/>
          <a:p>
            <a:r>
              <a:rPr lang="en-US">
                <a:latin typeface="Calibri"/>
                <a:ea typeface="Calibri"/>
                <a:cs typeface="Calibri"/>
              </a:rPr>
              <a:t>Responsible Use</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B81A2811-93F4-C90D-2615-7B53D9C0D5A0}"/>
              </a:ext>
            </a:extLst>
          </p:cNvPr>
          <p:cNvSpPr>
            <a:spLocks noGrp="1"/>
          </p:cNvSpPr>
          <p:nvPr>
            <p:ph type="body" idx="1"/>
          </p:nvPr>
        </p:nvSpPr>
        <p:spPr>
          <a:xfrm>
            <a:off x="365453" y="1929032"/>
            <a:ext cx="10515600" cy="1500187"/>
          </a:xfrm>
        </p:spPr>
        <p:txBody>
          <a:bodyPr vert="horz" lIns="91440" tIns="45720" rIns="91440" bIns="45720" rtlCol="0" anchor="t">
            <a:normAutofit/>
          </a:bodyPr>
          <a:lstStyle/>
          <a:p>
            <a:r>
              <a:rPr lang="en-US" sz="2800" dirty="0">
                <a:solidFill>
                  <a:schemeClr val="tx1"/>
                </a:solidFill>
                <a:latin typeface="Calibri"/>
                <a:ea typeface="Calibri"/>
                <a:cs typeface="Calibri"/>
              </a:rPr>
              <a:t>AI requires </a:t>
            </a:r>
            <a:r>
              <a:rPr lang="en-US" sz="2800">
                <a:solidFill>
                  <a:schemeClr val="tx1"/>
                </a:solidFill>
                <a:latin typeface="Calibri"/>
                <a:ea typeface="Calibri"/>
                <a:cs typeface="Calibri"/>
              </a:rPr>
              <a:t>thoughtful decisions. </a:t>
            </a:r>
          </a:p>
          <a:p>
            <a:r>
              <a:rPr lang="en-US" sz="2800" dirty="0">
                <a:solidFill>
                  <a:schemeClr val="tx1"/>
                </a:solidFill>
                <a:latin typeface="Calibri"/>
                <a:ea typeface="Calibri"/>
                <a:cs typeface="Calibri"/>
              </a:rPr>
              <a:t>Teachers ensure accuracy and </a:t>
            </a:r>
            <a:r>
              <a:rPr lang="en-US" sz="2800">
                <a:solidFill>
                  <a:schemeClr val="tx1"/>
                </a:solidFill>
                <a:latin typeface="Calibri"/>
                <a:ea typeface="Calibri"/>
                <a:cs typeface="Calibri"/>
              </a:rPr>
              <a:t>safety.</a:t>
            </a:r>
            <a:endParaRPr lang="en-US" sz="2800" dirty="0">
              <a:solidFill>
                <a:schemeClr val="tx1"/>
              </a:solidFill>
              <a:latin typeface="Calibri"/>
              <a:ea typeface="Calibri"/>
              <a:cs typeface="Calibri"/>
            </a:endParaRPr>
          </a:p>
        </p:txBody>
      </p:sp>
      <p:pic>
        <p:nvPicPr>
          <p:cNvPr id="4" name="Picture 3">
            <a:extLst>
              <a:ext uri="{FF2B5EF4-FFF2-40B4-BE49-F238E27FC236}">
                <a16:creationId xmlns:a16="http://schemas.microsoft.com/office/drawing/2014/main" id="{F32D8B1D-AA26-6D7C-5656-89447C84A380}"/>
              </a:ext>
            </a:extLst>
          </p:cNvPr>
          <p:cNvPicPr>
            <a:picLocks noChangeAspect="1"/>
          </p:cNvPicPr>
          <p:nvPr/>
        </p:nvPicPr>
        <p:blipFill>
          <a:blip r:embed="rId3"/>
          <a:srcRect r="-132" b="7071"/>
          <a:stretch>
            <a:fillRect/>
          </a:stretch>
        </p:blipFill>
        <p:spPr>
          <a:xfrm>
            <a:off x="3674836" y="3185886"/>
            <a:ext cx="4319822" cy="3664857"/>
          </a:xfrm>
          <a:prstGeom prst="rect">
            <a:avLst/>
          </a:prstGeom>
        </p:spPr>
      </p:pic>
    </p:spTree>
    <p:extLst>
      <p:ext uri="{BB962C8B-B14F-4D97-AF65-F5344CB8AC3E}">
        <p14:creationId xmlns:p14="http://schemas.microsoft.com/office/powerpoint/2010/main" val="22362693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E6B82-E338-8BB5-2849-EB6BB3785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D440E-1EEA-D5CA-2477-8BA10ED454A2}"/>
              </a:ext>
            </a:extLst>
          </p:cNvPr>
          <p:cNvSpPr>
            <a:spLocks noGrp="1"/>
          </p:cNvSpPr>
          <p:nvPr>
            <p:ph type="title"/>
          </p:nvPr>
        </p:nvSpPr>
        <p:spPr>
          <a:xfrm>
            <a:off x="437712" y="-1141193"/>
            <a:ext cx="10515600" cy="2852737"/>
          </a:xfrm>
        </p:spPr>
        <p:txBody>
          <a:bodyPr/>
          <a:lstStyle/>
          <a:p>
            <a:r>
              <a:rPr lang="en-US">
                <a:latin typeface="Calibri"/>
                <a:ea typeface="Calibri"/>
                <a:cs typeface="Calibri"/>
              </a:rPr>
              <a:t>Challenges</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A946AACC-CF80-17C5-DE1C-B77C6CFE8218}"/>
              </a:ext>
            </a:extLst>
          </p:cNvPr>
          <p:cNvSpPr>
            <a:spLocks noGrp="1"/>
          </p:cNvSpPr>
          <p:nvPr>
            <p:ph type="body" idx="1"/>
          </p:nvPr>
        </p:nvSpPr>
        <p:spPr>
          <a:xfrm>
            <a:off x="365453" y="1929032"/>
            <a:ext cx="10515600" cy="1500187"/>
          </a:xfrm>
        </p:spPr>
        <p:txBody>
          <a:bodyPr vert="horz" lIns="91440" tIns="45720" rIns="91440" bIns="45720" rtlCol="0" anchor="t">
            <a:normAutofit/>
          </a:bodyPr>
          <a:lstStyle/>
          <a:p>
            <a:r>
              <a:rPr lang="en-US" sz="2800">
                <a:solidFill>
                  <a:schemeClr val="tx1"/>
                </a:solidFill>
                <a:latin typeface="Calibri"/>
                <a:ea typeface="Calibri"/>
                <a:cs typeface="Calibri"/>
              </a:rPr>
              <a:t>AI provides support but also has limitations.</a:t>
            </a:r>
          </a:p>
          <a:p>
            <a:r>
              <a:rPr lang="en-US" sz="2800">
                <a:solidFill>
                  <a:schemeClr val="tx1"/>
                </a:solidFill>
                <a:latin typeface="Calibri"/>
                <a:ea typeface="Calibri"/>
                <a:cs typeface="Calibri"/>
              </a:rPr>
              <a:t>Educators must be critical thinking. </a:t>
            </a:r>
            <a:endParaRPr lang="en-US" sz="2800" dirty="0">
              <a:solidFill>
                <a:schemeClr val="tx1"/>
              </a:solidFill>
              <a:latin typeface="Calibri"/>
              <a:ea typeface="Calibri"/>
              <a:cs typeface="Calibri"/>
            </a:endParaRPr>
          </a:p>
        </p:txBody>
      </p:sp>
      <p:pic>
        <p:nvPicPr>
          <p:cNvPr id="5" name="Picture 4">
            <a:extLst>
              <a:ext uri="{FF2B5EF4-FFF2-40B4-BE49-F238E27FC236}">
                <a16:creationId xmlns:a16="http://schemas.microsoft.com/office/drawing/2014/main" id="{C3EF689B-3753-E3FB-94BC-E03327EA555A}"/>
              </a:ext>
            </a:extLst>
          </p:cNvPr>
          <p:cNvPicPr>
            <a:picLocks noChangeAspect="1"/>
          </p:cNvPicPr>
          <p:nvPr/>
        </p:nvPicPr>
        <p:blipFill>
          <a:blip r:embed="rId3"/>
          <a:stretch>
            <a:fillRect/>
          </a:stretch>
        </p:blipFill>
        <p:spPr>
          <a:xfrm>
            <a:off x="3049134" y="2933927"/>
            <a:ext cx="4954360" cy="3914775"/>
          </a:xfrm>
          <a:prstGeom prst="rect">
            <a:avLst/>
          </a:prstGeom>
        </p:spPr>
      </p:pic>
    </p:spTree>
    <p:extLst>
      <p:ext uri="{BB962C8B-B14F-4D97-AF65-F5344CB8AC3E}">
        <p14:creationId xmlns:p14="http://schemas.microsoft.com/office/powerpoint/2010/main" val="439689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619AC-2B42-7CC1-2430-B40B9079A5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C60CB7-4219-2E40-E9D6-CD5016479C11}"/>
              </a:ext>
            </a:extLst>
          </p:cNvPr>
          <p:cNvSpPr>
            <a:spLocks noGrp="1"/>
          </p:cNvSpPr>
          <p:nvPr>
            <p:ph type="title"/>
          </p:nvPr>
        </p:nvSpPr>
        <p:spPr>
          <a:xfrm>
            <a:off x="437712" y="-1141193"/>
            <a:ext cx="10515600" cy="2852737"/>
          </a:xfrm>
        </p:spPr>
        <p:txBody>
          <a:bodyPr/>
          <a:lstStyle/>
          <a:p>
            <a:r>
              <a:rPr lang="en-US">
                <a:latin typeface="Calibri"/>
                <a:ea typeface="Calibri"/>
                <a:cs typeface="Calibri"/>
              </a:rPr>
              <a:t>Ethics</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C8954207-847E-4B88-9E94-A4E18B6F2F2A}"/>
              </a:ext>
            </a:extLst>
          </p:cNvPr>
          <p:cNvSpPr>
            <a:spLocks noGrp="1"/>
          </p:cNvSpPr>
          <p:nvPr>
            <p:ph type="body" idx="1"/>
          </p:nvPr>
        </p:nvSpPr>
        <p:spPr>
          <a:xfrm>
            <a:off x="365453" y="1929032"/>
            <a:ext cx="10515600" cy="1500187"/>
          </a:xfrm>
        </p:spPr>
        <p:txBody>
          <a:bodyPr vert="horz" lIns="91440" tIns="45720" rIns="91440" bIns="45720" rtlCol="0" anchor="t">
            <a:normAutofit/>
          </a:bodyPr>
          <a:lstStyle/>
          <a:p>
            <a:r>
              <a:rPr lang="en-US" sz="2800">
                <a:solidFill>
                  <a:schemeClr val="tx1"/>
                </a:solidFill>
                <a:latin typeface="Calibri"/>
                <a:ea typeface="Calibri"/>
                <a:cs typeface="Calibri"/>
              </a:rPr>
              <a:t>Responsible AI use protects students.</a:t>
            </a:r>
          </a:p>
          <a:p>
            <a:r>
              <a:rPr lang="en-US" sz="2800">
                <a:solidFill>
                  <a:schemeClr val="tx1"/>
                </a:solidFill>
                <a:latin typeface="Calibri"/>
                <a:ea typeface="Calibri"/>
                <a:cs typeface="Calibri"/>
              </a:rPr>
              <a:t>Teachers should consider privacy and accuracy. </a:t>
            </a:r>
            <a:endParaRPr lang="en-US" sz="2800" dirty="0">
              <a:solidFill>
                <a:schemeClr val="tx1"/>
              </a:solidFill>
              <a:latin typeface="Calibri"/>
              <a:ea typeface="Calibri"/>
              <a:cs typeface="Calibri"/>
            </a:endParaRPr>
          </a:p>
        </p:txBody>
      </p:sp>
      <p:pic>
        <p:nvPicPr>
          <p:cNvPr id="4" name="Picture 3">
            <a:extLst>
              <a:ext uri="{FF2B5EF4-FFF2-40B4-BE49-F238E27FC236}">
                <a16:creationId xmlns:a16="http://schemas.microsoft.com/office/drawing/2014/main" id="{EAAAD09A-FA25-C919-AEB2-50EEDB0E6408}"/>
              </a:ext>
            </a:extLst>
          </p:cNvPr>
          <p:cNvPicPr>
            <a:picLocks noChangeAspect="1"/>
          </p:cNvPicPr>
          <p:nvPr/>
        </p:nvPicPr>
        <p:blipFill>
          <a:blip r:embed="rId3"/>
          <a:srcRect r="-174" b="7115"/>
          <a:stretch>
            <a:fillRect/>
          </a:stretch>
        </p:blipFill>
        <p:spPr>
          <a:xfrm>
            <a:off x="3558722" y="2944588"/>
            <a:ext cx="5074563" cy="3915486"/>
          </a:xfrm>
          <a:prstGeom prst="rect">
            <a:avLst/>
          </a:prstGeom>
        </p:spPr>
      </p:pic>
    </p:spTree>
    <p:extLst>
      <p:ext uri="{BB962C8B-B14F-4D97-AF65-F5344CB8AC3E}">
        <p14:creationId xmlns:p14="http://schemas.microsoft.com/office/powerpoint/2010/main" val="6509616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1CC00-DE36-F3E9-092B-576FDD23A3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F387BB-02DB-3BB3-8F1D-1B842C78C27F}"/>
              </a:ext>
            </a:extLst>
          </p:cNvPr>
          <p:cNvSpPr>
            <a:spLocks noGrp="1"/>
          </p:cNvSpPr>
          <p:nvPr>
            <p:ph type="title"/>
          </p:nvPr>
        </p:nvSpPr>
        <p:spPr>
          <a:xfrm>
            <a:off x="437712" y="-1141193"/>
            <a:ext cx="10515600" cy="2852737"/>
          </a:xfrm>
        </p:spPr>
        <p:txBody>
          <a:bodyPr/>
          <a:lstStyle/>
          <a:p>
            <a:r>
              <a:rPr lang="en-US">
                <a:latin typeface="Calibri"/>
                <a:ea typeface="Calibri"/>
                <a:cs typeface="Calibri"/>
              </a:rPr>
              <a:t>Reflection</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18D5AA21-0F01-0E73-91AF-11CC2DB002CE}"/>
              </a:ext>
            </a:extLst>
          </p:cNvPr>
          <p:cNvSpPr>
            <a:spLocks noGrp="1"/>
          </p:cNvSpPr>
          <p:nvPr>
            <p:ph type="body" idx="1"/>
          </p:nvPr>
        </p:nvSpPr>
        <p:spPr>
          <a:xfrm>
            <a:off x="365453" y="1929032"/>
            <a:ext cx="10515600" cy="1500187"/>
          </a:xfrm>
        </p:spPr>
        <p:txBody>
          <a:bodyPr vert="horz" lIns="91440" tIns="45720" rIns="91440" bIns="45720" rtlCol="0" anchor="t">
            <a:normAutofit/>
          </a:bodyPr>
          <a:lstStyle/>
          <a:p>
            <a:r>
              <a:rPr lang="en-US" sz="2800">
                <a:solidFill>
                  <a:schemeClr val="tx1"/>
                </a:solidFill>
                <a:latin typeface="Calibri"/>
                <a:ea typeface="Calibri"/>
                <a:cs typeface="Calibri"/>
              </a:rPr>
              <a:t>Question: How could you responsibly use AI in your classroom? </a:t>
            </a:r>
            <a:endParaRPr lang="en-US" sz="2800" dirty="0">
              <a:solidFill>
                <a:schemeClr val="tx1"/>
              </a:solidFill>
              <a:latin typeface="Calibri"/>
              <a:ea typeface="Calibri"/>
              <a:cs typeface="Calibri"/>
            </a:endParaRPr>
          </a:p>
        </p:txBody>
      </p:sp>
      <p:sp>
        <p:nvSpPr>
          <p:cNvPr id="6" name="TextBox 5">
            <a:extLst>
              <a:ext uri="{FF2B5EF4-FFF2-40B4-BE49-F238E27FC236}">
                <a16:creationId xmlns:a16="http://schemas.microsoft.com/office/drawing/2014/main" id="{A231BD88-8D41-5264-CD37-5F7CB54D4332}"/>
              </a:ext>
            </a:extLst>
          </p:cNvPr>
          <p:cNvSpPr txBox="1"/>
          <p:nvPr/>
        </p:nvSpPr>
        <p:spPr>
          <a:xfrm>
            <a:off x="362857" y="3040742"/>
            <a:ext cx="9731827"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Calibri"/>
                <a:ea typeface="Calibri"/>
                <a:cs typeface="Calibri"/>
              </a:rPr>
              <a:t>Answer in text box: </a:t>
            </a:r>
            <a:endParaRPr lang="en-US" sz="2400" dirty="0">
              <a:latin typeface="Calibri"/>
              <a:ea typeface="Calibri"/>
              <a:cs typeface="Calibri"/>
            </a:endParaRPr>
          </a:p>
          <a:p>
            <a:endParaRPr lang="en-US" sz="2400" dirty="0">
              <a:latin typeface="Calibri"/>
              <a:ea typeface="Calibri"/>
              <a:cs typeface="Calibri"/>
            </a:endParaRPr>
          </a:p>
          <a:p>
            <a:endParaRPr lang="en-US" dirty="0">
              <a:latin typeface="Calibri"/>
              <a:ea typeface="Calibri"/>
              <a:cs typeface="Calibri"/>
            </a:endParaRPr>
          </a:p>
          <a:p>
            <a:endParaRPr lang="en-US" dirty="0">
              <a:latin typeface="Calibri"/>
              <a:ea typeface="Calibri"/>
              <a:cs typeface="Calibri"/>
            </a:endParaRPr>
          </a:p>
          <a:p>
            <a:endParaRPr lang="en-US" dirty="0">
              <a:latin typeface="Calibri"/>
              <a:ea typeface="Calibri"/>
              <a:cs typeface="Calibri"/>
            </a:endParaRPr>
          </a:p>
          <a:p>
            <a:endParaRPr lang="en-US" dirty="0">
              <a:latin typeface="Calibri"/>
              <a:ea typeface="Calibri"/>
              <a:cs typeface="Calibri"/>
            </a:endParaRPr>
          </a:p>
          <a:p>
            <a:endParaRPr lang="en-US" dirty="0">
              <a:latin typeface="Calibri"/>
              <a:ea typeface="Calibri"/>
              <a:cs typeface="Calibri"/>
            </a:endParaRPr>
          </a:p>
          <a:p>
            <a:endParaRPr lang="en-US" dirty="0">
              <a:latin typeface="Calibri"/>
              <a:ea typeface="Calibri"/>
              <a:cs typeface="Calibri"/>
            </a:endParaRPr>
          </a:p>
          <a:p>
            <a:endParaRPr lang="en-US" dirty="0">
              <a:latin typeface="Calibri"/>
              <a:ea typeface="Calibri"/>
              <a:cs typeface="Calibri"/>
            </a:endParaRPr>
          </a:p>
          <a:p>
            <a:endParaRPr lang="en-US" dirty="0">
              <a:latin typeface="Calibri"/>
              <a:ea typeface="Calibri"/>
              <a:cs typeface="Calibri"/>
            </a:endParaRPr>
          </a:p>
        </p:txBody>
      </p:sp>
      <p:sp>
        <p:nvSpPr>
          <p:cNvPr id="8" name="Rectangle 7">
            <a:extLst>
              <a:ext uri="{FF2B5EF4-FFF2-40B4-BE49-F238E27FC236}">
                <a16:creationId xmlns:a16="http://schemas.microsoft.com/office/drawing/2014/main" id="{F0C57A7D-841A-E121-0165-2E907BEE31C0}"/>
              </a:ext>
            </a:extLst>
          </p:cNvPr>
          <p:cNvSpPr/>
          <p:nvPr/>
        </p:nvSpPr>
        <p:spPr>
          <a:xfrm>
            <a:off x="362856" y="3585028"/>
            <a:ext cx="8403770" cy="269965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latin typeface="Calibri"/>
              <a:ea typeface="Calibri"/>
              <a:cs typeface="Calibri"/>
            </a:endParaRPr>
          </a:p>
        </p:txBody>
      </p:sp>
    </p:spTree>
    <p:extLst>
      <p:ext uri="{BB962C8B-B14F-4D97-AF65-F5344CB8AC3E}">
        <p14:creationId xmlns:p14="http://schemas.microsoft.com/office/powerpoint/2010/main" val="8097398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B57CC-B423-5467-283D-79659BC96E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002FA1-88BA-81F2-52FF-4DD14F8CEE49}"/>
              </a:ext>
            </a:extLst>
          </p:cNvPr>
          <p:cNvSpPr>
            <a:spLocks noGrp="1"/>
          </p:cNvSpPr>
          <p:nvPr>
            <p:ph type="title"/>
          </p:nvPr>
        </p:nvSpPr>
        <p:spPr>
          <a:xfrm>
            <a:off x="437712" y="-1141193"/>
            <a:ext cx="10515600" cy="2852737"/>
          </a:xfrm>
        </p:spPr>
        <p:txBody>
          <a:bodyPr/>
          <a:lstStyle/>
          <a:p>
            <a:r>
              <a:rPr lang="en-US">
                <a:latin typeface="Calibri"/>
                <a:ea typeface="Calibri"/>
                <a:cs typeface="Calibri"/>
              </a:rPr>
              <a:t>Apply</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5ED36DA9-823A-F825-D5A0-7C322BC3C293}"/>
              </a:ext>
            </a:extLst>
          </p:cNvPr>
          <p:cNvSpPr>
            <a:spLocks noGrp="1"/>
          </p:cNvSpPr>
          <p:nvPr>
            <p:ph type="body" idx="1"/>
          </p:nvPr>
        </p:nvSpPr>
        <p:spPr>
          <a:xfrm>
            <a:off x="365453" y="1929032"/>
            <a:ext cx="10515600" cy="1500187"/>
          </a:xfrm>
        </p:spPr>
        <p:txBody>
          <a:bodyPr vert="horz" lIns="91440" tIns="45720" rIns="91440" bIns="45720" rtlCol="0" anchor="t">
            <a:normAutofit/>
          </a:bodyPr>
          <a:lstStyle/>
          <a:p>
            <a:r>
              <a:rPr lang="en-US" sz="2800">
                <a:solidFill>
                  <a:schemeClr val="tx1"/>
                </a:solidFill>
                <a:latin typeface="Calibri"/>
                <a:ea typeface="Calibri"/>
                <a:cs typeface="Calibri"/>
              </a:rPr>
              <a:t>AI works best with thoughtful educators. </a:t>
            </a:r>
          </a:p>
          <a:p>
            <a:r>
              <a:rPr lang="en-US" sz="2800" dirty="0">
                <a:solidFill>
                  <a:schemeClr val="tx1"/>
                </a:solidFill>
                <a:latin typeface="Calibri"/>
                <a:ea typeface="Calibri"/>
                <a:cs typeface="Calibri"/>
              </a:rPr>
              <a:t>Your decisions shape classroom </a:t>
            </a:r>
            <a:r>
              <a:rPr lang="en-US" sz="2800">
                <a:solidFill>
                  <a:schemeClr val="tx1"/>
                </a:solidFill>
                <a:latin typeface="Calibri"/>
                <a:ea typeface="Calibri"/>
                <a:cs typeface="Calibri"/>
              </a:rPr>
              <a:t>technology use. </a:t>
            </a:r>
            <a:endParaRPr lang="en-US" sz="2800" dirty="0">
              <a:solidFill>
                <a:schemeClr val="tx1"/>
              </a:solidFill>
              <a:latin typeface="Calibri"/>
              <a:ea typeface="Calibri"/>
              <a:cs typeface="Calibri"/>
            </a:endParaRPr>
          </a:p>
        </p:txBody>
      </p:sp>
      <p:pic>
        <p:nvPicPr>
          <p:cNvPr id="5" name="Picture 4">
            <a:extLst>
              <a:ext uri="{FF2B5EF4-FFF2-40B4-BE49-F238E27FC236}">
                <a16:creationId xmlns:a16="http://schemas.microsoft.com/office/drawing/2014/main" id="{BFC20D1E-1F53-398A-9F04-DB06379ECDA9}"/>
              </a:ext>
            </a:extLst>
          </p:cNvPr>
          <p:cNvPicPr>
            <a:picLocks noChangeAspect="1"/>
          </p:cNvPicPr>
          <p:nvPr/>
        </p:nvPicPr>
        <p:blipFill>
          <a:blip r:embed="rId3"/>
          <a:stretch>
            <a:fillRect/>
          </a:stretch>
        </p:blipFill>
        <p:spPr>
          <a:xfrm>
            <a:off x="3355068" y="2938690"/>
            <a:ext cx="5481865" cy="3752850"/>
          </a:xfrm>
          <a:prstGeom prst="rect">
            <a:avLst/>
          </a:prstGeom>
        </p:spPr>
      </p:pic>
    </p:spTree>
    <p:extLst>
      <p:ext uri="{BB962C8B-B14F-4D97-AF65-F5344CB8AC3E}">
        <p14:creationId xmlns:p14="http://schemas.microsoft.com/office/powerpoint/2010/main" val="2290336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B5C0D98-4BD4-C7ED-64BB-7A111468C5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DF6CD5-536D-785E-2748-AEC9A5FCF385}"/>
              </a:ext>
            </a:extLst>
          </p:cNvPr>
          <p:cNvSpPr>
            <a:spLocks noGrp="1"/>
          </p:cNvSpPr>
          <p:nvPr>
            <p:ph type="title"/>
          </p:nvPr>
        </p:nvSpPr>
        <p:spPr>
          <a:xfrm>
            <a:off x="3050282" y="1057721"/>
            <a:ext cx="10515600" cy="2852737"/>
          </a:xfrm>
        </p:spPr>
        <p:txBody>
          <a:bodyPr/>
          <a:lstStyle/>
          <a:p>
            <a:r>
              <a:rPr lang="en-US">
                <a:solidFill>
                  <a:schemeClr val="bg1"/>
                </a:solidFill>
                <a:latin typeface="Calibri"/>
                <a:ea typeface="Calibri"/>
                <a:cs typeface="Calibri"/>
              </a:rPr>
              <a:t>Integration Phase </a:t>
            </a:r>
            <a:endParaRPr lang="en-US" dirty="0">
              <a:solidFill>
                <a:schemeClr val="bg1"/>
              </a:solidFill>
              <a:latin typeface="Calibri"/>
              <a:ea typeface="Calibri"/>
              <a:cs typeface="Calibri"/>
            </a:endParaRPr>
          </a:p>
        </p:txBody>
      </p:sp>
      <p:sp>
        <p:nvSpPr>
          <p:cNvPr id="3" name="Content Placeholder 2">
            <a:extLst>
              <a:ext uri="{FF2B5EF4-FFF2-40B4-BE49-F238E27FC236}">
                <a16:creationId xmlns:a16="http://schemas.microsoft.com/office/drawing/2014/main" id="{127A94A1-88DA-9368-F356-28246B0F85DE}"/>
              </a:ext>
            </a:extLst>
          </p:cNvPr>
          <p:cNvSpPr>
            <a:spLocks noGrp="1"/>
          </p:cNvSpPr>
          <p:nvPr>
            <p:ph type="body" idx="1"/>
          </p:nvPr>
        </p:nvSpPr>
        <p:spPr>
          <a:xfrm>
            <a:off x="365453" y="1929032"/>
            <a:ext cx="10515600" cy="1500187"/>
          </a:xfrm>
        </p:spPr>
        <p:txBody>
          <a:bodyPr vert="horz" lIns="91440" tIns="45720" rIns="91440" bIns="45720" rtlCol="0" anchor="t">
            <a:normAutofit/>
          </a:bodyPr>
          <a:lstStyle/>
          <a:p>
            <a:r>
              <a:rPr lang="en-US" sz="2800">
                <a:solidFill>
                  <a:schemeClr val="tx1"/>
                </a:solidFill>
              </a:rPr>
              <a:t>T</a:t>
            </a:r>
            <a:endParaRPr lang="en-US" sz="2800" dirty="0">
              <a:solidFill>
                <a:schemeClr val="tx1"/>
              </a:solidFill>
            </a:endParaRPr>
          </a:p>
        </p:txBody>
      </p:sp>
    </p:spTree>
    <p:extLst>
      <p:ext uri="{BB962C8B-B14F-4D97-AF65-F5344CB8AC3E}">
        <p14:creationId xmlns:p14="http://schemas.microsoft.com/office/powerpoint/2010/main" val="41114555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1C668-F2F9-8D0D-1B8E-32984892E9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882E26-CEB2-20BB-5F62-05B287AB3372}"/>
              </a:ext>
            </a:extLst>
          </p:cNvPr>
          <p:cNvSpPr>
            <a:spLocks noGrp="1"/>
          </p:cNvSpPr>
          <p:nvPr>
            <p:ph type="title"/>
          </p:nvPr>
        </p:nvSpPr>
        <p:spPr>
          <a:xfrm>
            <a:off x="437712" y="-1141193"/>
            <a:ext cx="10515600" cy="2852737"/>
          </a:xfrm>
        </p:spPr>
        <p:txBody>
          <a:bodyPr/>
          <a:lstStyle/>
          <a:p>
            <a:r>
              <a:rPr lang="en-US">
                <a:latin typeface="Calibri"/>
                <a:ea typeface="Calibri"/>
                <a:cs typeface="Calibri"/>
              </a:rPr>
              <a:t>Scenario</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CA7F8921-D28F-5FAF-F6AE-49080B497280}"/>
              </a:ext>
            </a:extLst>
          </p:cNvPr>
          <p:cNvSpPr>
            <a:spLocks noGrp="1"/>
          </p:cNvSpPr>
          <p:nvPr>
            <p:ph type="body" idx="1"/>
          </p:nvPr>
        </p:nvSpPr>
        <p:spPr>
          <a:xfrm>
            <a:off x="365453" y="1929032"/>
            <a:ext cx="10515600" cy="1500187"/>
          </a:xfrm>
        </p:spPr>
        <p:txBody>
          <a:bodyPr vert="horz" lIns="91440" tIns="45720" rIns="91440" bIns="45720" rtlCol="0" anchor="t">
            <a:normAutofit/>
          </a:bodyPr>
          <a:lstStyle/>
          <a:p>
            <a:r>
              <a:rPr lang="en-US" sz="2800">
                <a:solidFill>
                  <a:schemeClr val="tx1"/>
                </a:solidFill>
                <a:latin typeface="Calibri"/>
                <a:ea typeface="Calibri"/>
                <a:cs typeface="Calibri"/>
              </a:rPr>
              <a:t>Mrs. Lopez wants to use AI for lesson planning.</a:t>
            </a:r>
          </a:p>
          <a:p>
            <a:r>
              <a:rPr lang="en-US" sz="2800">
                <a:solidFill>
                  <a:schemeClr val="tx1"/>
                </a:solidFill>
                <a:latin typeface="Calibri"/>
                <a:ea typeface="Calibri"/>
                <a:cs typeface="Calibri"/>
              </a:rPr>
              <a:t>She must make responsible decisions. </a:t>
            </a:r>
            <a:endParaRPr lang="en-US" sz="2800" dirty="0">
              <a:solidFill>
                <a:schemeClr val="tx1"/>
              </a:solidFill>
              <a:latin typeface="Calibri"/>
              <a:ea typeface="Calibri"/>
              <a:cs typeface="Calibri"/>
            </a:endParaRPr>
          </a:p>
        </p:txBody>
      </p:sp>
      <p:pic>
        <p:nvPicPr>
          <p:cNvPr id="4" name="Picture 3">
            <a:extLst>
              <a:ext uri="{FF2B5EF4-FFF2-40B4-BE49-F238E27FC236}">
                <a16:creationId xmlns:a16="http://schemas.microsoft.com/office/drawing/2014/main" id="{B1A45C3B-F7BE-1FDB-9AE2-1586C5464297}"/>
              </a:ext>
            </a:extLst>
          </p:cNvPr>
          <p:cNvPicPr>
            <a:picLocks noChangeAspect="1"/>
          </p:cNvPicPr>
          <p:nvPr/>
        </p:nvPicPr>
        <p:blipFill>
          <a:blip r:embed="rId3"/>
          <a:srcRect r="170" b="9384"/>
          <a:stretch>
            <a:fillRect/>
          </a:stretch>
        </p:blipFill>
        <p:spPr>
          <a:xfrm>
            <a:off x="7611609" y="1420587"/>
            <a:ext cx="4429137" cy="5171056"/>
          </a:xfrm>
          <a:prstGeom prst="rect">
            <a:avLst/>
          </a:prstGeom>
        </p:spPr>
      </p:pic>
    </p:spTree>
    <p:extLst>
      <p:ext uri="{BB962C8B-B14F-4D97-AF65-F5344CB8AC3E}">
        <p14:creationId xmlns:p14="http://schemas.microsoft.com/office/powerpoint/2010/main" val="1191285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34807-1EC7-6B65-5F61-1392F4D527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271C6F-A53A-9260-F234-6ECC0AFD1A40}"/>
              </a:ext>
            </a:extLst>
          </p:cNvPr>
          <p:cNvSpPr>
            <a:spLocks noGrp="1"/>
          </p:cNvSpPr>
          <p:nvPr>
            <p:ph type="title"/>
          </p:nvPr>
        </p:nvSpPr>
        <p:spPr>
          <a:xfrm>
            <a:off x="437712" y="-1141193"/>
            <a:ext cx="10515600" cy="2852737"/>
          </a:xfrm>
        </p:spPr>
        <p:txBody>
          <a:bodyPr/>
          <a:lstStyle/>
          <a:p>
            <a:r>
              <a:rPr lang="en-US">
                <a:latin typeface="Calibri"/>
                <a:ea typeface="Calibri"/>
                <a:cs typeface="Calibri"/>
              </a:rPr>
              <a:t>Meet the Characters</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481E2B21-9A90-8978-BFBF-B1FA3530B444}"/>
              </a:ext>
            </a:extLst>
          </p:cNvPr>
          <p:cNvSpPr>
            <a:spLocks noGrp="1"/>
          </p:cNvSpPr>
          <p:nvPr>
            <p:ph type="body" idx="1"/>
          </p:nvPr>
        </p:nvSpPr>
        <p:spPr>
          <a:xfrm>
            <a:off x="365453" y="1929032"/>
            <a:ext cx="10515600" cy="1500187"/>
          </a:xfrm>
        </p:spPr>
        <p:txBody>
          <a:bodyPr vert="horz" lIns="91440" tIns="45720" rIns="91440" bIns="45720" rtlCol="0" anchor="t">
            <a:normAutofit/>
          </a:bodyPr>
          <a:lstStyle/>
          <a:p>
            <a:r>
              <a:rPr lang="en-US" sz="2800">
                <a:solidFill>
                  <a:schemeClr val="tx1"/>
                </a:solidFill>
                <a:latin typeface="Calibri"/>
                <a:ea typeface="Calibri"/>
                <a:cs typeface="Calibri"/>
              </a:rPr>
              <a:t>Each character provides a different perspective. </a:t>
            </a:r>
          </a:p>
          <a:p>
            <a:r>
              <a:rPr lang="en-US" sz="2800">
                <a:solidFill>
                  <a:schemeClr val="tx1"/>
                </a:solidFill>
                <a:latin typeface="Calibri"/>
                <a:ea typeface="Calibri"/>
                <a:cs typeface="Calibri"/>
              </a:rPr>
              <a:t>Their choices affect AI use.</a:t>
            </a:r>
            <a:endParaRPr lang="en-US" sz="2800" dirty="0">
              <a:solidFill>
                <a:schemeClr val="tx1"/>
              </a:solidFill>
              <a:latin typeface="Calibri"/>
              <a:ea typeface="Calibri"/>
              <a:cs typeface="Calibri"/>
            </a:endParaRPr>
          </a:p>
        </p:txBody>
      </p:sp>
      <p:pic>
        <p:nvPicPr>
          <p:cNvPr id="4" name="Picture 3">
            <a:extLst>
              <a:ext uri="{FF2B5EF4-FFF2-40B4-BE49-F238E27FC236}">
                <a16:creationId xmlns:a16="http://schemas.microsoft.com/office/drawing/2014/main" id="{4874F8B5-21D9-9357-23CC-912DCE665055}"/>
              </a:ext>
            </a:extLst>
          </p:cNvPr>
          <p:cNvPicPr>
            <a:picLocks noChangeAspect="1"/>
          </p:cNvPicPr>
          <p:nvPr/>
        </p:nvPicPr>
        <p:blipFill>
          <a:blip r:embed="rId3"/>
          <a:srcRect l="29575" t="6628" r="23366" b="15375"/>
          <a:stretch>
            <a:fillRect/>
          </a:stretch>
        </p:blipFill>
        <p:spPr>
          <a:xfrm>
            <a:off x="165781" y="3431999"/>
            <a:ext cx="1920939" cy="3434953"/>
          </a:xfrm>
          <a:prstGeom prst="rect">
            <a:avLst/>
          </a:prstGeom>
        </p:spPr>
      </p:pic>
      <p:pic>
        <p:nvPicPr>
          <p:cNvPr id="6" name="Picture 5">
            <a:extLst>
              <a:ext uri="{FF2B5EF4-FFF2-40B4-BE49-F238E27FC236}">
                <a16:creationId xmlns:a16="http://schemas.microsoft.com/office/drawing/2014/main" id="{9966470B-B9C8-F9DE-8719-738E35C2738F}"/>
              </a:ext>
            </a:extLst>
          </p:cNvPr>
          <p:cNvPicPr>
            <a:picLocks noChangeAspect="1"/>
          </p:cNvPicPr>
          <p:nvPr/>
        </p:nvPicPr>
        <p:blipFill>
          <a:blip r:embed="rId4"/>
          <a:stretch>
            <a:fillRect/>
          </a:stretch>
        </p:blipFill>
        <p:spPr>
          <a:xfrm>
            <a:off x="5246007" y="3239408"/>
            <a:ext cx="3253013" cy="3260270"/>
          </a:xfrm>
          <a:prstGeom prst="rect">
            <a:avLst/>
          </a:prstGeom>
        </p:spPr>
      </p:pic>
      <p:sp>
        <p:nvSpPr>
          <p:cNvPr id="7" name="TextBox 6">
            <a:extLst>
              <a:ext uri="{FF2B5EF4-FFF2-40B4-BE49-F238E27FC236}">
                <a16:creationId xmlns:a16="http://schemas.microsoft.com/office/drawing/2014/main" id="{3FAA9A42-1736-34E0-2879-62EFCD614B67}"/>
              </a:ext>
            </a:extLst>
          </p:cNvPr>
          <p:cNvSpPr txBox="1"/>
          <p:nvPr/>
        </p:nvSpPr>
        <p:spPr>
          <a:xfrm>
            <a:off x="1941832" y="3429248"/>
            <a:ext cx="330647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Calibri"/>
                <a:ea typeface="Calibri"/>
                <a:cs typeface="Calibri"/>
              </a:rPr>
              <a:t>Mrs. Lopez</a:t>
            </a:r>
          </a:p>
          <a:p>
            <a:r>
              <a:rPr lang="en-US" sz="2400" b="1">
                <a:latin typeface="Calibri"/>
                <a:ea typeface="Calibri"/>
                <a:cs typeface="Calibri"/>
              </a:rPr>
              <a:t>Classroom Teacher</a:t>
            </a:r>
            <a:endParaRPr lang="en-US" sz="2400" b="1" dirty="0">
              <a:latin typeface="Calibri"/>
              <a:ea typeface="Calibri"/>
              <a:cs typeface="Calibri"/>
            </a:endParaRPr>
          </a:p>
        </p:txBody>
      </p:sp>
      <p:sp>
        <p:nvSpPr>
          <p:cNvPr id="8" name="TextBox 7">
            <a:extLst>
              <a:ext uri="{FF2B5EF4-FFF2-40B4-BE49-F238E27FC236}">
                <a16:creationId xmlns:a16="http://schemas.microsoft.com/office/drawing/2014/main" id="{8FB04830-1E5D-8217-5F7C-DC86AAB1623C}"/>
              </a:ext>
            </a:extLst>
          </p:cNvPr>
          <p:cNvSpPr txBox="1"/>
          <p:nvPr/>
        </p:nvSpPr>
        <p:spPr>
          <a:xfrm>
            <a:off x="7395028" y="5402943"/>
            <a:ext cx="6096000"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rgbClr val="000000"/>
                </a:solidFill>
                <a:latin typeface="Calibri"/>
                <a:ea typeface="Calibri"/>
                <a:cs typeface="Calibri"/>
              </a:rPr>
              <a:t>Alex </a:t>
            </a:r>
            <a:endParaRPr lang="en-US" sz="2400" b="1" i="0">
              <a:solidFill>
                <a:srgbClr val="000000"/>
              </a:solidFill>
              <a:latin typeface="Calibri"/>
              <a:ea typeface="Calibri"/>
              <a:cs typeface="Calibri"/>
            </a:endParaRPr>
          </a:p>
          <a:p>
            <a:r>
              <a:rPr lang="en-US" sz="2400" b="1">
                <a:solidFill>
                  <a:srgbClr val="000000"/>
                </a:solidFill>
                <a:latin typeface="Calibri"/>
                <a:ea typeface="Calibri"/>
                <a:cs typeface="Calibri"/>
              </a:rPr>
              <a:t>AI Learning Coach</a:t>
            </a:r>
            <a:endParaRPr lang="en-US" sz="2400" b="1" dirty="0">
              <a:solidFill>
                <a:srgbClr val="000000"/>
              </a:solidFill>
              <a:latin typeface="Calibri"/>
              <a:ea typeface="Calibri"/>
              <a:cs typeface="Calibri"/>
            </a:endParaRPr>
          </a:p>
          <a:p>
            <a:pPr algn="ctr" rtl="0"/>
            <a:endParaRPr lang="en-US" i="0" u="none" strike="noStrike" baseline="0">
              <a:solidFill>
                <a:srgbClr val="000000"/>
              </a:solidFill>
              <a:latin typeface="Calibri"/>
              <a:ea typeface="Calibri"/>
              <a:cs typeface="Calibri"/>
            </a:endParaRPr>
          </a:p>
        </p:txBody>
      </p:sp>
      <p:pic>
        <p:nvPicPr>
          <p:cNvPr id="5" name="Picture 4">
            <a:extLst>
              <a:ext uri="{FF2B5EF4-FFF2-40B4-BE49-F238E27FC236}">
                <a16:creationId xmlns:a16="http://schemas.microsoft.com/office/drawing/2014/main" id="{C561DB84-972B-54EF-366E-4E6BBC086E76}"/>
              </a:ext>
            </a:extLst>
          </p:cNvPr>
          <p:cNvPicPr>
            <a:picLocks noChangeAspect="1"/>
          </p:cNvPicPr>
          <p:nvPr/>
        </p:nvPicPr>
        <p:blipFill>
          <a:blip r:embed="rId5"/>
          <a:stretch>
            <a:fillRect/>
          </a:stretch>
        </p:blipFill>
        <p:spPr>
          <a:xfrm>
            <a:off x="9939790" y="906"/>
            <a:ext cx="1507218" cy="3205844"/>
          </a:xfrm>
          <a:prstGeom prst="rect">
            <a:avLst/>
          </a:prstGeom>
        </p:spPr>
      </p:pic>
      <p:sp>
        <p:nvSpPr>
          <p:cNvPr id="9" name="TextBox 8">
            <a:extLst>
              <a:ext uri="{FF2B5EF4-FFF2-40B4-BE49-F238E27FC236}">
                <a16:creationId xmlns:a16="http://schemas.microsoft.com/office/drawing/2014/main" id="{4FB123E0-FB61-7E91-F0A0-2DE0D2A422ED}"/>
              </a:ext>
            </a:extLst>
          </p:cNvPr>
          <p:cNvSpPr txBox="1"/>
          <p:nvPr/>
        </p:nvSpPr>
        <p:spPr>
          <a:xfrm>
            <a:off x="9383485" y="3421743"/>
            <a:ext cx="3200400" cy="11297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rgbClr val="000000"/>
                </a:solidFill>
                <a:latin typeface="Calibri"/>
                <a:ea typeface="Calibri"/>
                <a:cs typeface="Calibri"/>
              </a:rPr>
              <a:t>Principal Davis</a:t>
            </a:r>
            <a:endParaRPr lang="en-US" sz="2400" b="1" i="0" u="none" strike="noStrike" baseline="0">
              <a:solidFill>
                <a:srgbClr val="000000"/>
              </a:solidFill>
              <a:latin typeface="Calibri"/>
              <a:ea typeface="Calibri"/>
              <a:cs typeface="Calibri"/>
            </a:endParaRPr>
          </a:p>
          <a:p>
            <a:r>
              <a:rPr lang="en-US" sz="2400" b="1">
                <a:latin typeface="Calibri"/>
                <a:ea typeface="Calibri"/>
                <a:cs typeface="Calibri"/>
              </a:rPr>
              <a:t>Technology Leader </a:t>
            </a:r>
            <a:endParaRPr lang="en-US" sz="2400" dirty="0">
              <a:latin typeface="Calibri"/>
              <a:ea typeface="Calibri"/>
              <a:cs typeface="Calibri"/>
            </a:endParaRPr>
          </a:p>
          <a:p>
            <a:pPr algn="ctr"/>
            <a:endParaRPr lang="en-US">
              <a:latin typeface="Calibri"/>
              <a:ea typeface="Calibri"/>
              <a:cs typeface="Calibri"/>
            </a:endParaRPr>
          </a:p>
        </p:txBody>
      </p:sp>
    </p:spTree>
    <p:extLst>
      <p:ext uri="{BB962C8B-B14F-4D97-AF65-F5344CB8AC3E}">
        <p14:creationId xmlns:p14="http://schemas.microsoft.com/office/powerpoint/2010/main" val="3470639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117B9-97C7-BBEB-481F-1AA0C88E2E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192AB5-7366-8A9F-7658-FA5871D74494}"/>
              </a:ext>
            </a:extLst>
          </p:cNvPr>
          <p:cNvSpPr>
            <a:spLocks noGrp="1"/>
          </p:cNvSpPr>
          <p:nvPr>
            <p:ph type="title"/>
          </p:nvPr>
        </p:nvSpPr>
        <p:spPr>
          <a:xfrm>
            <a:off x="437712" y="-1141193"/>
            <a:ext cx="10515600" cy="2852737"/>
          </a:xfrm>
        </p:spPr>
        <p:txBody>
          <a:bodyPr/>
          <a:lstStyle/>
          <a:p>
            <a:r>
              <a:rPr lang="en-US">
                <a:latin typeface="Calibri"/>
                <a:ea typeface="Calibri"/>
                <a:cs typeface="Calibri"/>
              </a:rPr>
              <a:t>Decision</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FC3E64E5-4B99-8A44-F1D4-AA72DC34614A}"/>
              </a:ext>
            </a:extLst>
          </p:cNvPr>
          <p:cNvSpPr>
            <a:spLocks noGrp="1"/>
          </p:cNvSpPr>
          <p:nvPr>
            <p:ph type="body" idx="1"/>
          </p:nvPr>
        </p:nvSpPr>
        <p:spPr>
          <a:xfrm>
            <a:off x="365453" y="1929032"/>
            <a:ext cx="10515600" cy="1500187"/>
          </a:xfrm>
        </p:spPr>
        <p:txBody>
          <a:bodyPr vert="horz" lIns="91440" tIns="45720" rIns="91440" bIns="45720" rtlCol="0" anchor="t">
            <a:normAutofit/>
          </a:bodyPr>
          <a:lstStyle/>
          <a:p>
            <a:r>
              <a:rPr lang="en-US" sz="2800">
                <a:solidFill>
                  <a:schemeClr val="tx1"/>
                </a:solidFill>
                <a:latin typeface="Calibri"/>
                <a:ea typeface="Calibri"/>
                <a:cs typeface="Calibri"/>
              </a:rPr>
              <a:t>AI created a lesson quickly.</a:t>
            </a:r>
            <a:endParaRPr lang="en-US" sz="2800" dirty="0">
              <a:solidFill>
                <a:schemeClr val="tx1"/>
              </a:solidFill>
              <a:latin typeface="Calibri"/>
              <a:ea typeface="Calibri"/>
              <a:cs typeface="Calibri"/>
            </a:endParaRPr>
          </a:p>
          <a:p>
            <a:r>
              <a:rPr lang="en-US" sz="2800">
                <a:solidFill>
                  <a:schemeClr val="tx1"/>
                </a:solidFill>
                <a:latin typeface="Calibri"/>
                <a:ea typeface="Calibri"/>
                <a:cs typeface="Calibri"/>
              </a:rPr>
              <a:t>Mrs. Lopez notices possible mistakes. </a:t>
            </a:r>
            <a:endParaRPr lang="en-US" sz="2800" dirty="0">
              <a:solidFill>
                <a:schemeClr val="tx1"/>
              </a:solidFill>
              <a:latin typeface="Calibri"/>
              <a:ea typeface="Calibri"/>
              <a:cs typeface="Calibri"/>
            </a:endParaRPr>
          </a:p>
        </p:txBody>
      </p:sp>
      <p:pic>
        <p:nvPicPr>
          <p:cNvPr id="4" name="Picture 3">
            <a:extLst>
              <a:ext uri="{FF2B5EF4-FFF2-40B4-BE49-F238E27FC236}">
                <a16:creationId xmlns:a16="http://schemas.microsoft.com/office/drawing/2014/main" id="{B424140F-DDD4-C3FB-915C-CED30E765250}"/>
              </a:ext>
            </a:extLst>
          </p:cNvPr>
          <p:cNvPicPr>
            <a:picLocks noChangeAspect="1"/>
          </p:cNvPicPr>
          <p:nvPr/>
        </p:nvPicPr>
        <p:blipFill>
          <a:blip r:embed="rId3"/>
          <a:srcRect l="29575" t="6628" r="23366" b="15375"/>
          <a:stretch>
            <a:fillRect/>
          </a:stretch>
        </p:blipFill>
        <p:spPr>
          <a:xfrm>
            <a:off x="165781" y="3431999"/>
            <a:ext cx="1920939" cy="3434953"/>
          </a:xfrm>
          <a:prstGeom prst="rect">
            <a:avLst/>
          </a:prstGeom>
        </p:spPr>
      </p:pic>
      <p:pic>
        <p:nvPicPr>
          <p:cNvPr id="6" name="Picture 5">
            <a:extLst>
              <a:ext uri="{FF2B5EF4-FFF2-40B4-BE49-F238E27FC236}">
                <a16:creationId xmlns:a16="http://schemas.microsoft.com/office/drawing/2014/main" id="{6FE3B82B-F8D1-FA27-CAF4-1BBF543B4D03}"/>
              </a:ext>
            </a:extLst>
          </p:cNvPr>
          <p:cNvPicPr>
            <a:picLocks noChangeAspect="1"/>
          </p:cNvPicPr>
          <p:nvPr/>
        </p:nvPicPr>
        <p:blipFill>
          <a:blip r:embed="rId4"/>
          <a:stretch>
            <a:fillRect/>
          </a:stretch>
        </p:blipFill>
        <p:spPr>
          <a:xfrm>
            <a:off x="5695950" y="3094265"/>
            <a:ext cx="3253013" cy="3260270"/>
          </a:xfrm>
          <a:prstGeom prst="rect">
            <a:avLst/>
          </a:prstGeom>
        </p:spPr>
      </p:pic>
      <p:sp>
        <p:nvSpPr>
          <p:cNvPr id="7" name="TextBox 6">
            <a:extLst>
              <a:ext uri="{FF2B5EF4-FFF2-40B4-BE49-F238E27FC236}">
                <a16:creationId xmlns:a16="http://schemas.microsoft.com/office/drawing/2014/main" id="{C85153AE-9804-FCDC-4B18-4ECBE7413A70}"/>
              </a:ext>
            </a:extLst>
          </p:cNvPr>
          <p:cNvSpPr txBox="1"/>
          <p:nvPr/>
        </p:nvSpPr>
        <p:spPr>
          <a:xfrm>
            <a:off x="1941832" y="3429248"/>
            <a:ext cx="3306472"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Calibri"/>
                <a:ea typeface="Calibri"/>
                <a:cs typeface="Calibri"/>
              </a:rPr>
              <a:t>"AI helped me create this lesson, but some </a:t>
            </a:r>
            <a:r>
              <a:rPr lang="en-US" sz="2400" b="1">
                <a:latin typeface="Calibri"/>
                <a:ea typeface="Calibri"/>
                <a:cs typeface="Calibri"/>
              </a:rPr>
              <a:t>information may not be correct."</a:t>
            </a:r>
            <a:endParaRPr lang="en-US" sz="2400" b="1" dirty="0">
              <a:latin typeface="Calibri"/>
              <a:ea typeface="Calibri"/>
              <a:cs typeface="Calibri"/>
            </a:endParaRPr>
          </a:p>
        </p:txBody>
      </p:sp>
      <p:sp>
        <p:nvSpPr>
          <p:cNvPr id="8" name="TextBox 7">
            <a:extLst>
              <a:ext uri="{FF2B5EF4-FFF2-40B4-BE49-F238E27FC236}">
                <a16:creationId xmlns:a16="http://schemas.microsoft.com/office/drawing/2014/main" id="{8090DF50-21B6-1BF1-1E84-A0FF45F1D23C}"/>
              </a:ext>
            </a:extLst>
          </p:cNvPr>
          <p:cNvSpPr txBox="1"/>
          <p:nvPr/>
        </p:nvSpPr>
        <p:spPr>
          <a:xfrm>
            <a:off x="8940799" y="3429000"/>
            <a:ext cx="3193143"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rgbClr val="000000"/>
                </a:solidFill>
                <a:latin typeface="Calibri"/>
                <a:ea typeface="Calibri"/>
                <a:cs typeface="Calibri"/>
              </a:rPr>
              <a:t>"What should you do before sharing it with students?"</a:t>
            </a:r>
            <a:endParaRPr lang="en-US" sz="2400" b="1" dirty="0">
              <a:solidFill>
                <a:srgbClr val="000000"/>
              </a:solidFill>
              <a:latin typeface="Calibri"/>
              <a:ea typeface="Calibri"/>
              <a:cs typeface="Calibri"/>
            </a:endParaRPr>
          </a:p>
          <a:p>
            <a:pPr algn="ctr" rtl="0"/>
            <a:endParaRPr lang="en-US" i="0" u="none" strike="noStrike" baseline="0">
              <a:solidFill>
                <a:srgbClr val="000000"/>
              </a:solidFill>
              <a:latin typeface="Calibri"/>
              <a:ea typeface="Calibri"/>
              <a:cs typeface="Calibri"/>
            </a:endParaRPr>
          </a:p>
        </p:txBody>
      </p:sp>
    </p:spTree>
    <p:extLst>
      <p:ext uri="{BB962C8B-B14F-4D97-AF65-F5344CB8AC3E}">
        <p14:creationId xmlns:p14="http://schemas.microsoft.com/office/powerpoint/2010/main" val="11749744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5B5D8-49ED-6DB0-4B25-D727F649FF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48F083-E632-11F4-0A94-DB9E96B76DB4}"/>
              </a:ext>
            </a:extLst>
          </p:cNvPr>
          <p:cNvSpPr>
            <a:spLocks noGrp="1"/>
          </p:cNvSpPr>
          <p:nvPr>
            <p:ph type="title"/>
          </p:nvPr>
        </p:nvSpPr>
        <p:spPr>
          <a:xfrm>
            <a:off x="176455" y="-1424222"/>
            <a:ext cx="10515600" cy="2852737"/>
          </a:xfrm>
        </p:spPr>
        <p:txBody>
          <a:bodyPr/>
          <a:lstStyle/>
          <a:p>
            <a:r>
              <a:rPr lang="en-US">
                <a:latin typeface="Calibri"/>
                <a:ea typeface="Calibri"/>
                <a:cs typeface="Calibri"/>
              </a:rPr>
              <a:t>Choices</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27C80DDC-EB01-FE5A-4F3A-6DBA2747F03C}"/>
              </a:ext>
            </a:extLst>
          </p:cNvPr>
          <p:cNvSpPr>
            <a:spLocks noGrp="1"/>
          </p:cNvSpPr>
          <p:nvPr>
            <p:ph type="body" idx="1"/>
          </p:nvPr>
        </p:nvSpPr>
        <p:spPr>
          <a:xfrm>
            <a:off x="176767" y="1333947"/>
            <a:ext cx="10515600" cy="2088015"/>
          </a:xfrm>
        </p:spPr>
        <p:txBody>
          <a:bodyPr vert="horz" lIns="91440" tIns="45720" rIns="91440" bIns="45720" rtlCol="0" anchor="t">
            <a:normAutofit/>
          </a:bodyPr>
          <a:lstStyle/>
          <a:p>
            <a:r>
              <a:rPr lang="en-US">
                <a:solidFill>
                  <a:schemeClr val="tx1"/>
                </a:solidFill>
                <a:latin typeface="Calibri"/>
                <a:ea typeface="Calibri"/>
                <a:cs typeface="Calibri"/>
              </a:rPr>
              <a:t>Click each character to explore advice.</a:t>
            </a:r>
            <a:endParaRPr lang="en-US" dirty="0">
              <a:solidFill>
                <a:schemeClr val="tx1"/>
              </a:solidFill>
              <a:latin typeface="Calibri"/>
              <a:ea typeface="Calibri"/>
              <a:cs typeface="Calibri"/>
            </a:endParaRPr>
          </a:p>
          <a:p>
            <a:r>
              <a:rPr lang="en-US" dirty="0">
                <a:solidFill>
                  <a:schemeClr val="tx1"/>
                </a:solidFill>
                <a:latin typeface="Calibri"/>
                <a:ea typeface="Calibri"/>
                <a:cs typeface="Calibri"/>
              </a:rPr>
              <a:t>Each perspective helps Mrs</a:t>
            </a:r>
            <a:r>
              <a:rPr lang="en-US">
                <a:solidFill>
                  <a:schemeClr val="tx1"/>
                </a:solidFill>
                <a:latin typeface="Calibri"/>
                <a:ea typeface="Calibri"/>
                <a:cs typeface="Calibri"/>
              </a:rPr>
              <a:t>. Lopez decide. </a:t>
            </a:r>
            <a:endParaRPr lang="en-US" dirty="0">
              <a:solidFill>
                <a:schemeClr val="tx1"/>
              </a:solidFill>
              <a:latin typeface="Calibri"/>
              <a:ea typeface="Calibri"/>
              <a:cs typeface="Calibri"/>
            </a:endParaRPr>
          </a:p>
          <a:p>
            <a:endParaRPr lang="en-US" sz="2000" b="1" dirty="0">
              <a:solidFill>
                <a:schemeClr val="tx1"/>
              </a:solidFill>
              <a:latin typeface="Calibri"/>
              <a:ea typeface="Calibri"/>
              <a:cs typeface="Calibri"/>
            </a:endParaRPr>
          </a:p>
          <a:p>
            <a:r>
              <a:rPr lang="en-US" sz="2000" b="1" u="sng">
                <a:solidFill>
                  <a:srgbClr val="FF0000"/>
                </a:solidFill>
                <a:latin typeface="Calibri"/>
                <a:ea typeface="Calibri"/>
                <a:cs typeface="Calibri"/>
              </a:rPr>
              <a:t>Directions: Click each character to reveal their recommendation. </a:t>
            </a:r>
            <a:endParaRPr lang="en-US" sz="2000" u="sng">
              <a:solidFill>
                <a:srgbClr val="FF0000"/>
              </a:solidFill>
              <a:latin typeface="Calibri"/>
              <a:ea typeface="Calibri"/>
              <a:cs typeface="Calibri"/>
            </a:endParaRPr>
          </a:p>
        </p:txBody>
      </p:sp>
      <p:pic>
        <p:nvPicPr>
          <p:cNvPr id="4" name="Picture 3">
            <a:extLst>
              <a:ext uri="{FF2B5EF4-FFF2-40B4-BE49-F238E27FC236}">
                <a16:creationId xmlns:a16="http://schemas.microsoft.com/office/drawing/2014/main" id="{8F42B68B-3AE3-9A04-E14A-B78FF412658C}"/>
              </a:ext>
            </a:extLst>
          </p:cNvPr>
          <p:cNvPicPr>
            <a:picLocks noChangeAspect="1"/>
          </p:cNvPicPr>
          <p:nvPr/>
        </p:nvPicPr>
        <p:blipFill>
          <a:blip r:embed="rId3"/>
          <a:srcRect l="29575" t="6628" r="23366" b="15375"/>
          <a:stretch>
            <a:fillRect/>
          </a:stretch>
        </p:blipFill>
        <p:spPr>
          <a:xfrm>
            <a:off x="-1133" y="3032856"/>
            <a:ext cx="1928197" cy="3580096"/>
          </a:xfrm>
          <a:prstGeom prst="rect">
            <a:avLst/>
          </a:prstGeom>
        </p:spPr>
      </p:pic>
      <p:pic>
        <p:nvPicPr>
          <p:cNvPr id="6" name="Picture 5">
            <a:extLst>
              <a:ext uri="{FF2B5EF4-FFF2-40B4-BE49-F238E27FC236}">
                <a16:creationId xmlns:a16="http://schemas.microsoft.com/office/drawing/2014/main" id="{63A81209-BC22-EEBE-CF2E-91DE3AB9BB91}"/>
              </a:ext>
            </a:extLst>
          </p:cNvPr>
          <p:cNvPicPr>
            <a:picLocks noChangeAspect="1"/>
          </p:cNvPicPr>
          <p:nvPr/>
        </p:nvPicPr>
        <p:blipFill>
          <a:blip r:embed="rId4"/>
          <a:stretch>
            <a:fillRect/>
          </a:stretch>
        </p:blipFill>
        <p:spPr>
          <a:xfrm>
            <a:off x="5434692" y="3435352"/>
            <a:ext cx="3136899" cy="3173184"/>
          </a:xfrm>
          <a:prstGeom prst="rect">
            <a:avLst/>
          </a:prstGeom>
        </p:spPr>
      </p:pic>
      <p:sp>
        <p:nvSpPr>
          <p:cNvPr id="7" name="TextBox 6">
            <a:extLst>
              <a:ext uri="{FF2B5EF4-FFF2-40B4-BE49-F238E27FC236}">
                <a16:creationId xmlns:a16="http://schemas.microsoft.com/office/drawing/2014/main" id="{E9701F41-F4E1-52E1-2B04-F2FBD27DD3A0}"/>
              </a:ext>
            </a:extLst>
          </p:cNvPr>
          <p:cNvSpPr txBox="1"/>
          <p:nvPr/>
        </p:nvSpPr>
        <p:spPr>
          <a:xfrm>
            <a:off x="1927318" y="3298620"/>
            <a:ext cx="3306472"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Calibri"/>
                <a:ea typeface="Calibri"/>
                <a:cs typeface="Calibri"/>
              </a:rPr>
              <a:t>Mrs</a:t>
            </a:r>
            <a:r>
              <a:rPr lang="en-US" sz="2400" b="1">
                <a:latin typeface="Calibri"/>
                <a:ea typeface="Calibri"/>
                <a:cs typeface="Calibri"/>
              </a:rPr>
              <a:t>. Lopez (Teacher)</a:t>
            </a:r>
          </a:p>
          <a:p>
            <a:r>
              <a:rPr lang="en-US" sz="2400" b="1">
                <a:latin typeface="Calibri"/>
                <a:ea typeface="Calibri"/>
                <a:cs typeface="Calibri"/>
              </a:rPr>
              <a:t>Reveal:</a:t>
            </a:r>
            <a:endParaRPr lang="en-US" sz="2400" b="1" dirty="0">
              <a:latin typeface="Calibri"/>
              <a:ea typeface="Calibri"/>
              <a:cs typeface="Calibri"/>
            </a:endParaRPr>
          </a:p>
          <a:p>
            <a:endParaRPr lang="en-US" sz="2400" b="1" dirty="0">
              <a:latin typeface="Calibri"/>
              <a:ea typeface="Calibri"/>
              <a:cs typeface="Calibri"/>
            </a:endParaRPr>
          </a:p>
          <a:p>
            <a:r>
              <a:rPr lang="en-US" sz="2000" b="1" dirty="0">
                <a:latin typeface="Calibri"/>
                <a:ea typeface="Calibri"/>
                <a:cs typeface="Calibri"/>
              </a:rPr>
              <a:t>"</a:t>
            </a:r>
            <a:r>
              <a:rPr lang="en-US" sz="2400" b="1" dirty="0">
                <a:latin typeface="Calibri"/>
                <a:ea typeface="Calibri"/>
                <a:cs typeface="Calibri"/>
              </a:rPr>
              <a:t>AI helped me create my lesson faster, but I need to make sure the </a:t>
            </a:r>
            <a:r>
              <a:rPr lang="en-US" sz="2400" b="1">
                <a:latin typeface="Calibri"/>
                <a:ea typeface="Calibri"/>
                <a:cs typeface="Calibri"/>
              </a:rPr>
              <a:t>information is accurate". </a:t>
            </a:r>
            <a:endParaRPr lang="en-US" sz="2400" b="1" dirty="0">
              <a:latin typeface="Calibri"/>
              <a:ea typeface="Calibri"/>
              <a:cs typeface="Calibri"/>
            </a:endParaRPr>
          </a:p>
        </p:txBody>
      </p:sp>
      <p:pic>
        <p:nvPicPr>
          <p:cNvPr id="5" name="Picture 4">
            <a:extLst>
              <a:ext uri="{FF2B5EF4-FFF2-40B4-BE49-F238E27FC236}">
                <a16:creationId xmlns:a16="http://schemas.microsoft.com/office/drawing/2014/main" id="{ABA064A8-A911-D521-FE1A-75271EFD48F4}"/>
              </a:ext>
            </a:extLst>
          </p:cNvPr>
          <p:cNvPicPr>
            <a:picLocks noChangeAspect="1"/>
          </p:cNvPicPr>
          <p:nvPr/>
        </p:nvPicPr>
        <p:blipFill>
          <a:blip r:embed="rId5"/>
          <a:stretch>
            <a:fillRect/>
          </a:stretch>
        </p:blipFill>
        <p:spPr>
          <a:xfrm>
            <a:off x="7886019" y="160563"/>
            <a:ext cx="1304018" cy="2799444"/>
          </a:xfrm>
          <a:prstGeom prst="rect">
            <a:avLst/>
          </a:prstGeom>
        </p:spPr>
      </p:pic>
      <p:sp>
        <p:nvSpPr>
          <p:cNvPr id="9" name="TextBox 8">
            <a:extLst>
              <a:ext uri="{FF2B5EF4-FFF2-40B4-BE49-F238E27FC236}">
                <a16:creationId xmlns:a16="http://schemas.microsoft.com/office/drawing/2014/main" id="{FDC6C269-6092-EB84-492F-A7A59482101A}"/>
              </a:ext>
            </a:extLst>
          </p:cNvPr>
          <p:cNvSpPr txBox="1"/>
          <p:nvPr/>
        </p:nvSpPr>
        <p:spPr>
          <a:xfrm>
            <a:off x="9274628" y="127001"/>
            <a:ext cx="3120571" cy="33239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rgbClr val="000000"/>
                </a:solidFill>
                <a:latin typeface="Calibri"/>
                <a:ea typeface="Calibri"/>
                <a:cs typeface="Calibri"/>
              </a:rPr>
              <a:t>Principal Davis</a:t>
            </a:r>
            <a:endParaRPr lang="en-US" sz="2400" b="1" i="0" u="none" strike="noStrike" baseline="0">
              <a:solidFill>
                <a:srgbClr val="000000"/>
              </a:solidFill>
              <a:latin typeface="Calibri"/>
              <a:ea typeface="Calibri"/>
              <a:cs typeface="Calibri"/>
            </a:endParaRPr>
          </a:p>
          <a:p>
            <a:r>
              <a:rPr lang="en-US" sz="2400" b="1">
                <a:latin typeface="Calibri"/>
                <a:ea typeface="Calibri"/>
                <a:cs typeface="Calibri"/>
              </a:rPr>
              <a:t>Reveal:</a:t>
            </a:r>
            <a:endParaRPr lang="en-US" sz="2400" b="1" dirty="0">
              <a:latin typeface="Calibri"/>
              <a:ea typeface="Calibri"/>
              <a:cs typeface="Calibri"/>
            </a:endParaRPr>
          </a:p>
          <a:p>
            <a:endParaRPr lang="en-US" sz="2400" b="1" dirty="0">
              <a:latin typeface="Calibri"/>
              <a:ea typeface="Calibri"/>
              <a:cs typeface="Calibri"/>
            </a:endParaRPr>
          </a:p>
          <a:p>
            <a:r>
              <a:rPr lang="en-US" sz="2400" b="1" dirty="0">
                <a:latin typeface="Calibri"/>
                <a:ea typeface="Calibri"/>
                <a:cs typeface="Calibri"/>
              </a:rPr>
              <a:t>"AI works best when teachers review and adjust the information </a:t>
            </a:r>
            <a:r>
              <a:rPr lang="en-US" sz="2400" b="1">
                <a:latin typeface="Calibri"/>
                <a:ea typeface="Calibri"/>
                <a:cs typeface="Calibri"/>
              </a:rPr>
              <a:t>with their students." </a:t>
            </a:r>
          </a:p>
          <a:p>
            <a:endParaRPr lang="en-US" sz="2400" b="1" dirty="0">
              <a:latin typeface="Calibri"/>
              <a:ea typeface="Calibri"/>
              <a:cs typeface="Calibri"/>
            </a:endParaRPr>
          </a:p>
          <a:p>
            <a:pPr algn="ctr"/>
            <a:endParaRPr lang="en-US">
              <a:latin typeface="Calibri"/>
              <a:ea typeface="Calibri"/>
              <a:cs typeface="Calibri"/>
            </a:endParaRPr>
          </a:p>
        </p:txBody>
      </p:sp>
      <p:sp>
        <p:nvSpPr>
          <p:cNvPr id="10" name="TextBox 9">
            <a:extLst>
              <a:ext uri="{FF2B5EF4-FFF2-40B4-BE49-F238E27FC236}">
                <a16:creationId xmlns:a16="http://schemas.microsoft.com/office/drawing/2014/main" id="{7BEB8F8B-746A-7653-52B1-85BCB68F1176}"/>
              </a:ext>
            </a:extLst>
          </p:cNvPr>
          <p:cNvSpPr txBox="1"/>
          <p:nvPr/>
        </p:nvSpPr>
        <p:spPr>
          <a:xfrm>
            <a:off x="8447313" y="3900714"/>
            <a:ext cx="3947887" cy="29546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rgbClr val="000000"/>
                </a:solidFill>
                <a:latin typeface="Calibri"/>
                <a:ea typeface="Calibri"/>
                <a:cs typeface="Calibri"/>
              </a:rPr>
              <a:t>Alex (AI Coach)</a:t>
            </a:r>
            <a:endParaRPr lang="en-US" sz="2400" b="1" dirty="0">
              <a:solidFill>
                <a:srgbClr val="000000"/>
              </a:solidFill>
              <a:latin typeface="Calibri"/>
              <a:ea typeface="Calibri"/>
              <a:cs typeface="Calibri"/>
            </a:endParaRPr>
          </a:p>
          <a:p>
            <a:r>
              <a:rPr lang="en-US" sz="2400" b="1">
                <a:solidFill>
                  <a:srgbClr val="000000"/>
                </a:solidFill>
                <a:latin typeface="Calibri"/>
                <a:ea typeface="Calibri"/>
                <a:cs typeface="Calibri"/>
              </a:rPr>
              <a:t>Reveal:</a:t>
            </a:r>
            <a:endParaRPr lang="en-US" sz="2400" b="1" dirty="0">
              <a:solidFill>
                <a:srgbClr val="000000"/>
              </a:solidFill>
              <a:latin typeface="Calibri"/>
              <a:ea typeface="Calibri"/>
              <a:cs typeface="Calibri"/>
            </a:endParaRPr>
          </a:p>
          <a:p>
            <a:endParaRPr lang="en-US" sz="2400" b="1" dirty="0">
              <a:solidFill>
                <a:srgbClr val="000000"/>
              </a:solidFill>
              <a:latin typeface="Calibri"/>
              <a:ea typeface="Calibri"/>
              <a:cs typeface="Calibri"/>
            </a:endParaRPr>
          </a:p>
          <a:p>
            <a:r>
              <a:rPr lang="en-US" sz="2400" b="1" dirty="0">
                <a:solidFill>
                  <a:srgbClr val="000000"/>
                </a:solidFill>
                <a:latin typeface="Calibri"/>
                <a:ea typeface="Calibri"/>
                <a:cs typeface="Calibri"/>
              </a:rPr>
              <a:t>"AI works best when teachers view and adjust the i</a:t>
            </a:r>
            <a:r>
              <a:rPr lang="en-US" sz="2400" b="1">
                <a:solidFill>
                  <a:srgbClr val="000000"/>
                </a:solidFill>
                <a:latin typeface="Calibri"/>
                <a:ea typeface="Calibri"/>
                <a:cs typeface="Calibri"/>
              </a:rPr>
              <a:t>nformation for their students." </a:t>
            </a:r>
            <a:endParaRPr lang="en-US" sz="2400" b="1" i="0" u="none" strike="noStrike" baseline="0" dirty="0">
              <a:solidFill>
                <a:srgbClr val="000000"/>
              </a:solidFill>
              <a:latin typeface="Calibri"/>
              <a:ea typeface="Calibri"/>
              <a:cs typeface="Calibri"/>
            </a:endParaRPr>
          </a:p>
          <a:p>
            <a:pPr algn="ctr"/>
            <a:endParaRPr lang="en-US">
              <a:latin typeface="Calibri"/>
              <a:ea typeface="Calibri"/>
              <a:cs typeface="Calibri"/>
            </a:endParaRPr>
          </a:p>
        </p:txBody>
      </p:sp>
    </p:spTree>
    <p:extLst>
      <p:ext uri="{BB962C8B-B14F-4D97-AF65-F5344CB8AC3E}">
        <p14:creationId xmlns:p14="http://schemas.microsoft.com/office/powerpoint/2010/main" val="42894102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7D8E7-F8C6-B1A0-611C-6B52755F77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23943C-7829-BE76-F98D-70A824172338}"/>
              </a:ext>
            </a:extLst>
          </p:cNvPr>
          <p:cNvSpPr>
            <a:spLocks noGrp="1"/>
          </p:cNvSpPr>
          <p:nvPr>
            <p:ph type="title"/>
          </p:nvPr>
        </p:nvSpPr>
        <p:spPr>
          <a:xfrm>
            <a:off x="437712" y="-1141193"/>
            <a:ext cx="10515600" cy="2852737"/>
          </a:xfrm>
        </p:spPr>
        <p:txBody>
          <a:bodyPr/>
          <a:lstStyle/>
          <a:p>
            <a:r>
              <a:rPr lang="en-US">
                <a:latin typeface="Calibri"/>
                <a:ea typeface="Calibri"/>
                <a:cs typeface="Calibri"/>
              </a:rPr>
              <a:t>Choose</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B49A7F7F-92FB-15A3-DE5D-E1B6600A947C}"/>
              </a:ext>
            </a:extLst>
          </p:cNvPr>
          <p:cNvSpPr>
            <a:spLocks noGrp="1"/>
          </p:cNvSpPr>
          <p:nvPr>
            <p:ph type="body" idx="1"/>
          </p:nvPr>
        </p:nvSpPr>
        <p:spPr>
          <a:xfrm>
            <a:off x="387224" y="1929032"/>
            <a:ext cx="10515600" cy="4112758"/>
          </a:xfrm>
        </p:spPr>
        <p:txBody>
          <a:bodyPr vert="horz" lIns="91440" tIns="45720" rIns="91440" bIns="45720" rtlCol="0" anchor="t">
            <a:normAutofit/>
          </a:bodyPr>
          <a:lstStyle/>
          <a:p>
            <a:r>
              <a:rPr lang="en-US" sz="2800" dirty="0">
                <a:solidFill>
                  <a:schemeClr val="tx1"/>
                </a:solidFill>
                <a:latin typeface="Calibri"/>
                <a:ea typeface="Calibri"/>
                <a:cs typeface="Calibri"/>
              </a:rPr>
              <a:t>Mrs. Lopez must choose her next </a:t>
            </a:r>
            <a:r>
              <a:rPr lang="en-US" sz="2800">
                <a:solidFill>
                  <a:schemeClr val="tx1"/>
                </a:solidFill>
                <a:latin typeface="Calibri"/>
                <a:ea typeface="Calibri"/>
                <a:cs typeface="Calibri"/>
              </a:rPr>
              <a:t>step.</a:t>
            </a:r>
            <a:endParaRPr lang="en-US" sz="2800" dirty="0">
              <a:solidFill>
                <a:schemeClr val="tx1"/>
              </a:solidFill>
              <a:latin typeface="Calibri"/>
              <a:ea typeface="Calibri"/>
              <a:cs typeface="Calibri"/>
            </a:endParaRPr>
          </a:p>
          <a:p>
            <a:r>
              <a:rPr lang="en-US" sz="2800">
                <a:solidFill>
                  <a:schemeClr val="tx1"/>
                </a:solidFill>
                <a:latin typeface="Calibri"/>
                <a:ea typeface="Calibri"/>
                <a:cs typeface="Calibri"/>
              </a:rPr>
              <a:t>What  is the most responsible choice?</a:t>
            </a:r>
            <a:endParaRPr lang="en-US" sz="2800" dirty="0">
              <a:solidFill>
                <a:schemeClr val="tx1"/>
              </a:solidFill>
              <a:latin typeface="Calibri"/>
              <a:ea typeface="Calibri"/>
              <a:cs typeface="Calibri"/>
            </a:endParaRPr>
          </a:p>
          <a:p>
            <a:endParaRPr lang="en-US" sz="2800" dirty="0">
              <a:solidFill>
                <a:schemeClr val="tx1"/>
              </a:solidFill>
              <a:latin typeface="Calibri"/>
              <a:ea typeface="Calibri"/>
              <a:cs typeface="Calibri"/>
            </a:endParaRPr>
          </a:p>
          <a:p>
            <a:r>
              <a:rPr lang="en-US" sz="2800">
                <a:solidFill>
                  <a:schemeClr val="tx1"/>
                </a:solidFill>
                <a:latin typeface="Calibri"/>
                <a:ea typeface="Calibri"/>
                <a:cs typeface="Calibri"/>
              </a:rPr>
              <a:t>What should Mrs. Lopez do with the AI-created lesson?</a:t>
            </a:r>
            <a:endParaRPr lang="en-US" sz="2800" dirty="0">
              <a:solidFill>
                <a:schemeClr val="tx1"/>
              </a:solidFill>
              <a:latin typeface="Calibri"/>
              <a:ea typeface="Calibri"/>
              <a:cs typeface="Calibri"/>
            </a:endParaRPr>
          </a:p>
          <a:p>
            <a:pPr marL="514350" indent="-514350">
              <a:buAutoNum type="alphaUcPeriod"/>
            </a:pPr>
            <a:r>
              <a:rPr lang="en-US" sz="2800" dirty="0">
                <a:solidFill>
                  <a:schemeClr val="tx1"/>
                </a:solidFill>
                <a:latin typeface="Calibri"/>
                <a:ea typeface="Calibri"/>
                <a:cs typeface="Calibri"/>
              </a:rPr>
              <a:t>Use it immediately without </a:t>
            </a:r>
            <a:r>
              <a:rPr lang="en-US" sz="2800">
                <a:solidFill>
                  <a:schemeClr val="tx1"/>
                </a:solidFill>
                <a:latin typeface="Calibri"/>
                <a:ea typeface="Calibri"/>
                <a:cs typeface="Calibri"/>
              </a:rPr>
              <a:t>changes</a:t>
            </a:r>
            <a:endParaRPr lang="en-US" sz="2800" dirty="0">
              <a:solidFill>
                <a:schemeClr val="tx1"/>
              </a:solidFill>
              <a:latin typeface="Calibri"/>
              <a:ea typeface="Calibri"/>
              <a:cs typeface="Calibri"/>
            </a:endParaRPr>
          </a:p>
          <a:p>
            <a:pPr marL="514350" indent="-514350">
              <a:buAutoNum type="alphaUcPeriod"/>
            </a:pPr>
            <a:r>
              <a:rPr lang="en-US" sz="2800">
                <a:solidFill>
                  <a:schemeClr val="tx1"/>
                </a:solidFill>
                <a:latin typeface="Calibri"/>
                <a:ea typeface="Calibri"/>
                <a:cs typeface="Calibri"/>
              </a:rPr>
              <a:t>Delete it and never use AI again</a:t>
            </a:r>
            <a:endParaRPr lang="en-US" sz="2800" dirty="0">
              <a:solidFill>
                <a:schemeClr val="tx1"/>
              </a:solidFill>
              <a:latin typeface="Calibri"/>
              <a:ea typeface="Calibri"/>
              <a:cs typeface="Calibri"/>
            </a:endParaRPr>
          </a:p>
          <a:p>
            <a:pPr marL="514350" indent="-514350">
              <a:buAutoNum type="alphaUcPeriod"/>
            </a:pPr>
            <a:r>
              <a:rPr lang="en-US" sz="2800">
                <a:solidFill>
                  <a:schemeClr val="tx1"/>
                </a:solidFill>
                <a:latin typeface="Calibri"/>
                <a:ea typeface="Calibri"/>
                <a:cs typeface="Calibri"/>
              </a:rPr>
              <a:t>Review, edit, and adjust it before teaching</a:t>
            </a:r>
            <a:r>
              <a:rPr lang="en-US" sz="2800" dirty="0">
                <a:solidFill>
                  <a:schemeClr val="tx1"/>
                </a:solidFill>
                <a:latin typeface="Calibri"/>
                <a:ea typeface="Calibri"/>
                <a:cs typeface="Calibri"/>
              </a:rPr>
              <a:t> ✅</a:t>
            </a:r>
          </a:p>
          <a:p>
            <a:pPr marL="514350" indent="-514350">
              <a:buAutoNum type="alphaUcPeriod"/>
            </a:pPr>
            <a:r>
              <a:rPr lang="en-US" sz="2800">
                <a:solidFill>
                  <a:schemeClr val="tx1"/>
                </a:solidFill>
                <a:latin typeface="Calibri"/>
                <a:ea typeface="Calibri"/>
                <a:cs typeface="Calibri"/>
              </a:rPr>
              <a:t>Allow students to correct the mistakes</a:t>
            </a:r>
            <a:endParaRPr lang="en-US" sz="2800" dirty="0">
              <a:solidFill>
                <a:schemeClr val="tx1"/>
              </a:solidFill>
              <a:latin typeface="Calibri"/>
              <a:ea typeface="Calibri"/>
              <a:cs typeface="Calibri"/>
            </a:endParaRPr>
          </a:p>
          <a:p>
            <a:pPr marL="514350" indent="-514350">
              <a:buAutoNum type="alphaUcPeriod"/>
            </a:pPr>
            <a:endParaRPr lang="en-US" sz="2800" dirty="0">
              <a:solidFill>
                <a:schemeClr val="tx1"/>
              </a:solidFill>
              <a:latin typeface="Calibri"/>
              <a:ea typeface="Calibri"/>
              <a:cs typeface="Calibri"/>
            </a:endParaRPr>
          </a:p>
          <a:p>
            <a:endParaRPr lang="en-US" sz="2800" dirty="0">
              <a:solidFill>
                <a:schemeClr val="tx1"/>
              </a:solidFill>
              <a:latin typeface="Calibri"/>
              <a:ea typeface="Calibri"/>
              <a:cs typeface="Calibri"/>
            </a:endParaRPr>
          </a:p>
        </p:txBody>
      </p:sp>
    </p:spTree>
    <p:extLst>
      <p:ext uri="{BB962C8B-B14F-4D97-AF65-F5344CB8AC3E}">
        <p14:creationId xmlns:p14="http://schemas.microsoft.com/office/powerpoint/2010/main" val="2698484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FBB6F-0204-74AD-E440-FEFAB252AC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18FCD2-E637-7CE0-A298-E806536DFEF1}"/>
              </a:ext>
            </a:extLst>
          </p:cNvPr>
          <p:cNvSpPr>
            <a:spLocks noGrp="1"/>
          </p:cNvSpPr>
          <p:nvPr>
            <p:ph type="title"/>
          </p:nvPr>
        </p:nvSpPr>
        <p:spPr>
          <a:xfrm>
            <a:off x="437712" y="-1141193"/>
            <a:ext cx="10515600" cy="2852737"/>
          </a:xfrm>
        </p:spPr>
        <p:txBody>
          <a:bodyPr/>
          <a:lstStyle/>
          <a:p>
            <a:r>
              <a:rPr lang="en-US">
                <a:latin typeface="Calibri"/>
                <a:ea typeface="Calibri"/>
                <a:cs typeface="Calibri"/>
              </a:rPr>
              <a:t>Review</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FF74BDFC-4B26-510E-B70A-2AC9332FDBB0}"/>
              </a:ext>
            </a:extLst>
          </p:cNvPr>
          <p:cNvSpPr>
            <a:spLocks noGrp="1"/>
          </p:cNvSpPr>
          <p:nvPr>
            <p:ph type="body" idx="1"/>
          </p:nvPr>
        </p:nvSpPr>
        <p:spPr>
          <a:xfrm>
            <a:off x="365453" y="1929032"/>
            <a:ext cx="10515600" cy="1500187"/>
          </a:xfrm>
        </p:spPr>
        <p:txBody>
          <a:bodyPr vert="horz" lIns="91440" tIns="45720" rIns="91440" bIns="45720" rtlCol="0" anchor="t">
            <a:normAutofit/>
          </a:bodyPr>
          <a:lstStyle/>
          <a:p>
            <a:r>
              <a:rPr lang="en-US" sz="2800">
                <a:solidFill>
                  <a:schemeClr val="tx1"/>
                </a:solidFill>
                <a:latin typeface="Calibri"/>
                <a:ea typeface="Calibri"/>
                <a:cs typeface="Calibri"/>
              </a:rPr>
              <a:t>Responsible teachers evaluate AI content.</a:t>
            </a:r>
            <a:endParaRPr lang="en-US" sz="2800" dirty="0">
              <a:solidFill>
                <a:schemeClr val="tx1"/>
              </a:solidFill>
              <a:latin typeface="Calibri"/>
              <a:ea typeface="Calibri"/>
              <a:cs typeface="Calibri"/>
            </a:endParaRPr>
          </a:p>
          <a:p>
            <a:r>
              <a:rPr lang="en-US" sz="2800">
                <a:solidFill>
                  <a:schemeClr val="tx1"/>
                </a:solidFill>
                <a:latin typeface="Calibri"/>
                <a:ea typeface="Calibri"/>
                <a:cs typeface="Calibri"/>
              </a:rPr>
              <a:t>Human Decisions guide learning. </a:t>
            </a:r>
            <a:endParaRPr lang="en-US" sz="2800" dirty="0">
              <a:solidFill>
                <a:schemeClr val="tx1"/>
              </a:solidFill>
              <a:latin typeface="Calibri"/>
              <a:ea typeface="Calibri"/>
              <a:cs typeface="Calibri"/>
            </a:endParaRPr>
          </a:p>
        </p:txBody>
      </p:sp>
      <p:pic>
        <p:nvPicPr>
          <p:cNvPr id="5" name="Picture 4">
            <a:extLst>
              <a:ext uri="{FF2B5EF4-FFF2-40B4-BE49-F238E27FC236}">
                <a16:creationId xmlns:a16="http://schemas.microsoft.com/office/drawing/2014/main" id="{760BBE14-B59E-E379-F792-4AA2BD42DC8E}"/>
              </a:ext>
            </a:extLst>
          </p:cNvPr>
          <p:cNvPicPr>
            <a:picLocks noChangeAspect="1"/>
          </p:cNvPicPr>
          <p:nvPr/>
        </p:nvPicPr>
        <p:blipFill>
          <a:blip r:embed="rId3"/>
          <a:stretch>
            <a:fillRect/>
          </a:stretch>
        </p:blipFill>
        <p:spPr>
          <a:xfrm>
            <a:off x="7600496" y="196851"/>
            <a:ext cx="4233634" cy="6464299"/>
          </a:xfrm>
          <a:prstGeom prst="rect">
            <a:avLst/>
          </a:prstGeom>
        </p:spPr>
      </p:pic>
    </p:spTree>
    <p:extLst>
      <p:ext uri="{BB962C8B-B14F-4D97-AF65-F5344CB8AC3E}">
        <p14:creationId xmlns:p14="http://schemas.microsoft.com/office/powerpoint/2010/main" val="40311263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C7399-392A-EF05-B904-50114C6A30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B889E4-C017-3105-7C94-F2C3254BD1A6}"/>
              </a:ext>
            </a:extLst>
          </p:cNvPr>
          <p:cNvSpPr>
            <a:spLocks noGrp="1"/>
          </p:cNvSpPr>
          <p:nvPr>
            <p:ph type="title"/>
          </p:nvPr>
        </p:nvSpPr>
        <p:spPr>
          <a:xfrm>
            <a:off x="437712" y="-1141193"/>
            <a:ext cx="10515600" cy="2852737"/>
          </a:xfrm>
        </p:spPr>
        <p:txBody>
          <a:bodyPr/>
          <a:lstStyle/>
          <a:p>
            <a:r>
              <a:rPr lang="en-US">
                <a:latin typeface="Calibri"/>
                <a:ea typeface="Calibri"/>
                <a:cs typeface="Calibri"/>
              </a:rPr>
              <a:t>Sort</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B8D55684-E1C1-4E6C-F98B-9B1A3B59A440}"/>
              </a:ext>
            </a:extLst>
          </p:cNvPr>
          <p:cNvSpPr>
            <a:spLocks noGrp="1"/>
          </p:cNvSpPr>
          <p:nvPr>
            <p:ph type="body" idx="1"/>
          </p:nvPr>
        </p:nvSpPr>
        <p:spPr>
          <a:xfrm>
            <a:off x="387224" y="1929032"/>
            <a:ext cx="11582400" cy="1500187"/>
          </a:xfrm>
        </p:spPr>
        <p:txBody>
          <a:bodyPr vert="horz" lIns="91440" tIns="45720" rIns="91440" bIns="45720" rtlCol="0" anchor="t">
            <a:normAutofit/>
          </a:bodyPr>
          <a:lstStyle/>
          <a:p>
            <a:r>
              <a:rPr lang="en-US" sz="2800">
                <a:solidFill>
                  <a:schemeClr val="tx1"/>
                </a:solidFill>
                <a:latin typeface="Calibri"/>
                <a:ea typeface="Calibri"/>
                <a:cs typeface="Calibri"/>
              </a:rPr>
              <a:t>Place each action into the correct category. </a:t>
            </a:r>
            <a:endParaRPr lang="en-US" sz="2800" dirty="0">
              <a:solidFill>
                <a:schemeClr val="tx1"/>
              </a:solidFill>
              <a:latin typeface="Calibri"/>
              <a:ea typeface="Calibri"/>
              <a:cs typeface="Calibri"/>
            </a:endParaRPr>
          </a:p>
          <a:p>
            <a:r>
              <a:rPr lang="en-US" sz="2800" dirty="0">
                <a:solidFill>
                  <a:schemeClr val="tx1"/>
                </a:solidFill>
                <a:latin typeface="Calibri"/>
                <a:ea typeface="Calibri"/>
                <a:cs typeface="Calibri"/>
              </a:rPr>
              <a:t>Move each example into either "AI Support" or "Teacher </a:t>
            </a:r>
            <a:r>
              <a:rPr lang="en-US" sz="2800">
                <a:solidFill>
                  <a:schemeClr val="tx1"/>
                </a:solidFill>
                <a:latin typeface="Calibri"/>
                <a:ea typeface="Calibri"/>
                <a:cs typeface="Calibri"/>
              </a:rPr>
              <a:t>Responsibility."</a:t>
            </a:r>
            <a:endParaRPr lang="en-US" sz="2800" dirty="0">
              <a:solidFill>
                <a:schemeClr val="tx1"/>
              </a:solidFill>
              <a:latin typeface="Calibri"/>
              <a:ea typeface="Calibri"/>
              <a:cs typeface="Calibri"/>
            </a:endParaRPr>
          </a:p>
          <a:p>
            <a:endParaRPr lang="en-US" sz="2800" dirty="0">
              <a:solidFill>
                <a:schemeClr val="tx1"/>
              </a:solidFill>
              <a:latin typeface="Calibri"/>
              <a:ea typeface="Calibri"/>
              <a:cs typeface="Calibri"/>
            </a:endParaRPr>
          </a:p>
        </p:txBody>
      </p:sp>
      <p:sp>
        <p:nvSpPr>
          <p:cNvPr id="4" name="Rectangle 3">
            <a:extLst>
              <a:ext uri="{FF2B5EF4-FFF2-40B4-BE49-F238E27FC236}">
                <a16:creationId xmlns:a16="http://schemas.microsoft.com/office/drawing/2014/main" id="{3A92D6FB-32B4-4C02-5AD4-4D315B09691A}"/>
              </a:ext>
            </a:extLst>
          </p:cNvPr>
          <p:cNvSpPr/>
          <p:nvPr/>
        </p:nvSpPr>
        <p:spPr>
          <a:xfrm>
            <a:off x="4064397" y="3430144"/>
            <a:ext cx="3925020" cy="31796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a:ea typeface="Calibri"/>
              <a:cs typeface="Calibri"/>
            </a:endParaRPr>
          </a:p>
        </p:txBody>
      </p:sp>
      <p:sp>
        <p:nvSpPr>
          <p:cNvPr id="6" name="Rectangle 5">
            <a:extLst>
              <a:ext uri="{FF2B5EF4-FFF2-40B4-BE49-F238E27FC236}">
                <a16:creationId xmlns:a16="http://schemas.microsoft.com/office/drawing/2014/main" id="{81CCECE4-74FF-EB3E-4C3C-F8B86B511AE4}"/>
              </a:ext>
            </a:extLst>
          </p:cNvPr>
          <p:cNvSpPr/>
          <p:nvPr/>
        </p:nvSpPr>
        <p:spPr>
          <a:xfrm>
            <a:off x="8222739" y="3422886"/>
            <a:ext cx="3837935" cy="31868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solidFill>
                <a:srgbClr val="000000"/>
              </a:solidFill>
              <a:latin typeface="Calibri"/>
              <a:ea typeface="Calibri"/>
              <a:cs typeface="Calibri"/>
            </a:endParaRPr>
          </a:p>
        </p:txBody>
      </p:sp>
      <p:sp>
        <p:nvSpPr>
          <p:cNvPr id="7" name="TextBox 6">
            <a:extLst>
              <a:ext uri="{FF2B5EF4-FFF2-40B4-BE49-F238E27FC236}">
                <a16:creationId xmlns:a16="http://schemas.microsoft.com/office/drawing/2014/main" id="{2259F166-58ED-7C4F-89B6-80A4EBCED20A}"/>
              </a:ext>
            </a:extLst>
          </p:cNvPr>
          <p:cNvSpPr txBox="1"/>
          <p:nvPr/>
        </p:nvSpPr>
        <p:spPr>
          <a:xfrm>
            <a:off x="208766" y="3451019"/>
            <a:ext cx="379886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u="sng">
                <a:latin typeface="Calibri"/>
                <a:ea typeface="Calibri"/>
                <a:cs typeface="Calibri"/>
              </a:rPr>
              <a:t>Drag Items:</a:t>
            </a:r>
            <a:endParaRPr lang="en-US" sz="2800" b="1" u="sng" dirty="0">
              <a:latin typeface="Calibri"/>
              <a:ea typeface="Calibri"/>
              <a:cs typeface="Calibri"/>
            </a:endParaRPr>
          </a:p>
        </p:txBody>
      </p:sp>
      <p:sp>
        <p:nvSpPr>
          <p:cNvPr id="8" name="TextBox 7">
            <a:extLst>
              <a:ext uri="{FF2B5EF4-FFF2-40B4-BE49-F238E27FC236}">
                <a16:creationId xmlns:a16="http://schemas.microsoft.com/office/drawing/2014/main" id="{62929CAD-5468-98C1-D9F8-3D7A635F33E8}"/>
              </a:ext>
            </a:extLst>
          </p:cNvPr>
          <p:cNvSpPr txBox="1"/>
          <p:nvPr/>
        </p:nvSpPr>
        <p:spPr>
          <a:xfrm>
            <a:off x="5196014" y="3448037"/>
            <a:ext cx="2797479"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u="sng" dirty="0">
                <a:solidFill>
                  <a:schemeClr val="bg1"/>
                </a:solidFill>
                <a:latin typeface="Calibri"/>
                <a:ea typeface="Calibri"/>
                <a:cs typeface="Calibri"/>
              </a:rPr>
              <a:t>AI </a:t>
            </a:r>
            <a:r>
              <a:rPr lang="en-US" sz="2800" b="1" u="sng">
                <a:solidFill>
                  <a:schemeClr val="bg1"/>
                </a:solidFill>
                <a:latin typeface="Calibri"/>
                <a:ea typeface="Calibri"/>
                <a:cs typeface="Calibri"/>
              </a:rPr>
              <a:t>Support</a:t>
            </a:r>
          </a:p>
          <a:p>
            <a:endParaRPr lang="en-US" dirty="0">
              <a:latin typeface="Calibri"/>
              <a:ea typeface="Calibri"/>
              <a:cs typeface="Calibri"/>
            </a:endParaRPr>
          </a:p>
        </p:txBody>
      </p:sp>
      <p:sp>
        <p:nvSpPr>
          <p:cNvPr id="9" name="TextBox 8">
            <a:extLst>
              <a:ext uri="{FF2B5EF4-FFF2-40B4-BE49-F238E27FC236}">
                <a16:creationId xmlns:a16="http://schemas.microsoft.com/office/drawing/2014/main" id="{C0094939-E0BC-CF6B-0197-73506CE0F99F}"/>
              </a:ext>
            </a:extLst>
          </p:cNvPr>
          <p:cNvSpPr txBox="1"/>
          <p:nvPr/>
        </p:nvSpPr>
        <p:spPr>
          <a:xfrm>
            <a:off x="8185858" y="3449230"/>
            <a:ext cx="387869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u="sng">
                <a:solidFill>
                  <a:schemeClr val="bg1"/>
                </a:solidFill>
                <a:latin typeface="Calibri"/>
                <a:ea typeface="Calibri"/>
                <a:cs typeface="Calibri"/>
              </a:rPr>
              <a:t>Teacher Responsibility</a:t>
            </a:r>
          </a:p>
        </p:txBody>
      </p:sp>
      <p:sp>
        <p:nvSpPr>
          <p:cNvPr id="10" name="TextBox 9">
            <a:extLst>
              <a:ext uri="{FF2B5EF4-FFF2-40B4-BE49-F238E27FC236}">
                <a16:creationId xmlns:a16="http://schemas.microsoft.com/office/drawing/2014/main" id="{F91A3DBB-305B-9D1B-3824-898B50FD8BDB}"/>
              </a:ext>
            </a:extLst>
          </p:cNvPr>
          <p:cNvSpPr txBox="1"/>
          <p:nvPr/>
        </p:nvSpPr>
        <p:spPr>
          <a:xfrm>
            <a:off x="4563152" y="4243341"/>
            <a:ext cx="3068876"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a:solidFill>
                  <a:schemeClr val="bg1"/>
                </a:solidFill>
                <a:latin typeface="Calibri"/>
                <a:ea typeface="Calibri"/>
                <a:cs typeface="Calibri"/>
              </a:rPr>
              <a:t>Generate lesson ideas</a:t>
            </a:r>
            <a:endParaRPr lang="en-US" sz="2200" dirty="0">
              <a:solidFill>
                <a:schemeClr val="bg1"/>
              </a:solidFill>
              <a:latin typeface="Calibri"/>
              <a:ea typeface="Calibri"/>
              <a:cs typeface="Calibri"/>
            </a:endParaRPr>
          </a:p>
        </p:txBody>
      </p:sp>
      <p:sp>
        <p:nvSpPr>
          <p:cNvPr id="12" name="TextBox 11">
            <a:extLst>
              <a:ext uri="{FF2B5EF4-FFF2-40B4-BE49-F238E27FC236}">
                <a16:creationId xmlns:a16="http://schemas.microsoft.com/office/drawing/2014/main" id="{E77ADAA9-EF81-EBD9-5956-C85D15334E6D}"/>
              </a:ext>
            </a:extLst>
          </p:cNvPr>
          <p:cNvSpPr txBox="1"/>
          <p:nvPr/>
        </p:nvSpPr>
        <p:spPr>
          <a:xfrm>
            <a:off x="351324" y="4744482"/>
            <a:ext cx="3365524"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dirty="0">
                <a:latin typeface="Calibri"/>
                <a:ea typeface="Calibri"/>
                <a:cs typeface="Calibri"/>
              </a:rPr>
              <a:t>Create practice </a:t>
            </a:r>
            <a:r>
              <a:rPr lang="en-US" sz="2200">
                <a:latin typeface="Calibri"/>
                <a:ea typeface="Calibri"/>
                <a:cs typeface="Calibri"/>
              </a:rPr>
              <a:t>questions</a:t>
            </a:r>
            <a:endParaRPr lang="en-US" sz="2200" dirty="0">
              <a:latin typeface="Calibri"/>
              <a:ea typeface="Calibri"/>
              <a:cs typeface="Calibri"/>
            </a:endParaRPr>
          </a:p>
          <a:p>
            <a:endParaRPr lang="en-US" sz="2200" dirty="0">
              <a:latin typeface="Calibri"/>
              <a:ea typeface="Calibri"/>
              <a:cs typeface="Calibri"/>
            </a:endParaRPr>
          </a:p>
          <a:p>
            <a:endParaRPr lang="en-US" sz="2200" dirty="0">
              <a:latin typeface="Calibri"/>
              <a:ea typeface="Calibri"/>
              <a:cs typeface="Calibri"/>
            </a:endParaRPr>
          </a:p>
        </p:txBody>
      </p:sp>
      <p:sp>
        <p:nvSpPr>
          <p:cNvPr id="13" name="TextBox 12">
            <a:extLst>
              <a:ext uri="{FF2B5EF4-FFF2-40B4-BE49-F238E27FC236}">
                <a16:creationId xmlns:a16="http://schemas.microsoft.com/office/drawing/2014/main" id="{EB6B8676-1A3E-4333-E9AE-3BBA38BB3446}"/>
              </a:ext>
            </a:extLst>
          </p:cNvPr>
          <p:cNvSpPr txBox="1"/>
          <p:nvPr/>
        </p:nvSpPr>
        <p:spPr>
          <a:xfrm>
            <a:off x="332337" y="5501411"/>
            <a:ext cx="3068876"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a:latin typeface="Calibri"/>
                <a:ea typeface="Calibri"/>
                <a:cs typeface="Calibri"/>
              </a:rPr>
              <a:t>Check accuracy</a:t>
            </a:r>
            <a:endParaRPr lang="en-US" sz="2200" dirty="0">
              <a:latin typeface="Calibri"/>
              <a:ea typeface="Calibri"/>
              <a:cs typeface="Calibri"/>
            </a:endParaRPr>
          </a:p>
          <a:p>
            <a:endParaRPr lang="en-US" sz="2200" dirty="0">
              <a:latin typeface="Calibri"/>
              <a:ea typeface="Calibri"/>
              <a:cs typeface="Calibri"/>
            </a:endParaRPr>
          </a:p>
          <a:p>
            <a:endParaRPr lang="en-US" sz="2200" dirty="0">
              <a:latin typeface="Calibri"/>
              <a:ea typeface="Calibri"/>
              <a:cs typeface="Calibri"/>
            </a:endParaRPr>
          </a:p>
        </p:txBody>
      </p:sp>
      <p:sp>
        <p:nvSpPr>
          <p:cNvPr id="14" name="TextBox 13">
            <a:extLst>
              <a:ext uri="{FF2B5EF4-FFF2-40B4-BE49-F238E27FC236}">
                <a16:creationId xmlns:a16="http://schemas.microsoft.com/office/drawing/2014/main" id="{2EDCA7C6-7BBE-2793-2B34-18808A6C1EB0}"/>
              </a:ext>
            </a:extLst>
          </p:cNvPr>
          <p:cNvSpPr txBox="1"/>
          <p:nvPr/>
        </p:nvSpPr>
        <p:spPr>
          <a:xfrm>
            <a:off x="329653" y="6186765"/>
            <a:ext cx="3716253"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a:latin typeface="Calibri"/>
                <a:ea typeface="Calibri"/>
                <a:cs typeface="Calibri"/>
              </a:rPr>
              <a:t>Build relationships</a:t>
            </a:r>
            <a:endParaRPr lang="en-US" sz="2200" dirty="0">
              <a:latin typeface="Calibri"/>
              <a:ea typeface="Calibri"/>
              <a:cs typeface="Calibri"/>
            </a:endParaRPr>
          </a:p>
        </p:txBody>
      </p:sp>
      <p:sp>
        <p:nvSpPr>
          <p:cNvPr id="15" name="TextBox 14">
            <a:extLst>
              <a:ext uri="{FF2B5EF4-FFF2-40B4-BE49-F238E27FC236}">
                <a16:creationId xmlns:a16="http://schemas.microsoft.com/office/drawing/2014/main" id="{7C37654A-8844-B063-C23A-1400F69BAC88}"/>
              </a:ext>
            </a:extLst>
          </p:cNvPr>
          <p:cNvSpPr txBox="1"/>
          <p:nvPr/>
        </p:nvSpPr>
        <p:spPr>
          <a:xfrm>
            <a:off x="390294" y="4032883"/>
            <a:ext cx="3068876"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a:latin typeface="Calibri"/>
                <a:ea typeface="Calibri"/>
                <a:cs typeface="Calibri"/>
              </a:rPr>
              <a:t>Generate lesson ideas</a:t>
            </a:r>
          </a:p>
        </p:txBody>
      </p:sp>
      <p:sp>
        <p:nvSpPr>
          <p:cNvPr id="16" name="TextBox 15">
            <a:extLst>
              <a:ext uri="{FF2B5EF4-FFF2-40B4-BE49-F238E27FC236}">
                <a16:creationId xmlns:a16="http://schemas.microsoft.com/office/drawing/2014/main" id="{67EC75C2-0F8D-3B55-6A6B-9D38C48E0CB8}"/>
              </a:ext>
            </a:extLst>
          </p:cNvPr>
          <p:cNvSpPr txBox="1"/>
          <p:nvPr/>
        </p:nvSpPr>
        <p:spPr>
          <a:xfrm>
            <a:off x="8563429" y="4328886"/>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chemeClr val="bg1"/>
                </a:solidFill>
                <a:latin typeface="Calibri"/>
                <a:ea typeface="Calibri"/>
                <a:cs typeface="Calibri"/>
              </a:rPr>
              <a:t>Check accuracy</a:t>
            </a:r>
            <a:endParaRPr lang="en-US" sz="2000" b="1" dirty="0">
              <a:solidFill>
                <a:schemeClr val="bg1"/>
              </a:solidFill>
              <a:latin typeface="Calibri"/>
              <a:ea typeface="Calibri"/>
              <a:cs typeface="Calibri"/>
            </a:endParaRPr>
          </a:p>
          <a:p>
            <a:pPr algn="ctr"/>
            <a:endParaRPr lang="en-US">
              <a:latin typeface="Calibri"/>
              <a:ea typeface="Calibri"/>
              <a:cs typeface="Calibri"/>
            </a:endParaRPr>
          </a:p>
        </p:txBody>
      </p:sp>
      <p:sp>
        <p:nvSpPr>
          <p:cNvPr id="17" name="TextBox 16">
            <a:extLst>
              <a:ext uri="{FF2B5EF4-FFF2-40B4-BE49-F238E27FC236}">
                <a16:creationId xmlns:a16="http://schemas.microsoft.com/office/drawing/2014/main" id="{8D3BBA18-FF82-EDB8-2E90-7892A1BD41C8}"/>
              </a:ext>
            </a:extLst>
          </p:cNvPr>
          <p:cNvSpPr txBox="1"/>
          <p:nvPr/>
        </p:nvSpPr>
        <p:spPr>
          <a:xfrm>
            <a:off x="8563429" y="5011057"/>
            <a:ext cx="609600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dirty="0">
                <a:solidFill>
                  <a:schemeClr val="bg1"/>
                </a:solidFill>
                <a:latin typeface="Calibri"/>
                <a:ea typeface="Calibri"/>
                <a:cs typeface="Calibri"/>
              </a:rPr>
              <a:t>Build </a:t>
            </a:r>
            <a:r>
              <a:rPr lang="en-US" sz="2200">
                <a:solidFill>
                  <a:schemeClr val="bg1"/>
                </a:solidFill>
                <a:latin typeface="Calibri"/>
                <a:ea typeface="Calibri"/>
                <a:cs typeface="Calibri"/>
              </a:rPr>
              <a:t>relationships</a:t>
            </a:r>
            <a:endParaRPr lang="en-US" sz="2200" dirty="0">
              <a:solidFill>
                <a:schemeClr val="bg1"/>
              </a:solidFill>
              <a:latin typeface="Calibri"/>
              <a:ea typeface="Calibri"/>
              <a:cs typeface="Calibri"/>
            </a:endParaRPr>
          </a:p>
          <a:p>
            <a:pPr algn="ctr"/>
            <a:endParaRPr lang="en-US">
              <a:latin typeface="Calibri"/>
              <a:ea typeface="Calibri"/>
              <a:cs typeface="Calibri"/>
            </a:endParaRPr>
          </a:p>
        </p:txBody>
      </p:sp>
      <p:sp>
        <p:nvSpPr>
          <p:cNvPr id="18" name="TextBox 17">
            <a:extLst>
              <a:ext uri="{FF2B5EF4-FFF2-40B4-BE49-F238E27FC236}">
                <a16:creationId xmlns:a16="http://schemas.microsoft.com/office/drawing/2014/main" id="{0D483525-9FF4-F5A7-0634-365F69E2DC34}"/>
              </a:ext>
            </a:extLst>
          </p:cNvPr>
          <p:cNvSpPr txBox="1"/>
          <p:nvPr/>
        </p:nvSpPr>
        <p:spPr>
          <a:xfrm>
            <a:off x="4339771" y="5018315"/>
            <a:ext cx="609600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dirty="0">
                <a:solidFill>
                  <a:schemeClr val="bg1"/>
                </a:solidFill>
                <a:latin typeface="Calibri"/>
                <a:ea typeface="Calibri"/>
                <a:cs typeface="Calibri"/>
              </a:rPr>
              <a:t>Create practice </a:t>
            </a:r>
            <a:r>
              <a:rPr lang="en-US" sz="2200">
                <a:solidFill>
                  <a:schemeClr val="bg1"/>
                </a:solidFill>
                <a:latin typeface="Calibri"/>
                <a:ea typeface="Calibri"/>
                <a:cs typeface="Calibri"/>
              </a:rPr>
              <a:t>questions</a:t>
            </a:r>
            <a:endParaRPr lang="en-US" sz="2200" dirty="0">
              <a:solidFill>
                <a:schemeClr val="bg1"/>
              </a:solidFill>
              <a:latin typeface="Calibri"/>
              <a:ea typeface="Calibri"/>
              <a:cs typeface="Calibri"/>
            </a:endParaRPr>
          </a:p>
          <a:p>
            <a:pPr algn="ctr"/>
            <a:endParaRPr lang="en-US">
              <a:latin typeface="Calibri"/>
              <a:ea typeface="Calibri"/>
              <a:cs typeface="Calibri"/>
            </a:endParaRPr>
          </a:p>
        </p:txBody>
      </p:sp>
    </p:spTree>
    <p:extLst>
      <p:ext uri="{BB962C8B-B14F-4D97-AF65-F5344CB8AC3E}">
        <p14:creationId xmlns:p14="http://schemas.microsoft.com/office/powerpoint/2010/main" val="5547307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CC887-7D50-D862-4761-EA86927C85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C44B8E-526D-F9A6-9DF8-136EF068D8C2}"/>
              </a:ext>
            </a:extLst>
          </p:cNvPr>
          <p:cNvSpPr>
            <a:spLocks noGrp="1"/>
          </p:cNvSpPr>
          <p:nvPr>
            <p:ph type="title"/>
          </p:nvPr>
        </p:nvSpPr>
        <p:spPr>
          <a:xfrm>
            <a:off x="437712" y="-1141193"/>
            <a:ext cx="10515600" cy="2852737"/>
          </a:xfrm>
        </p:spPr>
        <p:txBody>
          <a:bodyPr/>
          <a:lstStyle/>
          <a:p>
            <a:r>
              <a:rPr lang="en-US">
                <a:latin typeface="Calibri"/>
                <a:ea typeface="Calibri"/>
                <a:cs typeface="Calibri"/>
              </a:rPr>
              <a:t>Balance</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7E4E285C-42B2-5122-5E6D-61C331A074B2}"/>
              </a:ext>
            </a:extLst>
          </p:cNvPr>
          <p:cNvSpPr>
            <a:spLocks noGrp="1"/>
          </p:cNvSpPr>
          <p:nvPr>
            <p:ph type="body" idx="1"/>
          </p:nvPr>
        </p:nvSpPr>
        <p:spPr>
          <a:xfrm>
            <a:off x="365453" y="1929032"/>
            <a:ext cx="10515600" cy="1500187"/>
          </a:xfrm>
        </p:spPr>
        <p:txBody>
          <a:bodyPr vert="horz" lIns="91440" tIns="45720" rIns="91440" bIns="45720" rtlCol="0" anchor="t">
            <a:normAutofit/>
          </a:bodyPr>
          <a:lstStyle/>
          <a:p>
            <a:r>
              <a:rPr lang="en-US" sz="2800">
                <a:solidFill>
                  <a:schemeClr val="tx1"/>
                </a:solidFill>
                <a:latin typeface="Calibri"/>
                <a:ea typeface="Calibri"/>
                <a:cs typeface="Calibri"/>
              </a:rPr>
              <a:t>AI and teachers work together. </a:t>
            </a:r>
            <a:endParaRPr lang="en-US" sz="2800" dirty="0">
              <a:solidFill>
                <a:schemeClr val="tx1"/>
              </a:solidFill>
              <a:latin typeface="Calibri"/>
              <a:ea typeface="Calibri"/>
              <a:cs typeface="Calibri"/>
            </a:endParaRPr>
          </a:p>
          <a:p>
            <a:r>
              <a:rPr lang="en-US" sz="2800">
                <a:solidFill>
                  <a:schemeClr val="tx1"/>
                </a:solidFill>
                <a:latin typeface="Calibri"/>
                <a:ea typeface="Calibri"/>
                <a:cs typeface="Calibri"/>
              </a:rPr>
              <a:t>Each has an important role. </a:t>
            </a:r>
            <a:endParaRPr lang="en-US" sz="2800" dirty="0">
              <a:solidFill>
                <a:schemeClr val="tx1"/>
              </a:solidFill>
              <a:latin typeface="Calibri"/>
              <a:ea typeface="Calibri"/>
              <a:cs typeface="Calibri"/>
            </a:endParaRPr>
          </a:p>
        </p:txBody>
      </p:sp>
      <p:pic>
        <p:nvPicPr>
          <p:cNvPr id="4" name="Picture 3">
            <a:extLst>
              <a:ext uri="{FF2B5EF4-FFF2-40B4-BE49-F238E27FC236}">
                <a16:creationId xmlns:a16="http://schemas.microsoft.com/office/drawing/2014/main" id="{858A2558-3D2B-85AD-939A-F1E33659FDB4}"/>
              </a:ext>
            </a:extLst>
          </p:cNvPr>
          <p:cNvPicPr>
            <a:picLocks noChangeAspect="1"/>
          </p:cNvPicPr>
          <p:nvPr/>
        </p:nvPicPr>
        <p:blipFill>
          <a:blip r:embed="rId3"/>
          <a:stretch>
            <a:fillRect/>
          </a:stretch>
        </p:blipFill>
        <p:spPr>
          <a:xfrm>
            <a:off x="5626553" y="547914"/>
            <a:ext cx="6076950" cy="4572000"/>
          </a:xfrm>
          <a:prstGeom prst="rect">
            <a:avLst/>
          </a:prstGeom>
        </p:spPr>
      </p:pic>
    </p:spTree>
    <p:extLst>
      <p:ext uri="{BB962C8B-B14F-4D97-AF65-F5344CB8AC3E}">
        <p14:creationId xmlns:p14="http://schemas.microsoft.com/office/powerpoint/2010/main" val="27944231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2BBE5-413B-DB5A-0F9D-8EDC4802AA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EA7857-9C54-7A24-C94D-BEB816B3979F}"/>
              </a:ext>
            </a:extLst>
          </p:cNvPr>
          <p:cNvSpPr>
            <a:spLocks noGrp="1"/>
          </p:cNvSpPr>
          <p:nvPr>
            <p:ph type="title"/>
          </p:nvPr>
        </p:nvSpPr>
        <p:spPr>
          <a:xfrm>
            <a:off x="437712" y="-1141193"/>
            <a:ext cx="10515600" cy="2852737"/>
          </a:xfrm>
        </p:spPr>
        <p:txBody>
          <a:bodyPr/>
          <a:lstStyle/>
          <a:p>
            <a:r>
              <a:rPr lang="en-US">
                <a:latin typeface="Calibri"/>
                <a:ea typeface="Calibri"/>
                <a:cs typeface="Calibri"/>
              </a:rPr>
              <a:t>Apply</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F8BB2258-8F3F-12A7-1508-49CB243CDF3C}"/>
              </a:ext>
            </a:extLst>
          </p:cNvPr>
          <p:cNvSpPr>
            <a:spLocks noGrp="1"/>
          </p:cNvSpPr>
          <p:nvPr>
            <p:ph type="body" idx="1"/>
          </p:nvPr>
        </p:nvSpPr>
        <p:spPr>
          <a:xfrm>
            <a:off x="365453" y="1929032"/>
            <a:ext cx="10515600" cy="1500187"/>
          </a:xfrm>
        </p:spPr>
        <p:txBody>
          <a:bodyPr vert="horz" lIns="91440" tIns="45720" rIns="91440" bIns="45720" rtlCol="0" anchor="t">
            <a:normAutofit/>
          </a:bodyPr>
          <a:lstStyle/>
          <a:p>
            <a:r>
              <a:rPr lang="en-US" sz="2800">
                <a:solidFill>
                  <a:schemeClr val="tx1"/>
                </a:solidFill>
                <a:latin typeface="Calibri"/>
                <a:ea typeface="Calibri"/>
                <a:cs typeface="Calibri"/>
              </a:rPr>
              <a:t>AI can become part of responsible teaching.</a:t>
            </a:r>
            <a:endParaRPr lang="en-US">
              <a:solidFill>
                <a:schemeClr val="tx1"/>
              </a:solidFill>
              <a:latin typeface="Calibri"/>
              <a:ea typeface="Calibri"/>
              <a:cs typeface="Calibri"/>
            </a:endParaRPr>
          </a:p>
          <a:p>
            <a:r>
              <a:rPr lang="en-US" sz="2800">
                <a:solidFill>
                  <a:schemeClr val="tx1"/>
                </a:solidFill>
                <a:latin typeface="Calibri"/>
                <a:ea typeface="Calibri"/>
                <a:cs typeface="Calibri"/>
              </a:rPr>
              <a:t>Educators make the final decisions. </a:t>
            </a:r>
            <a:endParaRPr lang="en-US" sz="2800" dirty="0">
              <a:solidFill>
                <a:schemeClr val="tx1"/>
              </a:solidFill>
              <a:latin typeface="Calibri"/>
              <a:ea typeface="Calibri"/>
              <a:cs typeface="Calibri"/>
            </a:endParaRPr>
          </a:p>
        </p:txBody>
      </p:sp>
      <p:pic>
        <p:nvPicPr>
          <p:cNvPr id="5" name="Picture 4">
            <a:extLst>
              <a:ext uri="{FF2B5EF4-FFF2-40B4-BE49-F238E27FC236}">
                <a16:creationId xmlns:a16="http://schemas.microsoft.com/office/drawing/2014/main" id="{7CA60093-065B-55F1-60C1-080C954587F5}"/>
              </a:ext>
            </a:extLst>
          </p:cNvPr>
          <p:cNvPicPr>
            <a:picLocks noChangeAspect="1"/>
          </p:cNvPicPr>
          <p:nvPr/>
        </p:nvPicPr>
        <p:blipFill>
          <a:blip r:embed="rId3"/>
          <a:stretch>
            <a:fillRect/>
          </a:stretch>
        </p:blipFill>
        <p:spPr>
          <a:xfrm>
            <a:off x="6535283" y="2464480"/>
            <a:ext cx="5348059" cy="4338409"/>
          </a:xfrm>
          <a:prstGeom prst="rect">
            <a:avLst/>
          </a:prstGeom>
        </p:spPr>
      </p:pic>
    </p:spTree>
    <p:extLst>
      <p:ext uri="{BB962C8B-B14F-4D97-AF65-F5344CB8AC3E}">
        <p14:creationId xmlns:p14="http://schemas.microsoft.com/office/powerpoint/2010/main" val="22163079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B4CFB6E-F390-6D48-59B8-2270876BAA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0A71D5-34F6-D974-78FB-91F3CF3AC139}"/>
              </a:ext>
            </a:extLst>
          </p:cNvPr>
          <p:cNvSpPr>
            <a:spLocks noGrp="1"/>
          </p:cNvSpPr>
          <p:nvPr>
            <p:ph type="title"/>
          </p:nvPr>
        </p:nvSpPr>
        <p:spPr>
          <a:xfrm>
            <a:off x="3050282" y="1057721"/>
            <a:ext cx="10515600" cy="2852737"/>
          </a:xfrm>
        </p:spPr>
        <p:txBody>
          <a:bodyPr/>
          <a:lstStyle/>
          <a:p>
            <a:r>
              <a:rPr lang="en-US">
                <a:solidFill>
                  <a:schemeClr val="bg1"/>
                </a:solidFill>
                <a:latin typeface="Calibri"/>
                <a:ea typeface="Calibri"/>
                <a:cs typeface="Calibri"/>
              </a:rPr>
              <a:t>Resolution Phase</a:t>
            </a:r>
            <a:r>
              <a:rPr lang="en-US" dirty="0">
                <a:solidFill>
                  <a:schemeClr val="bg1"/>
                </a:solidFill>
                <a:latin typeface="Calibri"/>
                <a:ea typeface="Calibri"/>
                <a:cs typeface="Calibri"/>
              </a:rPr>
              <a:t> </a:t>
            </a:r>
          </a:p>
        </p:txBody>
      </p:sp>
      <p:sp>
        <p:nvSpPr>
          <p:cNvPr id="3" name="Content Placeholder 2">
            <a:extLst>
              <a:ext uri="{FF2B5EF4-FFF2-40B4-BE49-F238E27FC236}">
                <a16:creationId xmlns:a16="http://schemas.microsoft.com/office/drawing/2014/main" id="{4055F6AB-D8B7-7E56-298C-237C25E83365}"/>
              </a:ext>
            </a:extLst>
          </p:cNvPr>
          <p:cNvSpPr>
            <a:spLocks noGrp="1"/>
          </p:cNvSpPr>
          <p:nvPr>
            <p:ph type="body" idx="1"/>
          </p:nvPr>
        </p:nvSpPr>
        <p:spPr>
          <a:xfrm>
            <a:off x="365453" y="1929032"/>
            <a:ext cx="10515600" cy="1500187"/>
          </a:xfrm>
        </p:spPr>
        <p:txBody>
          <a:bodyPr vert="horz" lIns="91440" tIns="45720" rIns="91440" bIns="45720" rtlCol="0" anchor="t">
            <a:normAutofit/>
          </a:bodyPr>
          <a:lstStyle/>
          <a:p>
            <a:r>
              <a:rPr lang="en-US" sz="2800">
                <a:solidFill>
                  <a:schemeClr val="tx1"/>
                </a:solidFill>
              </a:rPr>
              <a:t>T</a:t>
            </a:r>
            <a:endParaRPr lang="en-US" sz="2800" dirty="0">
              <a:solidFill>
                <a:schemeClr val="tx1"/>
              </a:solidFill>
            </a:endParaRPr>
          </a:p>
        </p:txBody>
      </p:sp>
    </p:spTree>
    <p:extLst>
      <p:ext uri="{BB962C8B-B14F-4D97-AF65-F5344CB8AC3E}">
        <p14:creationId xmlns:p14="http://schemas.microsoft.com/office/powerpoint/2010/main" val="28980325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58CEB-7E92-A858-C072-D001DE4CA2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72C19B-8EF9-1A93-6425-B76174249D46}"/>
              </a:ext>
            </a:extLst>
          </p:cNvPr>
          <p:cNvSpPr>
            <a:spLocks noGrp="1"/>
          </p:cNvSpPr>
          <p:nvPr>
            <p:ph type="title"/>
          </p:nvPr>
        </p:nvSpPr>
        <p:spPr>
          <a:xfrm>
            <a:off x="437712" y="-1141193"/>
            <a:ext cx="10515600" cy="2852737"/>
          </a:xfrm>
        </p:spPr>
        <p:txBody>
          <a:bodyPr/>
          <a:lstStyle/>
          <a:p>
            <a:r>
              <a:rPr lang="en-US">
                <a:latin typeface="Calibri"/>
                <a:ea typeface="Calibri"/>
                <a:cs typeface="Calibri"/>
              </a:rPr>
              <a:t>Certificate</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006D9592-AFBB-B411-0CB1-3240D231D277}"/>
              </a:ext>
            </a:extLst>
          </p:cNvPr>
          <p:cNvSpPr>
            <a:spLocks noGrp="1"/>
          </p:cNvSpPr>
          <p:nvPr>
            <p:ph type="body" idx="1"/>
          </p:nvPr>
        </p:nvSpPr>
        <p:spPr>
          <a:xfrm>
            <a:off x="365453" y="1929032"/>
            <a:ext cx="10515600" cy="1500187"/>
          </a:xfrm>
        </p:spPr>
        <p:txBody>
          <a:bodyPr vert="horz" lIns="91440" tIns="45720" rIns="91440" bIns="45720" rtlCol="0" anchor="t">
            <a:normAutofit/>
          </a:bodyPr>
          <a:lstStyle/>
          <a:p>
            <a:r>
              <a:rPr lang="en-US" sz="2800">
                <a:solidFill>
                  <a:schemeClr val="tx1"/>
                </a:solidFill>
                <a:latin typeface="Calibri"/>
                <a:ea typeface="Calibri"/>
                <a:cs typeface="Calibri"/>
              </a:rPr>
              <a:t>Directions:</a:t>
            </a:r>
          </a:p>
          <a:p>
            <a:r>
              <a:rPr lang="en-US" sz="2800">
                <a:solidFill>
                  <a:schemeClr val="tx1"/>
                </a:solidFill>
                <a:latin typeface="Calibri"/>
                <a:ea typeface="Calibri"/>
                <a:cs typeface="Calibri"/>
              </a:rPr>
              <a:t>Enter your name before beginning the final quiz</a:t>
            </a:r>
            <a:endParaRPr lang="en-US" sz="2800" dirty="0">
              <a:solidFill>
                <a:schemeClr val="tx1"/>
              </a:solidFill>
              <a:latin typeface="Calibri"/>
              <a:ea typeface="Calibri"/>
              <a:cs typeface="Calibri"/>
            </a:endParaRPr>
          </a:p>
        </p:txBody>
      </p:sp>
      <p:sp>
        <p:nvSpPr>
          <p:cNvPr id="6" name="TextBox 5">
            <a:extLst>
              <a:ext uri="{FF2B5EF4-FFF2-40B4-BE49-F238E27FC236}">
                <a16:creationId xmlns:a16="http://schemas.microsoft.com/office/drawing/2014/main" id="{3BBCA3C1-96FE-CA83-5FA9-10C55796F966}"/>
              </a:ext>
            </a:extLst>
          </p:cNvPr>
          <p:cNvSpPr txBox="1"/>
          <p:nvPr/>
        </p:nvSpPr>
        <p:spPr>
          <a:xfrm>
            <a:off x="362857" y="3432628"/>
            <a:ext cx="9731827"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Calibri"/>
                <a:ea typeface="Calibri"/>
                <a:cs typeface="Calibri"/>
              </a:rPr>
              <a:t>Answer in text box: </a:t>
            </a:r>
            <a:endParaRPr lang="en-US" sz="2400" dirty="0">
              <a:latin typeface="Calibri"/>
              <a:ea typeface="Calibri"/>
              <a:cs typeface="Calibri"/>
            </a:endParaRPr>
          </a:p>
          <a:p>
            <a:endParaRPr lang="en-US" sz="2400" dirty="0">
              <a:latin typeface="Calibri"/>
              <a:ea typeface="Calibri"/>
              <a:cs typeface="Calibri"/>
            </a:endParaRPr>
          </a:p>
          <a:p>
            <a:endParaRPr lang="en-US" dirty="0">
              <a:latin typeface="Calibri"/>
              <a:ea typeface="Calibri"/>
              <a:cs typeface="Calibri"/>
            </a:endParaRPr>
          </a:p>
          <a:p>
            <a:endParaRPr lang="en-US" dirty="0">
              <a:latin typeface="Calibri"/>
              <a:ea typeface="Calibri"/>
              <a:cs typeface="Calibri"/>
            </a:endParaRPr>
          </a:p>
          <a:p>
            <a:endParaRPr lang="en-US" dirty="0">
              <a:latin typeface="Calibri"/>
              <a:ea typeface="Calibri"/>
              <a:cs typeface="Calibri"/>
            </a:endParaRPr>
          </a:p>
          <a:p>
            <a:endParaRPr lang="en-US" dirty="0">
              <a:latin typeface="Calibri"/>
              <a:ea typeface="Calibri"/>
              <a:cs typeface="Calibri"/>
            </a:endParaRPr>
          </a:p>
          <a:p>
            <a:endParaRPr lang="en-US" dirty="0">
              <a:latin typeface="Calibri"/>
              <a:ea typeface="Calibri"/>
              <a:cs typeface="Calibri"/>
            </a:endParaRPr>
          </a:p>
          <a:p>
            <a:endParaRPr lang="en-US" dirty="0">
              <a:latin typeface="Calibri"/>
              <a:ea typeface="Calibri"/>
              <a:cs typeface="Calibri"/>
            </a:endParaRPr>
          </a:p>
          <a:p>
            <a:endParaRPr lang="en-US" dirty="0">
              <a:latin typeface="Calibri"/>
              <a:ea typeface="Calibri"/>
              <a:cs typeface="Calibri"/>
            </a:endParaRPr>
          </a:p>
          <a:p>
            <a:endParaRPr lang="en-US" dirty="0">
              <a:latin typeface="Calibri"/>
              <a:ea typeface="Calibri"/>
              <a:cs typeface="Calibri"/>
            </a:endParaRPr>
          </a:p>
        </p:txBody>
      </p:sp>
      <p:sp>
        <p:nvSpPr>
          <p:cNvPr id="8" name="Rectangle 7">
            <a:extLst>
              <a:ext uri="{FF2B5EF4-FFF2-40B4-BE49-F238E27FC236}">
                <a16:creationId xmlns:a16="http://schemas.microsoft.com/office/drawing/2014/main" id="{1707DFC9-2395-5EAC-F186-B53601886567}"/>
              </a:ext>
            </a:extLst>
          </p:cNvPr>
          <p:cNvSpPr/>
          <p:nvPr/>
        </p:nvSpPr>
        <p:spPr>
          <a:xfrm>
            <a:off x="362856" y="4056743"/>
            <a:ext cx="8360228" cy="899884"/>
          </a:xfrm>
          <a:prstGeom prst="rect">
            <a:avLst/>
          </a:prstGeom>
          <a:ln/>
        </p:spPr>
        <p:style>
          <a:lnRef idx="2">
            <a:schemeClr val="dk1"/>
          </a:lnRef>
          <a:fillRef idx="1">
            <a:schemeClr val="lt1"/>
          </a:fillRef>
          <a:effectRef idx="0">
            <a:schemeClr val="dk1"/>
          </a:effectRef>
          <a:fontRef idx="minor">
            <a:schemeClr val="dk1"/>
          </a:fontRef>
        </p:style>
        <p:txBody>
          <a:bodyPr lIns="91440" tIns="45720" rIns="91440" bIns="45720" rtlCol="0" anchor="ctr"/>
          <a:lstStyle/>
          <a:p>
            <a:r>
              <a:rPr lang="en-US" sz="2800">
                <a:latin typeface="Calibri"/>
                <a:ea typeface="Calibri"/>
                <a:cs typeface="Calibri"/>
              </a:rPr>
              <a:t>Name: ______________________________</a:t>
            </a:r>
            <a:endParaRPr lang="en-US" sz="2800" dirty="0">
              <a:latin typeface="Calibri"/>
              <a:ea typeface="Calibri"/>
              <a:cs typeface="Calibri"/>
            </a:endParaRPr>
          </a:p>
        </p:txBody>
      </p:sp>
    </p:spTree>
    <p:extLst>
      <p:ext uri="{BB962C8B-B14F-4D97-AF65-F5344CB8AC3E}">
        <p14:creationId xmlns:p14="http://schemas.microsoft.com/office/powerpoint/2010/main" val="4331522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81EB2-98FD-E807-7C38-FBE4F81F36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3199AD-6E6F-D33F-F9E9-A3981DF3F6A8}"/>
              </a:ext>
            </a:extLst>
          </p:cNvPr>
          <p:cNvSpPr>
            <a:spLocks noGrp="1"/>
          </p:cNvSpPr>
          <p:nvPr>
            <p:ph type="title"/>
          </p:nvPr>
        </p:nvSpPr>
        <p:spPr>
          <a:xfrm>
            <a:off x="437712" y="-1141193"/>
            <a:ext cx="10515600" cy="2852737"/>
          </a:xfrm>
        </p:spPr>
        <p:txBody>
          <a:bodyPr/>
          <a:lstStyle/>
          <a:p>
            <a:r>
              <a:rPr lang="en-US">
                <a:latin typeface="Calibri"/>
                <a:ea typeface="Calibri"/>
                <a:cs typeface="Calibri"/>
              </a:rPr>
              <a:t>Final Quiz</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74517523-99EE-72A7-68C4-F1B370A41AD4}"/>
              </a:ext>
            </a:extLst>
          </p:cNvPr>
          <p:cNvSpPr>
            <a:spLocks noGrp="1"/>
          </p:cNvSpPr>
          <p:nvPr>
            <p:ph type="body" idx="1"/>
          </p:nvPr>
        </p:nvSpPr>
        <p:spPr>
          <a:xfrm>
            <a:off x="365453" y="1929032"/>
            <a:ext cx="10515600" cy="1500187"/>
          </a:xfrm>
        </p:spPr>
        <p:txBody>
          <a:bodyPr vert="horz" lIns="91440" tIns="45720" rIns="91440" bIns="45720" rtlCol="0" anchor="t">
            <a:normAutofit/>
          </a:bodyPr>
          <a:lstStyle/>
          <a:p>
            <a:r>
              <a:rPr lang="en-US" sz="2800">
                <a:solidFill>
                  <a:schemeClr val="tx1"/>
                </a:solidFill>
                <a:latin typeface="Calibri"/>
                <a:ea typeface="Calibri"/>
                <a:cs typeface="Calibri"/>
              </a:rPr>
              <a:t>Show what you learned about AI.</a:t>
            </a:r>
            <a:endParaRPr lang="en-US" sz="2800" dirty="0">
              <a:solidFill>
                <a:schemeClr val="tx1"/>
              </a:solidFill>
              <a:latin typeface="Calibri"/>
              <a:ea typeface="Calibri"/>
              <a:cs typeface="Calibri"/>
            </a:endParaRPr>
          </a:p>
          <a:p>
            <a:r>
              <a:rPr lang="en-US" sz="2800">
                <a:solidFill>
                  <a:schemeClr val="tx1"/>
                </a:solidFill>
                <a:latin typeface="Calibri"/>
                <a:ea typeface="Calibri"/>
                <a:cs typeface="Calibri"/>
              </a:rPr>
              <a:t>Complete the final assessment. </a:t>
            </a:r>
            <a:endParaRPr lang="en-US" sz="2800" dirty="0">
              <a:solidFill>
                <a:schemeClr val="tx1"/>
              </a:solidFill>
              <a:latin typeface="Calibri"/>
              <a:ea typeface="Calibri"/>
              <a:cs typeface="Calibri"/>
            </a:endParaRPr>
          </a:p>
        </p:txBody>
      </p:sp>
      <p:sp>
        <p:nvSpPr>
          <p:cNvPr id="4" name="TextBox 3">
            <a:extLst>
              <a:ext uri="{FF2B5EF4-FFF2-40B4-BE49-F238E27FC236}">
                <a16:creationId xmlns:a16="http://schemas.microsoft.com/office/drawing/2014/main" id="{5BAD95D9-4F52-4BE7-B705-2CA3EE74268D}"/>
              </a:ext>
            </a:extLst>
          </p:cNvPr>
          <p:cNvSpPr txBox="1"/>
          <p:nvPr/>
        </p:nvSpPr>
        <p:spPr>
          <a:xfrm>
            <a:off x="420915" y="3421743"/>
            <a:ext cx="8091713" cy="16619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r>
              <a:rPr lang="en-US" sz="2800" b="1" i="0" u="sng" strike="noStrike" baseline="0">
                <a:solidFill>
                  <a:srgbClr val="FF0000"/>
                </a:solidFill>
                <a:latin typeface="Calibri"/>
                <a:ea typeface="Calibri"/>
                <a:cs typeface="Calibri"/>
              </a:rPr>
              <a:t>5 Questions</a:t>
            </a:r>
            <a:r>
              <a:rPr lang="en-US" sz="2800" b="1" i="0" u="sng">
                <a:solidFill>
                  <a:srgbClr val="FF0000"/>
                </a:solidFill>
                <a:latin typeface="Calibri"/>
                <a:ea typeface="Calibri"/>
                <a:cs typeface="Calibri"/>
              </a:rPr>
              <a:t>​</a:t>
            </a:r>
          </a:p>
          <a:p>
            <a:pPr algn="l" rtl="0"/>
            <a:r>
              <a:rPr lang="en-US" sz="2800" b="0" i="0">
                <a:solidFill>
                  <a:srgbClr val="000000"/>
                </a:solidFill>
                <a:latin typeface="Calibri"/>
                <a:ea typeface="Calibri"/>
                <a:cs typeface="Calibri"/>
              </a:rPr>
              <a:t>​</a:t>
            </a:r>
          </a:p>
          <a:p>
            <a:pPr algn="l" rtl="0"/>
            <a:r>
              <a:rPr lang="en-US" sz="2800" b="0" i="0" u="none" strike="noStrike" baseline="0">
                <a:solidFill>
                  <a:srgbClr val="000000"/>
                </a:solidFill>
                <a:latin typeface="Calibri"/>
                <a:ea typeface="Calibri"/>
                <a:cs typeface="Calibri"/>
              </a:rPr>
              <a:t>Passing Score:  </a:t>
            </a:r>
            <a:r>
              <a:rPr lang="en-US" sz="2800" b="0" i="0" u="none" strike="noStrike" baseline="0">
                <a:solidFill>
                  <a:srgbClr val="FF0000"/>
                </a:solidFill>
                <a:latin typeface="Calibri"/>
                <a:ea typeface="Calibri"/>
                <a:cs typeface="Calibri"/>
              </a:rPr>
              <a:t>80%</a:t>
            </a:r>
          </a:p>
          <a:p>
            <a:pPr algn="ctr"/>
            <a:endParaRPr lang="en-US">
              <a:latin typeface="Calibri"/>
              <a:ea typeface="Calibri"/>
              <a:cs typeface="Calibri"/>
            </a:endParaRPr>
          </a:p>
        </p:txBody>
      </p:sp>
    </p:spTree>
    <p:extLst>
      <p:ext uri="{BB962C8B-B14F-4D97-AF65-F5344CB8AC3E}">
        <p14:creationId xmlns:p14="http://schemas.microsoft.com/office/powerpoint/2010/main" val="37348499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D3340-CE7F-3604-9106-BD9E3C6AD1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A93D3E-166F-F340-EA4A-4B916F03FB9E}"/>
              </a:ext>
            </a:extLst>
          </p:cNvPr>
          <p:cNvSpPr>
            <a:spLocks noGrp="1"/>
          </p:cNvSpPr>
          <p:nvPr>
            <p:ph type="title"/>
          </p:nvPr>
        </p:nvSpPr>
        <p:spPr>
          <a:xfrm>
            <a:off x="437712" y="-1141193"/>
            <a:ext cx="10515600" cy="2852737"/>
          </a:xfrm>
        </p:spPr>
        <p:txBody>
          <a:bodyPr/>
          <a:lstStyle/>
          <a:p>
            <a:r>
              <a:rPr lang="en-US">
                <a:latin typeface="Calibri"/>
                <a:ea typeface="Calibri"/>
                <a:cs typeface="Calibri"/>
              </a:rPr>
              <a:t>Question 1 (True/False)</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5074BF82-272A-5462-9FD2-70758F41A247}"/>
              </a:ext>
            </a:extLst>
          </p:cNvPr>
          <p:cNvSpPr>
            <a:spLocks noGrp="1"/>
          </p:cNvSpPr>
          <p:nvPr>
            <p:ph type="body" idx="1"/>
          </p:nvPr>
        </p:nvSpPr>
        <p:spPr>
          <a:xfrm>
            <a:off x="401738" y="1929032"/>
            <a:ext cx="10515600" cy="4569958"/>
          </a:xfrm>
        </p:spPr>
        <p:txBody>
          <a:bodyPr vert="horz" lIns="91440" tIns="45720" rIns="91440" bIns="45720" rtlCol="0" anchor="t">
            <a:normAutofit/>
          </a:bodyPr>
          <a:lstStyle/>
          <a:p>
            <a:r>
              <a:rPr lang="en-US" sz="2800">
                <a:solidFill>
                  <a:schemeClr val="tx1"/>
                </a:solidFill>
                <a:latin typeface="Calibri"/>
                <a:ea typeface="Calibri"/>
                <a:cs typeface="Calibri"/>
              </a:rPr>
              <a:t>Question:</a:t>
            </a:r>
          </a:p>
          <a:p>
            <a:r>
              <a:rPr lang="en-US" sz="2800">
                <a:solidFill>
                  <a:schemeClr val="tx1"/>
                </a:solidFill>
                <a:latin typeface="Calibri"/>
                <a:ea typeface="Calibri"/>
                <a:cs typeface="Calibri"/>
              </a:rPr>
              <a:t>AI is designed to completely replace classroom teachers.</a:t>
            </a:r>
            <a:endParaRPr lang="en-US" sz="2800" dirty="0">
              <a:solidFill>
                <a:schemeClr val="tx1"/>
              </a:solidFill>
              <a:latin typeface="Calibri"/>
              <a:ea typeface="Calibri"/>
              <a:cs typeface="Calibri"/>
            </a:endParaRPr>
          </a:p>
          <a:p>
            <a:endParaRPr lang="en-US" sz="2800" dirty="0">
              <a:solidFill>
                <a:schemeClr val="tx1"/>
              </a:solidFill>
              <a:latin typeface="Calibri"/>
              <a:ea typeface="Calibri"/>
              <a:cs typeface="Calibri"/>
            </a:endParaRPr>
          </a:p>
          <a:p>
            <a:pPr marL="514350" indent="-514350">
              <a:buAutoNum type="alphaUcPeriod"/>
            </a:pPr>
            <a:r>
              <a:rPr lang="en-US" sz="2800">
                <a:solidFill>
                  <a:schemeClr val="tx1"/>
                </a:solidFill>
                <a:latin typeface="Calibri"/>
                <a:ea typeface="Calibri"/>
                <a:cs typeface="Calibri"/>
              </a:rPr>
              <a:t>True </a:t>
            </a:r>
          </a:p>
          <a:p>
            <a:pPr marL="514350" indent="-514350">
              <a:buAutoNum type="alphaUcPeriod"/>
            </a:pPr>
            <a:r>
              <a:rPr lang="en-US" sz="2800">
                <a:solidFill>
                  <a:schemeClr val="tx1"/>
                </a:solidFill>
                <a:latin typeface="Calibri"/>
                <a:ea typeface="Calibri"/>
                <a:cs typeface="Calibri"/>
              </a:rPr>
              <a:t>False ✅</a:t>
            </a:r>
            <a:endParaRPr lang="en-US" sz="2800" dirty="0">
              <a:solidFill>
                <a:schemeClr val="tx1"/>
              </a:solidFill>
              <a:latin typeface="Calibri"/>
              <a:ea typeface="Calibri"/>
              <a:cs typeface="Calibri"/>
            </a:endParaRPr>
          </a:p>
        </p:txBody>
      </p:sp>
    </p:spTree>
    <p:extLst>
      <p:ext uri="{BB962C8B-B14F-4D97-AF65-F5344CB8AC3E}">
        <p14:creationId xmlns:p14="http://schemas.microsoft.com/office/powerpoint/2010/main" val="26496446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CE5F0-0767-153E-21E0-ACB724CBB7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BEE1FB-C7C0-B1D5-EFBB-84EEF9D6D7FB}"/>
              </a:ext>
            </a:extLst>
          </p:cNvPr>
          <p:cNvSpPr>
            <a:spLocks noGrp="1"/>
          </p:cNvSpPr>
          <p:nvPr>
            <p:ph type="title"/>
          </p:nvPr>
        </p:nvSpPr>
        <p:spPr>
          <a:xfrm>
            <a:off x="437712" y="-1141193"/>
            <a:ext cx="10515600" cy="2852737"/>
          </a:xfrm>
        </p:spPr>
        <p:txBody>
          <a:bodyPr/>
          <a:lstStyle/>
          <a:p>
            <a:r>
              <a:rPr lang="en-US" dirty="0">
                <a:latin typeface="Calibri"/>
                <a:ea typeface="Calibri"/>
                <a:cs typeface="Calibri"/>
              </a:rPr>
              <a:t>Question 2 (</a:t>
            </a:r>
            <a:r>
              <a:rPr lang="en-US">
                <a:latin typeface="Calibri"/>
                <a:ea typeface="Calibri"/>
                <a:cs typeface="Calibri"/>
              </a:rPr>
              <a:t>Multiple Choice)</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49191D26-40F2-A86D-F38D-9CB7BD8F4D31}"/>
              </a:ext>
            </a:extLst>
          </p:cNvPr>
          <p:cNvSpPr>
            <a:spLocks noGrp="1"/>
          </p:cNvSpPr>
          <p:nvPr>
            <p:ph type="body" idx="1"/>
          </p:nvPr>
        </p:nvSpPr>
        <p:spPr>
          <a:xfrm>
            <a:off x="401738" y="1929032"/>
            <a:ext cx="10515600" cy="4569958"/>
          </a:xfrm>
        </p:spPr>
        <p:txBody>
          <a:bodyPr vert="horz" lIns="91440" tIns="45720" rIns="91440" bIns="45720" rtlCol="0" anchor="t">
            <a:normAutofit/>
          </a:bodyPr>
          <a:lstStyle/>
          <a:p>
            <a:r>
              <a:rPr lang="en-US" sz="2800">
                <a:solidFill>
                  <a:schemeClr val="tx1"/>
                </a:solidFill>
                <a:latin typeface="Calibri"/>
                <a:ea typeface="Calibri"/>
                <a:cs typeface="Calibri"/>
              </a:rPr>
              <a:t>Question:</a:t>
            </a:r>
          </a:p>
          <a:p>
            <a:endParaRPr lang="en-US" sz="2800" dirty="0">
              <a:solidFill>
                <a:schemeClr val="tx1"/>
              </a:solidFill>
              <a:latin typeface="Calibri"/>
              <a:ea typeface="Calibri"/>
              <a:cs typeface="Calibri"/>
            </a:endParaRPr>
          </a:p>
          <a:p>
            <a:r>
              <a:rPr lang="en-US" sz="2800">
                <a:solidFill>
                  <a:schemeClr val="tx1"/>
                </a:solidFill>
                <a:latin typeface="Calibri"/>
                <a:ea typeface="Calibri"/>
                <a:cs typeface="Calibri"/>
              </a:rPr>
              <a:t>Which example shows responsible AI use?</a:t>
            </a:r>
            <a:endParaRPr lang="en-US" sz="2800" dirty="0">
              <a:solidFill>
                <a:schemeClr val="tx1"/>
              </a:solidFill>
              <a:latin typeface="Calibri"/>
              <a:ea typeface="Calibri"/>
              <a:cs typeface="Calibri"/>
            </a:endParaRPr>
          </a:p>
          <a:p>
            <a:endParaRPr lang="en-US" sz="2800" dirty="0">
              <a:solidFill>
                <a:schemeClr val="tx1"/>
              </a:solidFill>
              <a:latin typeface="Calibri"/>
              <a:ea typeface="Calibri"/>
              <a:cs typeface="Calibri"/>
            </a:endParaRPr>
          </a:p>
          <a:p>
            <a:pPr marL="514350" indent="-514350">
              <a:buAutoNum type="alphaUcPeriod"/>
            </a:pPr>
            <a:r>
              <a:rPr lang="en-US" sz="2800">
                <a:solidFill>
                  <a:schemeClr val="tx1"/>
                </a:solidFill>
                <a:latin typeface="Calibri"/>
                <a:ea typeface="Calibri"/>
                <a:cs typeface="Calibri"/>
              </a:rPr>
              <a:t>Copying everything AI use?</a:t>
            </a:r>
            <a:endParaRPr lang="en-US" sz="2800" dirty="0">
              <a:solidFill>
                <a:schemeClr val="tx1"/>
              </a:solidFill>
              <a:latin typeface="Calibri"/>
              <a:ea typeface="Calibri"/>
              <a:cs typeface="Calibri"/>
            </a:endParaRPr>
          </a:p>
          <a:p>
            <a:pPr marL="514350" indent="-514350">
              <a:buAutoNum type="alphaUcPeriod"/>
            </a:pPr>
            <a:r>
              <a:rPr lang="en-US" sz="2800">
                <a:solidFill>
                  <a:schemeClr val="tx1"/>
                </a:solidFill>
                <a:latin typeface="Calibri"/>
                <a:ea typeface="Calibri"/>
                <a:cs typeface="Calibri"/>
              </a:rPr>
              <a:t>Sharing student information</a:t>
            </a:r>
            <a:endParaRPr lang="en-US" sz="2800" dirty="0">
              <a:solidFill>
                <a:schemeClr val="tx1"/>
              </a:solidFill>
              <a:latin typeface="Calibri"/>
              <a:ea typeface="Calibri"/>
              <a:cs typeface="Calibri"/>
            </a:endParaRPr>
          </a:p>
          <a:p>
            <a:pPr marL="514350" indent="-514350">
              <a:buAutoNum type="alphaUcPeriod"/>
            </a:pPr>
            <a:r>
              <a:rPr lang="en-US" sz="2800">
                <a:solidFill>
                  <a:schemeClr val="tx1"/>
                </a:solidFill>
                <a:latin typeface="Calibri"/>
                <a:ea typeface="Calibri"/>
                <a:cs typeface="Calibri"/>
              </a:rPr>
              <a:t>Reviewing AI materials before teaching</a:t>
            </a:r>
            <a:r>
              <a:rPr lang="en-US" sz="2800" dirty="0">
                <a:solidFill>
                  <a:schemeClr val="tx1"/>
                </a:solidFill>
                <a:latin typeface="Calibri"/>
                <a:ea typeface="Calibri"/>
                <a:cs typeface="Calibri"/>
              </a:rPr>
              <a:t> ✅</a:t>
            </a:r>
          </a:p>
          <a:p>
            <a:pPr marL="514350" indent="-514350">
              <a:buAutoNum type="alphaUcPeriod"/>
            </a:pPr>
            <a:r>
              <a:rPr lang="en-US" sz="2800">
                <a:solidFill>
                  <a:schemeClr val="tx1"/>
                </a:solidFill>
                <a:latin typeface="Calibri"/>
                <a:ea typeface="Calibri"/>
                <a:cs typeface="Calibri"/>
              </a:rPr>
              <a:t>Ignoring AI mistakes</a:t>
            </a:r>
            <a:endParaRPr lang="en-US" sz="2800" dirty="0">
              <a:solidFill>
                <a:schemeClr val="tx1"/>
              </a:solidFill>
              <a:latin typeface="Calibri"/>
              <a:ea typeface="Calibri"/>
              <a:cs typeface="Calibri"/>
            </a:endParaRPr>
          </a:p>
        </p:txBody>
      </p:sp>
    </p:spTree>
    <p:extLst>
      <p:ext uri="{BB962C8B-B14F-4D97-AF65-F5344CB8AC3E}">
        <p14:creationId xmlns:p14="http://schemas.microsoft.com/office/powerpoint/2010/main" val="9568303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6BB9C-2DEC-04C8-45E3-AC6F4AD732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1BA0BC-7945-BA90-2126-3BF0E82533D5}"/>
              </a:ext>
            </a:extLst>
          </p:cNvPr>
          <p:cNvSpPr>
            <a:spLocks noGrp="1"/>
          </p:cNvSpPr>
          <p:nvPr>
            <p:ph type="title"/>
          </p:nvPr>
        </p:nvSpPr>
        <p:spPr>
          <a:xfrm>
            <a:off x="437712" y="-1141193"/>
            <a:ext cx="10515600" cy="2852737"/>
          </a:xfrm>
        </p:spPr>
        <p:txBody>
          <a:bodyPr/>
          <a:lstStyle/>
          <a:p>
            <a:r>
              <a:rPr lang="en-US">
                <a:latin typeface="Calibri"/>
                <a:ea typeface="Calibri"/>
                <a:cs typeface="Calibri"/>
              </a:rPr>
              <a:t>Question 3 (Multiple Choice)</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8BC9513F-145E-1EC9-8284-D361E8DF3DEA}"/>
              </a:ext>
            </a:extLst>
          </p:cNvPr>
          <p:cNvSpPr>
            <a:spLocks noGrp="1"/>
          </p:cNvSpPr>
          <p:nvPr>
            <p:ph type="body" idx="1"/>
          </p:nvPr>
        </p:nvSpPr>
        <p:spPr>
          <a:xfrm>
            <a:off x="401738" y="1929032"/>
            <a:ext cx="10515600" cy="4569958"/>
          </a:xfrm>
        </p:spPr>
        <p:txBody>
          <a:bodyPr vert="horz" lIns="91440" tIns="45720" rIns="91440" bIns="45720" rtlCol="0" anchor="t">
            <a:normAutofit/>
          </a:bodyPr>
          <a:lstStyle/>
          <a:p>
            <a:r>
              <a:rPr lang="en-US" sz="2800">
                <a:solidFill>
                  <a:schemeClr val="tx1"/>
                </a:solidFill>
                <a:latin typeface="Calibri"/>
                <a:ea typeface="Calibri"/>
                <a:cs typeface="Calibri"/>
              </a:rPr>
              <a:t>Question:</a:t>
            </a:r>
          </a:p>
          <a:p>
            <a:endParaRPr lang="en-US" sz="2800" dirty="0">
              <a:solidFill>
                <a:schemeClr val="tx1"/>
              </a:solidFill>
              <a:latin typeface="Calibri"/>
              <a:ea typeface="Calibri"/>
              <a:cs typeface="Calibri"/>
            </a:endParaRPr>
          </a:p>
          <a:p>
            <a:r>
              <a:rPr lang="en-US" sz="2800">
                <a:solidFill>
                  <a:schemeClr val="tx1"/>
                </a:solidFill>
                <a:latin typeface="Calibri"/>
                <a:ea typeface="Calibri"/>
                <a:cs typeface="Calibri"/>
              </a:rPr>
              <a:t>Select ways AI can support educators. </a:t>
            </a:r>
            <a:endParaRPr lang="en-US" sz="2800" dirty="0">
              <a:solidFill>
                <a:schemeClr val="tx1"/>
              </a:solidFill>
              <a:latin typeface="Calibri"/>
              <a:ea typeface="Calibri"/>
              <a:cs typeface="Calibri"/>
            </a:endParaRPr>
          </a:p>
          <a:p>
            <a:endParaRPr lang="en-US" sz="2800" dirty="0">
              <a:solidFill>
                <a:schemeClr val="tx1"/>
              </a:solidFill>
              <a:latin typeface="Calibri"/>
              <a:ea typeface="Calibri"/>
              <a:cs typeface="Calibri"/>
            </a:endParaRPr>
          </a:p>
          <a:p>
            <a:r>
              <a:rPr lang="en-US" sz="2800">
                <a:solidFill>
                  <a:schemeClr val="tx1"/>
                </a:solidFill>
                <a:latin typeface="Calibri"/>
                <a:ea typeface="Calibri"/>
                <a:cs typeface="Calibri"/>
              </a:rPr>
              <a:t>Select all correct answers.</a:t>
            </a:r>
            <a:endParaRPr lang="en-US">
              <a:latin typeface="Calibri"/>
              <a:ea typeface="Calibri"/>
              <a:cs typeface="Calibri"/>
            </a:endParaRPr>
          </a:p>
          <a:p>
            <a:r>
              <a:rPr lang="en-US" sz="2800">
                <a:solidFill>
                  <a:schemeClr val="tx1"/>
                </a:solidFill>
                <a:latin typeface="Calibri"/>
                <a:ea typeface="Calibri"/>
                <a:cs typeface="Calibri"/>
              </a:rPr>
              <a:t> ☑ Creating lesson ideas</a:t>
            </a:r>
            <a:br>
              <a:rPr lang="en-US" sz="2800" dirty="0">
                <a:solidFill>
                  <a:schemeClr val="tx1"/>
                </a:solidFill>
                <a:latin typeface="Calibri"/>
                <a:ea typeface="Calibri"/>
                <a:cs typeface="Calibri"/>
              </a:rPr>
            </a:br>
            <a:r>
              <a:rPr lang="en-US" sz="2800">
                <a:solidFill>
                  <a:schemeClr val="tx1"/>
                </a:solidFill>
                <a:latin typeface="Calibri"/>
                <a:ea typeface="Calibri"/>
                <a:cs typeface="Calibri"/>
              </a:rPr>
              <a:t> ☑ Generating practice questions</a:t>
            </a:r>
            <a:br>
              <a:rPr lang="en-US" sz="2800" dirty="0">
                <a:solidFill>
                  <a:schemeClr val="tx1"/>
                </a:solidFill>
                <a:latin typeface="Calibri"/>
                <a:ea typeface="Calibri"/>
                <a:cs typeface="Calibri"/>
              </a:rPr>
            </a:br>
            <a:r>
              <a:rPr lang="en-US" sz="2800">
                <a:solidFill>
                  <a:schemeClr val="tx1"/>
                </a:solidFill>
                <a:latin typeface="Calibri"/>
                <a:ea typeface="Calibri"/>
                <a:cs typeface="Calibri"/>
              </a:rPr>
              <a:t> ☑ Organizing information</a:t>
            </a:r>
            <a:br>
              <a:rPr lang="en-US" sz="2800" dirty="0">
                <a:solidFill>
                  <a:schemeClr val="tx1"/>
                </a:solidFill>
                <a:latin typeface="Calibri"/>
                <a:ea typeface="Calibri"/>
                <a:cs typeface="Calibri"/>
              </a:rPr>
            </a:br>
            <a:r>
              <a:rPr lang="en-US" sz="2800">
                <a:solidFill>
                  <a:schemeClr val="tx1"/>
                </a:solidFill>
                <a:latin typeface="Calibri"/>
                <a:ea typeface="Calibri"/>
                <a:cs typeface="Calibri"/>
              </a:rPr>
              <a:t> ☐ Replacing teachers</a:t>
            </a:r>
            <a:endParaRPr lang="en-US">
              <a:solidFill>
                <a:schemeClr val="tx1"/>
              </a:solidFill>
              <a:latin typeface="Calibri"/>
              <a:ea typeface="Calibri"/>
              <a:cs typeface="Calibri"/>
            </a:endParaRPr>
          </a:p>
          <a:p>
            <a:endParaRPr lang="en-US" sz="2800" dirty="0">
              <a:solidFill>
                <a:schemeClr val="tx1"/>
              </a:solidFill>
              <a:latin typeface="Calibri"/>
              <a:ea typeface="Calibri"/>
              <a:cs typeface="Calibri"/>
            </a:endParaRPr>
          </a:p>
        </p:txBody>
      </p:sp>
    </p:spTree>
    <p:extLst>
      <p:ext uri="{BB962C8B-B14F-4D97-AF65-F5344CB8AC3E}">
        <p14:creationId xmlns:p14="http://schemas.microsoft.com/office/powerpoint/2010/main" val="28555561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9F384-DD79-C245-9EEF-21D4E568EB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D33A79-9817-E21C-B596-33F30204E52D}"/>
              </a:ext>
            </a:extLst>
          </p:cNvPr>
          <p:cNvSpPr>
            <a:spLocks noGrp="1"/>
          </p:cNvSpPr>
          <p:nvPr>
            <p:ph type="title"/>
          </p:nvPr>
        </p:nvSpPr>
        <p:spPr>
          <a:xfrm>
            <a:off x="437712" y="-1141193"/>
            <a:ext cx="10515600" cy="2852737"/>
          </a:xfrm>
        </p:spPr>
        <p:txBody>
          <a:bodyPr/>
          <a:lstStyle/>
          <a:p>
            <a:r>
              <a:rPr lang="en-US">
                <a:latin typeface="Calibri"/>
                <a:ea typeface="Calibri"/>
                <a:cs typeface="Calibri"/>
              </a:rPr>
              <a:t>Question 4 (Fill-in-the-Blank)</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5E9ABC6F-8119-6A0E-CF2B-ACBE1C864434}"/>
              </a:ext>
            </a:extLst>
          </p:cNvPr>
          <p:cNvSpPr>
            <a:spLocks noGrp="1"/>
          </p:cNvSpPr>
          <p:nvPr>
            <p:ph type="body" idx="1"/>
          </p:nvPr>
        </p:nvSpPr>
        <p:spPr>
          <a:xfrm>
            <a:off x="401738" y="1929032"/>
            <a:ext cx="10515600" cy="4569958"/>
          </a:xfrm>
        </p:spPr>
        <p:txBody>
          <a:bodyPr vert="horz" lIns="91440" tIns="45720" rIns="91440" bIns="45720" rtlCol="0" anchor="t">
            <a:normAutofit/>
          </a:bodyPr>
          <a:lstStyle/>
          <a:p>
            <a:r>
              <a:rPr lang="en-US" sz="2800">
                <a:solidFill>
                  <a:schemeClr val="tx1"/>
                </a:solidFill>
                <a:latin typeface="Calibri"/>
                <a:ea typeface="Calibri"/>
                <a:cs typeface="Calibri"/>
              </a:rPr>
              <a:t>Question:</a:t>
            </a:r>
          </a:p>
          <a:p>
            <a:endParaRPr lang="en-US" sz="2800" dirty="0">
              <a:solidFill>
                <a:schemeClr val="tx1"/>
              </a:solidFill>
              <a:latin typeface="Calibri"/>
              <a:ea typeface="Calibri"/>
              <a:cs typeface="Calibri"/>
            </a:endParaRPr>
          </a:p>
          <a:p>
            <a:r>
              <a:rPr lang="en-US" sz="2800" dirty="0">
                <a:solidFill>
                  <a:schemeClr val="tx1"/>
                </a:solidFill>
                <a:latin typeface="Calibri"/>
                <a:ea typeface="Calibri"/>
                <a:cs typeface="Calibri"/>
              </a:rPr>
              <a:t>Teachers should always ______________ AI-generated information befo</a:t>
            </a:r>
            <a:r>
              <a:rPr lang="en-US" sz="2800">
                <a:solidFill>
                  <a:schemeClr val="tx1"/>
                </a:solidFill>
                <a:latin typeface="Calibri"/>
                <a:ea typeface="Calibri"/>
                <a:cs typeface="Calibri"/>
              </a:rPr>
              <a:t>re using it. </a:t>
            </a:r>
            <a:endParaRPr lang="en-US" sz="2800" dirty="0">
              <a:solidFill>
                <a:schemeClr val="tx1"/>
              </a:solidFill>
              <a:latin typeface="Calibri"/>
              <a:ea typeface="Calibri"/>
              <a:cs typeface="Calibri"/>
            </a:endParaRPr>
          </a:p>
          <a:p>
            <a:endParaRPr lang="en-US" sz="2800" dirty="0">
              <a:solidFill>
                <a:schemeClr val="tx1"/>
              </a:solidFill>
              <a:latin typeface="Calibri"/>
              <a:ea typeface="Calibri"/>
              <a:cs typeface="Calibri"/>
            </a:endParaRPr>
          </a:p>
          <a:p>
            <a:r>
              <a:rPr lang="en-US" sz="2800">
                <a:solidFill>
                  <a:schemeClr val="tx1"/>
                </a:solidFill>
                <a:latin typeface="Calibri"/>
                <a:ea typeface="Calibri"/>
                <a:cs typeface="Calibri"/>
              </a:rPr>
              <a:t>Correct Answer:</a:t>
            </a:r>
            <a:endParaRPr lang="en-US" sz="2800" dirty="0">
              <a:solidFill>
                <a:schemeClr val="tx1"/>
              </a:solidFill>
              <a:latin typeface="Calibri"/>
              <a:ea typeface="Calibri"/>
              <a:cs typeface="Calibri"/>
            </a:endParaRPr>
          </a:p>
          <a:p>
            <a:r>
              <a:rPr lang="en-US" sz="2800">
                <a:solidFill>
                  <a:srgbClr val="FF0000"/>
                </a:solidFill>
                <a:latin typeface="Calibri"/>
                <a:ea typeface="Calibri"/>
                <a:cs typeface="Calibri"/>
              </a:rPr>
              <a:t>Review</a:t>
            </a:r>
            <a:endParaRPr lang="en-US" sz="2800" dirty="0">
              <a:solidFill>
                <a:srgbClr val="FF0000"/>
              </a:solidFill>
              <a:latin typeface="Calibri"/>
              <a:ea typeface="Calibri"/>
              <a:cs typeface="Calibri"/>
            </a:endParaRPr>
          </a:p>
          <a:p>
            <a:endParaRPr lang="en-US" sz="2800" dirty="0">
              <a:solidFill>
                <a:schemeClr val="tx1"/>
              </a:solidFill>
              <a:latin typeface="Calibri"/>
              <a:ea typeface="Calibri"/>
              <a:cs typeface="Calibri"/>
            </a:endParaRPr>
          </a:p>
        </p:txBody>
      </p:sp>
    </p:spTree>
    <p:extLst>
      <p:ext uri="{BB962C8B-B14F-4D97-AF65-F5344CB8AC3E}">
        <p14:creationId xmlns:p14="http://schemas.microsoft.com/office/powerpoint/2010/main" val="40070535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280D8-5C0E-0F9D-C345-2F14ACD2C6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B400CE-D031-5B2B-3020-0DDCA47C8C8C}"/>
              </a:ext>
            </a:extLst>
          </p:cNvPr>
          <p:cNvSpPr>
            <a:spLocks noGrp="1"/>
          </p:cNvSpPr>
          <p:nvPr>
            <p:ph type="title"/>
          </p:nvPr>
        </p:nvSpPr>
        <p:spPr>
          <a:xfrm>
            <a:off x="437712" y="-1141193"/>
            <a:ext cx="10515600" cy="2852737"/>
          </a:xfrm>
        </p:spPr>
        <p:txBody>
          <a:bodyPr/>
          <a:lstStyle/>
          <a:p>
            <a:r>
              <a:rPr lang="en-US">
                <a:latin typeface="Calibri"/>
                <a:ea typeface="Calibri"/>
                <a:cs typeface="Calibri"/>
              </a:rPr>
              <a:t>Question 5 (Matching)</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F56A97B1-11C8-E615-CE30-71E6FFE0C3F2}"/>
              </a:ext>
            </a:extLst>
          </p:cNvPr>
          <p:cNvSpPr>
            <a:spLocks noGrp="1"/>
          </p:cNvSpPr>
          <p:nvPr>
            <p:ph type="body" idx="1"/>
          </p:nvPr>
        </p:nvSpPr>
        <p:spPr>
          <a:xfrm>
            <a:off x="401738" y="1929032"/>
            <a:ext cx="10515600" cy="4569958"/>
          </a:xfrm>
        </p:spPr>
        <p:txBody>
          <a:bodyPr vert="horz" lIns="91440" tIns="45720" rIns="91440" bIns="45720" rtlCol="0" anchor="t">
            <a:normAutofit/>
          </a:bodyPr>
          <a:lstStyle/>
          <a:p>
            <a:r>
              <a:rPr lang="en-US" sz="2800">
                <a:solidFill>
                  <a:schemeClr val="tx1"/>
                </a:solidFill>
                <a:latin typeface="Calibri"/>
                <a:ea typeface="Calibri"/>
                <a:cs typeface="Calibri"/>
              </a:rPr>
              <a:t>Question:</a:t>
            </a:r>
          </a:p>
          <a:p>
            <a:r>
              <a:rPr lang="en-US" sz="2800" dirty="0">
                <a:solidFill>
                  <a:schemeClr val="tx1"/>
                </a:solidFill>
                <a:latin typeface="Calibri"/>
                <a:ea typeface="Calibri"/>
                <a:cs typeface="Calibri"/>
              </a:rPr>
              <a:t>Match the </a:t>
            </a:r>
            <a:r>
              <a:rPr lang="en-US" sz="2800">
                <a:solidFill>
                  <a:schemeClr val="tx1"/>
                </a:solidFill>
                <a:latin typeface="Calibri"/>
                <a:ea typeface="Calibri"/>
                <a:cs typeface="Calibri"/>
              </a:rPr>
              <a:t>responsibility</a:t>
            </a:r>
            <a:endParaRPr lang="en-US" sz="2800" dirty="0">
              <a:solidFill>
                <a:schemeClr val="tx1"/>
              </a:solidFill>
              <a:latin typeface="Calibri"/>
              <a:ea typeface="Calibri"/>
              <a:cs typeface="Calibri"/>
            </a:endParaRPr>
          </a:p>
          <a:p>
            <a:endParaRPr lang="en-US" sz="2800" dirty="0">
              <a:solidFill>
                <a:schemeClr val="tx1"/>
              </a:solidFill>
              <a:latin typeface="Calibri"/>
              <a:ea typeface="Calibri"/>
              <a:cs typeface="Calibri"/>
            </a:endParaRPr>
          </a:p>
          <a:p>
            <a:r>
              <a:rPr lang="en-US" sz="2800">
                <a:solidFill>
                  <a:schemeClr val="tx1"/>
                </a:solidFill>
                <a:latin typeface="Calibri"/>
                <a:ea typeface="Calibri"/>
                <a:cs typeface="Calibri"/>
              </a:rPr>
              <a:t>AI → Generates ideas</a:t>
            </a:r>
            <a:endParaRPr lang="en-US" sz="2800" dirty="0">
              <a:solidFill>
                <a:schemeClr val="tx1"/>
              </a:solidFill>
              <a:latin typeface="Calibri"/>
              <a:ea typeface="Calibri"/>
              <a:cs typeface="Calibri"/>
            </a:endParaRPr>
          </a:p>
          <a:p>
            <a:r>
              <a:rPr lang="en-US" sz="2800">
                <a:solidFill>
                  <a:schemeClr val="tx1"/>
                </a:solidFill>
                <a:latin typeface="Calibri"/>
                <a:ea typeface="Calibri"/>
                <a:cs typeface="Calibri"/>
              </a:rPr>
              <a:t>Teacher → Makes instructional decisions</a:t>
            </a:r>
            <a:endParaRPr lang="en-US">
              <a:latin typeface="Calibri"/>
              <a:ea typeface="Calibri"/>
              <a:cs typeface="Calibri"/>
            </a:endParaRPr>
          </a:p>
          <a:p>
            <a:r>
              <a:rPr lang="en-US" sz="2800">
                <a:solidFill>
                  <a:schemeClr val="tx1"/>
                </a:solidFill>
                <a:latin typeface="Calibri"/>
                <a:ea typeface="Calibri"/>
                <a:cs typeface="Calibri"/>
              </a:rPr>
              <a:t>AI → Organizes information</a:t>
            </a:r>
            <a:endParaRPr lang="en-US">
              <a:latin typeface="Calibri"/>
              <a:ea typeface="Calibri"/>
              <a:cs typeface="Calibri"/>
            </a:endParaRPr>
          </a:p>
          <a:p>
            <a:r>
              <a:rPr lang="en-US" sz="2800">
                <a:solidFill>
                  <a:schemeClr val="tx1"/>
                </a:solidFill>
                <a:latin typeface="Calibri"/>
                <a:ea typeface="Calibri"/>
                <a:cs typeface="Calibri"/>
              </a:rPr>
              <a:t>Teacher → Supports student relationships</a:t>
            </a:r>
            <a:endParaRPr lang="en-US">
              <a:latin typeface="Calibri"/>
              <a:ea typeface="Calibri"/>
              <a:cs typeface="Calibri"/>
            </a:endParaRPr>
          </a:p>
          <a:p>
            <a:endParaRPr lang="en-US" sz="2800" dirty="0">
              <a:solidFill>
                <a:schemeClr val="tx1"/>
              </a:solidFill>
              <a:latin typeface="Calibri"/>
              <a:ea typeface="Calibri"/>
              <a:cs typeface="Calibri"/>
            </a:endParaRPr>
          </a:p>
          <a:p>
            <a:endParaRPr lang="en-US" sz="2800" dirty="0">
              <a:solidFill>
                <a:schemeClr val="tx1"/>
              </a:solidFill>
              <a:latin typeface="Calibri"/>
              <a:ea typeface="Calibri"/>
              <a:cs typeface="Calibri"/>
            </a:endParaRPr>
          </a:p>
        </p:txBody>
      </p:sp>
    </p:spTree>
    <p:extLst>
      <p:ext uri="{BB962C8B-B14F-4D97-AF65-F5344CB8AC3E}">
        <p14:creationId xmlns:p14="http://schemas.microsoft.com/office/powerpoint/2010/main" val="15928761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CF3E0-7B08-79D5-3F60-EE1F749B8B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CE7798-B35D-6D95-A44F-8C610C8AFC92}"/>
              </a:ext>
            </a:extLst>
          </p:cNvPr>
          <p:cNvSpPr>
            <a:spLocks noGrp="1"/>
          </p:cNvSpPr>
          <p:nvPr>
            <p:ph type="title"/>
          </p:nvPr>
        </p:nvSpPr>
        <p:spPr>
          <a:xfrm>
            <a:off x="437712" y="-1141193"/>
            <a:ext cx="10515600" cy="2852737"/>
          </a:xfrm>
        </p:spPr>
        <p:txBody>
          <a:bodyPr/>
          <a:lstStyle/>
          <a:p>
            <a:r>
              <a:rPr lang="en-US">
                <a:latin typeface="Calibri"/>
                <a:ea typeface="Calibri"/>
                <a:cs typeface="Calibri"/>
              </a:rPr>
              <a:t>Results</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EF85FDC5-BCCD-89FC-C8D6-B2222A6C7966}"/>
              </a:ext>
            </a:extLst>
          </p:cNvPr>
          <p:cNvSpPr>
            <a:spLocks noGrp="1"/>
          </p:cNvSpPr>
          <p:nvPr>
            <p:ph type="body" idx="1"/>
          </p:nvPr>
        </p:nvSpPr>
        <p:spPr>
          <a:xfrm>
            <a:off x="401738" y="1929032"/>
            <a:ext cx="10515600" cy="4569958"/>
          </a:xfrm>
        </p:spPr>
        <p:txBody>
          <a:bodyPr vert="horz" lIns="91440" tIns="45720" rIns="91440" bIns="45720" rtlCol="0" anchor="t">
            <a:normAutofit/>
          </a:bodyPr>
          <a:lstStyle/>
          <a:p>
            <a:r>
              <a:rPr lang="en-US" sz="2800">
                <a:solidFill>
                  <a:schemeClr val="tx1"/>
                </a:solidFill>
                <a:latin typeface="Calibri"/>
                <a:ea typeface="Calibri"/>
                <a:cs typeface="Calibri"/>
              </a:rPr>
              <a:t>Results for: %Name%</a:t>
            </a:r>
            <a:endParaRPr lang="en-US" sz="2800" dirty="0">
              <a:solidFill>
                <a:schemeClr val="tx1"/>
              </a:solidFill>
              <a:latin typeface="Calibri"/>
              <a:ea typeface="Calibri"/>
              <a:cs typeface="Calibri"/>
            </a:endParaRPr>
          </a:p>
          <a:p>
            <a:endParaRPr lang="en-US" sz="2800" dirty="0">
              <a:solidFill>
                <a:schemeClr val="tx1"/>
              </a:solidFill>
              <a:latin typeface="Calibri"/>
              <a:ea typeface="Calibri"/>
              <a:cs typeface="Calibri"/>
            </a:endParaRPr>
          </a:p>
          <a:p>
            <a:r>
              <a:rPr lang="en-US" sz="2800">
                <a:solidFill>
                  <a:schemeClr val="tx1"/>
                </a:solidFill>
                <a:latin typeface="Calibri"/>
                <a:ea typeface="Calibri"/>
                <a:cs typeface="Calibri"/>
              </a:rPr>
              <a:t>Your Score:_____</a:t>
            </a:r>
            <a:endParaRPr lang="en-US" sz="2800" dirty="0">
              <a:solidFill>
                <a:schemeClr val="tx1"/>
              </a:solidFill>
              <a:latin typeface="Calibri"/>
              <a:ea typeface="Calibri"/>
              <a:cs typeface="Calibri"/>
            </a:endParaRPr>
          </a:p>
          <a:p>
            <a:r>
              <a:rPr lang="en-US" sz="2800">
                <a:solidFill>
                  <a:schemeClr val="tx1"/>
                </a:solidFill>
                <a:latin typeface="Calibri"/>
                <a:ea typeface="Calibri"/>
                <a:cs typeface="Calibri"/>
              </a:rPr>
              <a:t>Passing Score:  </a:t>
            </a:r>
            <a:r>
              <a:rPr lang="en-US" sz="2800">
                <a:solidFill>
                  <a:srgbClr val="FF0000"/>
                </a:solidFill>
                <a:latin typeface="Calibri"/>
                <a:ea typeface="Calibri"/>
                <a:cs typeface="Calibri"/>
              </a:rPr>
              <a:t>80%</a:t>
            </a:r>
            <a:endParaRPr lang="en-US">
              <a:latin typeface="Calibri"/>
              <a:ea typeface="Calibri"/>
              <a:cs typeface="Calibri"/>
            </a:endParaRPr>
          </a:p>
          <a:p>
            <a:endParaRPr lang="en-US" sz="2800" dirty="0">
              <a:solidFill>
                <a:schemeClr val="tx1"/>
              </a:solidFill>
              <a:latin typeface="Calibri"/>
              <a:ea typeface="Calibri"/>
              <a:cs typeface="Calibri"/>
            </a:endParaRPr>
          </a:p>
          <a:p>
            <a:r>
              <a:rPr lang="en-US" sz="2800">
                <a:solidFill>
                  <a:schemeClr val="tx1"/>
                </a:solidFill>
                <a:latin typeface="Calibri"/>
                <a:ea typeface="Calibri"/>
                <a:cs typeface="Calibri"/>
              </a:rPr>
              <a:t>Buttons:  </a:t>
            </a:r>
            <a:endParaRPr lang="en-US" sz="2800" dirty="0">
              <a:solidFill>
                <a:schemeClr val="tx1"/>
              </a:solidFill>
              <a:latin typeface="Calibri"/>
              <a:ea typeface="Calibri"/>
              <a:cs typeface="Calibri"/>
            </a:endParaRPr>
          </a:p>
          <a:p>
            <a:r>
              <a:rPr lang="en-US" sz="2800" b="1">
                <a:solidFill>
                  <a:srgbClr val="FF0000"/>
                </a:solidFill>
                <a:latin typeface="Calibri"/>
                <a:ea typeface="Calibri"/>
                <a:cs typeface="Calibri"/>
              </a:rPr>
              <a:t>Print Results</a:t>
            </a:r>
          </a:p>
          <a:p>
            <a:r>
              <a:rPr lang="en-US" sz="2800" b="1">
                <a:solidFill>
                  <a:srgbClr val="FF0000"/>
                </a:solidFill>
                <a:latin typeface="Calibri"/>
                <a:ea typeface="Calibri"/>
                <a:cs typeface="Calibri"/>
              </a:rPr>
              <a:t>Save PDF</a:t>
            </a:r>
          </a:p>
          <a:p>
            <a:r>
              <a:rPr lang="en-US" sz="2800" b="1">
                <a:solidFill>
                  <a:srgbClr val="FF0000"/>
                </a:solidFill>
                <a:latin typeface="Calibri"/>
                <a:ea typeface="Calibri"/>
                <a:cs typeface="Calibri"/>
              </a:rPr>
              <a:t>Retry Quiz</a:t>
            </a:r>
          </a:p>
          <a:p>
            <a:endParaRPr lang="en-US" sz="2800" dirty="0">
              <a:solidFill>
                <a:schemeClr val="tx1"/>
              </a:solidFill>
              <a:latin typeface="Calibri"/>
              <a:ea typeface="Calibri"/>
              <a:cs typeface="Calibri"/>
            </a:endParaRPr>
          </a:p>
          <a:p>
            <a:endParaRPr lang="en-US" sz="2800" dirty="0">
              <a:solidFill>
                <a:schemeClr val="tx1"/>
              </a:solidFill>
              <a:latin typeface="Calibri"/>
              <a:ea typeface="Calibri"/>
              <a:cs typeface="Calibri"/>
            </a:endParaRPr>
          </a:p>
        </p:txBody>
      </p:sp>
    </p:spTree>
    <p:extLst>
      <p:ext uri="{BB962C8B-B14F-4D97-AF65-F5344CB8AC3E}">
        <p14:creationId xmlns:p14="http://schemas.microsoft.com/office/powerpoint/2010/main" val="13445564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C1B96-EBB5-026E-D3FD-1D06FED16E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604AD5-3AF7-AB10-8059-A3055DC160C1}"/>
              </a:ext>
            </a:extLst>
          </p:cNvPr>
          <p:cNvSpPr>
            <a:spLocks noGrp="1"/>
          </p:cNvSpPr>
          <p:nvPr>
            <p:ph type="title"/>
          </p:nvPr>
        </p:nvSpPr>
        <p:spPr>
          <a:xfrm>
            <a:off x="437712" y="-1141193"/>
            <a:ext cx="10515600" cy="2852737"/>
          </a:xfrm>
        </p:spPr>
        <p:txBody>
          <a:bodyPr/>
          <a:lstStyle/>
          <a:p>
            <a:r>
              <a:rPr lang="en-US">
                <a:latin typeface="Calibri"/>
                <a:ea typeface="Calibri"/>
                <a:cs typeface="Calibri"/>
              </a:rPr>
              <a:t>Congratulation</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A2575903-A4FE-AF40-856D-2B7878E9DEE7}"/>
              </a:ext>
            </a:extLst>
          </p:cNvPr>
          <p:cNvSpPr>
            <a:spLocks noGrp="1"/>
          </p:cNvSpPr>
          <p:nvPr>
            <p:ph type="body" idx="1"/>
          </p:nvPr>
        </p:nvSpPr>
        <p:spPr>
          <a:xfrm>
            <a:off x="401738" y="1929032"/>
            <a:ext cx="10515600" cy="4569958"/>
          </a:xfrm>
        </p:spPr>
        <p:txBody>
          <a:bodyPr vert="horz" lIns="91440" tIns="45720" rIns="91440" bIns="45720" rtlCol="0" anchor="t">
            <a:normAutofit/>
          </a:bodyPr>
          <a:lstStyle/>
          <a:p>
            <a:r>
              <a:rPr lang="en-US" sz="2800">
                <a:solidFill>
                  <a:schemeClr val="tx1"/>
                </a:solidFill>
                <a:latin typeface="Calibri"/>
                <a:ea typeface="Calibri"/>
                <a:cs typeface="Calibri"/>
              </a:rPr>
              <a:t>AI can support effective teaching. </a:t>
            </a:r>
            <a:endParaRPr lang="en-US" sz="2800" dirty="0">
              <a:solidFill>
                <a:schemeClr val="tx1"/>
              </a:solidFill>
              <a:latin typeface="Calibri"/>
              <a:ea typeface="Calibri"/>
              <a:cs typeface="Calibri"/>
            </a:endParaRPr>
          </a:p>
          <a:p>
            <a:r>
              <a:rPr lang="en-US" sz="2800">
                <a:solidFill>
                  <a:schemeClr val="tx1"/>
                </a:solidFill>
                <a:latin typeface="Calibri"/>
                <a:ea typeface="Calibri"/>
                <a:cs typeface="Calibri"/>
              </a:rPr>
              <a:t>Responsible educators guide learning. </a:t>
            </a:r>
            <a:endParaRPr lang="en-US" sz="2800" dirty="0">
              <a:solidFill>
                <a:schemeClr val="tx1"/>
              </a:solidFill>
              <a:latin typeface="Calibri"/>
              <a:ea typeface="Calibri"/>
              <a:cs typeface="Calibri"/>
            </a:endParaRPr>
          </a:p>
          <a:p>
            <a:endParaRPr lang="en-US" sz="2800" dirty="0">
              <a:solidFill>
                <a:schemeClr val="tx1"/>
              </a:solidFill>
              <a:latin typeface="Calibri"/>
              <a:ea typeface="Calibri"/>
              <a:cs typeface="Calibri"/>
            </a:endParaRPr>
          </a:p>
          <a:p>
            <a:endParaRPr lang="en-US" sz="2800" dirty="0">
              <a:solidFill>
                <a:srgbClr val="000000"/>
              </a:solidFill>
              <a:latin typeface="Calibri"/>
              <a:ea typeface="Calibri"/>
              <a:cs typeface="Calibri"/>
            </a:endParaRPr>
          </a:p>
        </p:txBody>
      </p:sp>
      <p:pic>
        <p:nvPicPr>
          <p:cNvPr id="4" name="Picture 3">
            <a:extLst>
              <a:ext uri="{FF2B5EF4-FFF2-40B4-BE49-F238E27FC236}">
                <a16:creationId xmlns:a16="http://schemas.microsoft.com/office/drawing/2014/main" id="{ABA7FB13-C65A-9216-7F56-B1DBA4966F5B}"/>
              </a:ext>
            </a:extLst>
          </p:cNvPr>
          <p:cNvPicPr>
            <a:picLocks noChangeAspect="1"/>
          </p:cNvPicPr>
          <p:nvPr/>
        </p:nvPicPr>
        <p:blipFill>
          <a:blip r:embed="rId3"/>
          <a:stretch>
            <a:fillRect/>
          </a:stretch>
        </p:blipFill>
        <p:spPr>
          <a:xfrm>
            <a:off x="6418490" y="1117145"/>
            <a:ext cx="5378450" cy="5131708"/>
          </a:xfrm>
          <a:prstGeom prst="rect">
            <a:avLst/>
          </a:prstGeom>
        </p:spPr>
      </p:pic>
    </p:spTree>
    <p:extLst>
      <p:ext uri="{BB962C8B-B14F-4D97-AF65-F5344CB8AC3E}">
        <p14:creationId xmlns:p14="http://schemas.microsoft.com/office/powerpoint/2010/main" val="17360763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B3661-08A4-18B1-44B0-C6ED90E118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AE3B0F-B4F4-527D-91F3-C2D05559218D}"/>
              </a:ext>
            </a:extLst>
          </p:cNvPr>
          <p:cNvSpPr>
            <a:spLocks noGrp="1"/>
          </p:cNvSpPr>
          <p:nvPr>
            <p:ph type="title"/>
          </p:nvPr>
        </p:nvSpPr>
        <p:spPr>
          <a:xfrm>
            <a:off x="437712" y="-1141193"/>
            <a:ext cx="10515600" cy="2852737"/>
          </a:xfrm>
        </p:spPr>
        <p:txBody>
          <a:bodyPr/>
          <a:lstStyle/>
          <a:p>
            <a:r>
              <a:rPr lang="en-US">
                <a:latin typeface="Calibri"/>
                <a:ea typeface="Calibri"/>
                <a:cs typeface="Calibri"/>
              </a:rPr>
              <a:t>Resources</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0E4BC299-863D-7AA9-3AB4-8E46AE5AD6FB}"/>
              </a:ext>
            </a:extLst>
          </p:cNvPr>
          <p:cNvSpPr>
            <a:spLocks noGrp="1"/>
          </p:cNvSpPr>
          <p:nvPr>
            <p:ph type="body" idx="1"/>
          </p:nvPr>
        </p:nvSpPr>
        <p:spPr>
          <a:xfrm>
            <a:off x="227567" y="1711318"/>
            <a:ext cx="10515600" cy="4911043"/>
          </a:xfrm>
        </p:spPr>
        <p:txBody>
          <a:bodyPr vert="horz" lIns="91440" tIns="45720" rIns="91440" bIns="45720" rtlCol="0" anchor="t">
            <a:normAutofit lnSpcReduction="10000"/>
          </a:bodyPr>
          <a:lstStyle/>
          <a:p>
            <a:r>
              <a:rPr lang="en-US" sz="2800">
                <a:solidFill>
                  <a:schemeClr val="tx1"/>
                </a:solidFill>
                <a:latin typeface="Calibri"/>
                <a:ea typeface="Calibri"/>
                <a:cs typeface="Calibri"/>
              </a:rPr>
              <a:t>Continue learning about AI. </a:t>
            </a:r>
            <a:endParaRPr lang="en-US" sz="2800" dirty="0">
              <a:solidFill>
                <a:schemeClr val="tx1"/>
              </a:solidFill>
              <a:latin typeface="Calibri"/>
              <a:ea typeface="Calibri"/>
              <a:cs typeface="Calibri"/>
            </a:endParaRPr>
          </a:p>
          <a:p>
            <a:r>
              <a:rPr lang="en-US" sz="2800">
                <a:solidFill>
                  <a:schemeClr val="tx1"/>
                </a:solidFill>
                <a:latin typeface="Calibri"/>
                <a:ea typeface="Calibri"/>
                <a:cs typeface="Calibri"/>
              </a:rPr>
              <a:t>Explore responsible technology practices.</a:t>
            </a:r>
            <a:endParaRPr lang="en-US" sz="2800" dirty="0">
              <a:solidFill>
                <a:schemeClr val="tx1"/>
              </a:solidFill>
              <a:latin typeface="Calibri"/>
              <a:ea typeface="Calibri"/>
              <a:cs typeface="Calibri"/>
            </a:endParaRPr>
          </a:p>
          <a:p>
            <a:endParaRPr lang="en-US" sz="2800" dirty="0">
              <a:solidFill>
                <a:schemeClr val="tx1"/>
              </a:solidFill>
              <a:latin typeface="Calibri"/>
              <a:ea typeface="Calibri"/>
              <a:cs typeface="Calibri"/>
            </a:endParaRPr>
          </a:p>
          <a:p>
            <a:r>
              <a:rPr lang="en-US">
                <a:solidFill>
                  <a:schemeClr val="tx1"/>
                </a:solidFill>
                <a:latin typeface="Calibri"/>
                <a:ea typeface="Calibri"/>
                <a:cs typeface="Calibri"/>
              </a:rPr>
              <a:t>AI for Teachers Open Educational Resource </a:t>
            </a:r>
            <a:endParaRPr lang="en-US" dirty="0">
              <a:solidFill>
                <a:schemeClr val="tx1"/>
              </a:solidFill>
              <a:latin typeface="Calibri"/>
              <a:ea typeface="Calibri"/>
              <a:cs typeface="Calibri"/>
            </a:endParaRPr>
          </a:p>
          <a:p>
            <a:r>
              <a:rPr lang="en-US">
                <a:solidFill>
                  <a:schemeClr val="tx1"/>
                </a:solidFill>
                <a:latin typeface="Calibri"/>
                <a:ea typeface="Calibri"/>
                <a:cs typeface="Calibri"/>
              </a:rPr>
              <a:t>URL: </a:t>
            </a:r>
            <a:r>
              <a:rPr lang="en-US" dirty="0">
                <a:solidFill>
                  <a:schemeClr val="tx1"/>
                </a:solidFill>
                <a:latin typeface="Calibri"/>
                <a:ea typeface="Calibri"/>
                <a:cs typeface="Calibri"/>
                <a:hlinkClick r:id="rId3">
                  <a:extLst>
                    <a:ext uri="{A12FA001-AC4F-418D-AE19-62706E023703}">
                      <ahyp:hlinkClr xmlns:ahyp="http://schemas.microsoft.com/office/drawing/2018/hyperlinkcolor" val="tx"/>
                    </a:ext>
                  </a:extLst>
                </a:hlinkClick>
              </a:rPr>
              <a:t>https://edtechbooks.org/</a:t>
            </a:r>
            <a:r>
              <a:rPr lang="en-US" dirty="0">
                <a:solidFill>
                  <a:schemeClr val="tx1"/>
                </a:solidFill>
                <a:latin typeface="Calibri"/>
                <a:ea typeface="Calibri"/>
                <a:cs typeface="Calibri"/>
              </a:rPr>
              <a:t>    </a:t>
            </a:r>
          </a:p>
          <a:p>
            <a:endParaRPr lang="en-US" dirty="0">
              <a:solidFill>
                <a:schemeClr val="tx1"/>
              </a:solidFill>
              <a:latin typeface="Calibri"/>
              <a:ea typeface="Calibri"/>
              <a:cs typeface="Calibri"/>
            </a:endParaRPr>
          </a:p>
          <a:p>
            <a:r>
              <a:rPr lang="en-US">
                <a:solidFill>
                  <a:schemeClr val="tx1"/>
                </a:solidFill>
                <a:latin typeface="Calibri"/>
                <a:ea typeface="Calibri"/>
                <a:cs typeface="Calibri"/>
              </a:rPr>
              <a:t>OER Commons Artificial Intelligence Collection </a:t>
            </a:r>
          </a:p>
          <a:p>
            <a:r>
              <a:rPr lang="en-US">
                <a:solidFill>
                  <a:schemeClr val="tx1"/>
                </a:solidFill>
                <a:latin typeface="Calibri"/>
                <a:ea typeface="Calibri"/>
                <a:cs typeface="Calibri"/>
              </a:rPr>
              <a:t>URL: </a:t>
            </a:r>
            <a:r>
              <a:rPr lang="en-US" dirty="0">
                <a:solidFill>
                  <a:schemeClr val="tx1"/>
                </a:solidFill>
                <a:latin typeface="Calibri"/>
                <a:ea typeface="Calibri"/>
                <a:cs typeface="Calibri"/>
                <a:hlinkClick r:id="rId4">
                  <a:extLst>
                    <a:ext uri="{A12FA001-AC4F-418D-AE19-62706E023703}">
                      <ahyp:hlinkClr xmlns:ahyp="http://schemas.microsoft.com/office/drawing/2018/hyperlinkcolor" val="tx"/>
                    </a:ext>
                  </a:extLst>
                </a:hlinkClick>
              </a:rPr>
              <a:t>https://oercommons.org/</a:t>
            </a:r>
            <a:r>
              <a:rPr lang="en-US" dirty="0">
                <a:solidFill>
                  <a:schemeClr val="tx1"/>
                </a:solidFill>
                <a:latin typeface="Calibri"/>
                <a:ea typeface="Calibri"/>
                <a:cs typeface="Calibri"/>
              </a:rPr>
              <a:t> </a:t>
            </a:r>
          </a:p>
          <a:p>
            <a:endParaRPr lang="en-US" dirty="0">
              <a:solidFill>
                <a:schemeClr val="tx1"/>
              </a:solidFill>
              <a:latin typeface="Calibri"/>
              <a:ea typeface="Calibri"/>
              <a:cs typeface="Calibri"/>
            </a:endParaRPr>
          </a:p>
          <a:p>
            <a:r>
              <a:rPr lang="en-US">
                <a:solidFill>
                  <a:schemeClr val="tx1"/>
                </a:solidFill>
                <a:latin typeface="Calibri"/>
                <a:ea typeface="Calibri"/>
                <a:cs typeface="Calibri"/>
              </a:rPr>
              <a:t>AI and Education Materials from EdTech Books </a:t>
            </a:r>
          </a:p>
          <a:p>
            <a:r>
              <a:rPr lang="en-US">
                <a:solidFill>
                  <a:schemeClr val="tx1"/>
                </a:solidFill>
                <a:latin typeface="Calibri"/>
                <a:ea typeface="Calibri"/>
                <a:cs typeface="Calibri"/>
              </a:rPr>
              <a:t>URL: </a:t>
            </a:r>
            <a:r>
              <a:rPr lang="en-US" dirty="0">
                <a:solidFill>
                  <a:schemeClr val="tx1"/>
                </a:solidFill>
                <a:latin typeface="Calibri"/>
                <a:ea typeface="Calibri"/>
                <a:cs typeface="Calibri"/>
                <a:hlinkClick r:id="rId3">
                  <a:extLst>
                    <a:ext uri="{A12FA001-AC4F-418D-AE19-62706E023703}">
                      <ahyp:hlinkClr xmlns:ahyp="http://schemas.microsoft.com/office/drawing/2018/hyperlinkcolor" val="tx"/>
                    </a:ext>
                  </a:extLst>
                </a:hlinkClick>
              </a:rPr>
              <a:t>https://edtechbooks.org/</a:t>
            </a:r>
            <a:r>
              <a:rPr lang="en-US" dirty="0">
                <a:solidFill>
                  <a:schemeClr val="tx1"/>
                </a:solidFill>
                <a:latin typeface="Calibri"/>
                <a:ea typeface="Calibri"/>
                <a:cs typeface="Calibri"/>
              </a:rPr>
              <a:t>  </a:t>
            </a:r>
          </a:p>
          <a:p>
            <a:endParaRPr lang="en-US" sz="2800" dirty="0">
              <a:solidFill>
                <a:srgbClr val="000000"/>
              </a:solidFill>
              <a:latin typeface="Calibri"/>
              <a:ea typeface="Calibri"/>
              <a:cs typeface="Calibri"/>
            </a:endParaRPr>
          </a:p>
          <a:p>
            <a:endParaRPr lang="en-US" sz="2800" dirty="0">
              <a:solidFill>
                <a:srgbClr val="000000"/>
              </a:solidFill>
              <a:latin typeface="Calibri"/>
              <a:ea typeface="Calibri"/>
              <a:cs typeface="Calibri"/>
            </a:endParaRPr>
          </a:p>
          <a:p>
            <a:endParaRPr lang="en-US" sz="2800" dirty="0">
              <a:solidFill>
                <a:srgbClr val="000000"/>
              </a:solidFill>
              <a:latin typeface="Calibri"/>
              <a:ea typeface="Calibri"/>
              <a:cs typeface="Calibri"/>
            </a:endParaRPr>
          </a:p>
          <a:p>
            <a:endParaRPr lang="en-US" sz="2800" dirty="0">
              <a:solidFill>
                <a:srgbClr val="000000"/>
              </a:solidFill>
              <a:latin typeface="Calibri"/>
              <a:ea typeface="Calibri"/>
              <a:cs typeface="Calibri"/>
            </a:endParaRPr>
          </a:p>
        </p:txBody>
      </p:sp>
    </p:spTree>
    <p:extLst>
      <p:ext uri="{BB962C8B-B14F-4D97-AF65-F5344CB8AC3E}">
        <p14:creationId xmlns:p14="http://schemas.microsoft.com/office/powerpoint/2010/main" val="20532491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57</Slides>
  <Notes>56</Notes>
  <HiddenSlides>0</HiddenSlides>
  <MMClips>0</MMClips>
  <ScaleCrop>false</ScaleCrop>
  <HeadingPairs>
    <vt:vector size="4" baseType="variant">
      <vt:variant>
        <vt:lpstr>Theme</vt:lpstr>
      </vt:variant>
      <vt:variant>
        <vt:i4>1</vt:i4>
      </vt:variant>
      <vt:variant>
        <vt:lpstr>Slide Titles</vt:lpstr>
      </vt:variant>
      <vt:variant>
        <vt:i4>57</vt:i4>
      </vt:variant>
    </vt:vector>
  </HeadingPairs>
  <TitlesOfParts>
    <vt:vector size="58" baseType="lpstr">
      <vt:lpstr>office theme</vt:lpstr>
      <vt:lpstr>Introduction to Artificial Intelligence in Education</vt:lpstr>
      <vt:lpstr>Introduction</vt:lpstr>
      <vt:lpstr>Welcome </vt:lpstr>
      <vt:lpstr>Navigation</vt:lpstr>
      <vt:lpstr>Purpose</vt:lpstr>
      <vt:lpstr>Expectations </vt:lpstr>
      <vt:lpstr>Technology  </vt:lpstr>
      <vt:lpstr>Meet Alex</vt:lpstr>
      <vt:lpstr>PowerPoint Presentation</vt:lpstr>
      <vt:lpstr>Reflection</vt:lpstr>
      <vt:lpstr>Confidence</vt:lpstr>
      <vt:lpstr>Ready</vt:lpstr>
      <vt:lpstr>Triggering Phase</vt:lpstr>
      <vt:lpstr>Why AI?</vt:lpstr>
      <vt:lpstr>Big Idea</vt:lpstr>
      <vt:lpstr>Your Thoughts</vt:lpstr>
      <vt:lpstr>Great Start</vt:lpstr>
      <vt:lpstr>Definition</vt:lpstr>
      <vt:lpstr>Opinion</vt:lpstr>
      <vt:lpstr>Keep Learning</vt:lpstr>
      <vt:lpstr>Benefits</vt:lpstr>
      <vt:lpstr>Reflection</vt:lpstr>
      <vt:lpstr>Looking Ahead</vt:lpstr>
      <vt:lpstr>Exploration Phase </vt:lpstr>
      <vt:lpstr>AI Basics</vt:lpstr>
      <vt:lpstr>AI Tools </vt:lpstr>
      <vt:lpstr>AI Sorting </vt:lpstr>
      <vt:lpstr>Balance</vt:lpstr>
      <vt:lpstr>Benefits</vt:lpstr>
      <vt:lpstr>Examples</vt:lpstr>
      <vt:lpstr>Choose</vt:lpstr>
      <vt:lpstr>Responsible Use</vt:lpstr>
      <vt:lpstr>Challenges</vt:lpstr>
      <vt:lpstr>Ethics</vt:lpstr>
      <vt:lpstr>Reflection</vt:lpstr>
      <vt:lpstr>Apply</vt:lpstr>
      <vt:lpstr>Integration Phase </vt:lpstr>
      <vt:lpstr>Scenario</vt:lpstr>
      <vt:lpstr>Meet the Characters</vt:lpstr>
      <vt:lpstr>Decision</vt:lpstr>
      <vt:lpstr>Choices</vt:lpstr>
      <vt:lpstr>Choose</vt:lpstr>
      <vt:lpstr>Review</vt:lpstr>
      <vt:lpstr>Sort</vt:lpstr>
      <vt:lpstr>Balance</vt:lpstr>
      <vt:lpstr>Apply</vt:lpstr>
      <vt:lpstr>Resolution Phase </vt:lpstr>
      <vt:lpstr>Certificate</vt:lpstr>
      <vt:lpstr>Final Quiz</vt:lpstr>
      <vt:lpstr>Question 1 (True/False)</vt:lpstr>
      <vt:lpstr>Question 2 (Multiple Choice)</vt:lpstr>
      <vt:lpstr>Question 3 (Multiple Choice)</vt:lpstr>
      <vt:lpstr>Question 4 (Fill-in-the-Blank)</vt:lpstr>
      <vt:lpstr>Question 5 (Matching)</vt:lpstr>
      <vt:lpstr>Results</vt:lpstr>
      <vt:lpstr>Congratulation</vt:lpstr>
      <vt:lpstr>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1435</cp:revision>
  <dcterms:created xsi:type="dcterms:W3CDTF">2026-07-02T15:19:27Z</dcterms:created>
  <dcterms:modified xsi:type="dcterms:W3CDTF">2026-07-15T16:37:39Z</dcterms:modified>
</cp:coreProperties>
</file>